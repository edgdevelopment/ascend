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5629477-3391-82a5-7fe1-3fe3761b7d38}">
          <p14:sldIdLst>
            <p14:sldId id="256"/>
          </p14:sldIdLst>
        </p14:section>
        <p14:section name="Progress" id="{0347600a-8f8c-eca5-4adc-05e90e701b0b}">
          <p14:sldIdLst>
            <p14:sldId id="257"/>
            <p14:sldId id="258"/>
            <p14:sldId id="259"/>
          </p14:sldIdLst>
        </p14:section>
        <p14:section name="Plan" id="{67592457-21e2-fc5b-532b-f18d76594bef}">
          <p14:sldIdLst>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the team. Sprint 1 ended with a working app on sample data. This sprint we built the real forecasting engine and made the app work only from a client's own spreadsheet. The 95.4% figure comes from our own backtest on public data (US Census retail sales, airline passengers, Quebec car sales); we will be clear about what it does and does not mean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covers what they owned this sprint. Aaryaman and Palash's items come from the commit history. Ethan refactored the SQL and database for the new schema. Kaiyaan gathered financial data and built datasets. Add any specifics (numbers, sources) you can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Nothing appears until a client uploads their own spreadsheet. We handle local businesses and non-profits, and the forecast runs automatically on upload. The Your data page lets them keep several spreadsheets and switch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First, three standard statistical methods are averaged. Second, our own patch-based transformer, in the style of PatchTST, reads the last 36 months in 3-month patches and learns a correction to a last-year-scaled baseline; it is trained on 48,000 real monthly series from the M4 competition plus US retail data, and it only runs when there are 36 or more months of history. It is blended 50/50 with the statistical forecast. Third, a Monte Carlo runs the forecast 3,000 times with realistic randomness; the spread is the likely range and it also feeds the value estimate. The bottom numbers come from our backtest on 31 public series (US Census retail by store type, airline passengers, Quebec car sales), 2,652 forecasts at 36 months of history. These are national totals, smoother than one shop, so a single business will usually score lower; the app shows each client a test on their own recent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in late October. On the build side we are ahead of the Sprint 1 plan: the engine, the upload pipeline and dashboards running on real output were scheduled for December and January and exist now. Where we are behind is real small-business data: so far the model has only seen public macro data. November is about closing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things that could embarrass us if we do not address them. The backend is written but not yet running on our live Supabase project; the app falls back to computing in the browser, so it works, but we have not proven the server path. The model has not seen any real small-business data. With only 18 months of history the ranges were too narrow on two of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owners follow each person's role; adjust before presenting. The big idea for the next sprint: prove the model on real small-business data and prove the backend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app with npm run dev. Sign in, go to Your data or the upload prompt, and upload sample-data/cafe-36-months.csv from the repo. Show the Overview, then Opportunities and the What if tab, then the Your data page: upload a second file, switch, rename, delete. Finally upload sample-data/EDGE-too-short-6-months.csv to show a clean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CEND_TITLE">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CEND_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spc="200" kern="0" dirty="0">
                <a:solidFill>
                  <a:schemeClr val="accent6"/>
                </a:solidFill>
              </a:rPr>
              <a:t>ASCEND  |  SPRINT REVIEW 2</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64008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AI-POWERED GROWTH INTELLIGENCE</a:t>
            </a:r>
            <a:endParaRPr lang="en-US" sz="1200" dirty="0"/>
          </a:p>
        </p:txBody>
      </p:sp>
      <p:sp>
        <p:nvSpPr>
          <p:cNvPr id="3" name="Text 1"/>
          <p:cNvSpPr txBox="1"/>
          <p:nvPr/>
        </p:nvSpPr>
        <p:spPr>
          <a:xfrm>
            <a:off x="640080" y="1371600"/>
            <a:ext cx="6400800" cy="1188720"/>
          </a:xfrm>
          <a:prstGeom prst="rect">
            <a:avLst/>
          </a:prstGeom>
          <a:noFill/>
          <a:ln/>
        </p:spPr>
        <p:txBody>
          <a:bodyPr wrap="square" lIns="0" tIns="0" rIns="0" bIns="0" rtlCol="0" anchor="ctr"/>
          <a:lstStyle/>
          <a:p>
            <a:pPr indent="0" marL="0">
              <a:buNone/>
            </a:pPr>
            <a:r>
              <a:rPr lang="en-US" sz="7200" b="1" dirty="0">
                <a:solidFill>
                  <a:schemeClr val="tx1"/>
                </a:solidFill>
              </a:rPr>
              <a:t>ASCEND</a:t>
            </a:r>
            <a:endParaRPr lang="en-US" sz="7200" dirty="0"/>
          </a:p>
        </p:txBody>
      </p:sp>
      <p:sp>
        <p:nvSpPr>
          <p:cNvPr id="4" name="Text 2"/>
          <p:cNvSpPr txBox="1"/>
          <p:nvPr/>
        </p:nvSpPr>
        <p:spPr>
          <a:xfrm>
            <a:off x="640080" y="2651760"/>
            <a:ext cx="6035040" cy="914400"/>
          </a:xfrm>
          <a:prstGeom prst="rect">
            <a:avLst/>
          </a:prstGeom>
          <a:noFill/>
          <a:ln/>
        </p:spPr>
        <p:txBody>
          <a:bodyPr wrap="square" lIns="0" tIns="0" rIns="0" bIns="0" rtlCol="0" anchor="ctr"/>
          <a:lstStyle/>
          <a:p>
            <a:pPr indent="0" marL="0">
              <a:buNone/>
            </a:pPr>
            <a:r>
              <a:rPr lang="en-US" sz="2400" dirty="0">
                <a:solidFill>
                  <a:schemeClr val="tx2"/>
                </a:solidFill>
              </a:rPr>
              <a:t>From sample data to a forecast built on your own numbers</a:t>
            </a:r>
            <a:endParaRPr lang="en-US" sz="2400" dirty="0"/>
          </a:p>
        </p:txBody>
      </p:sp>
      <p:sp>
        <p:nvSpPr>
          <p:cNvPr id="5" name="Text 3"/>
          <p:cNvSpPr txBox="1"/>
          <p:nvPr/>
        </p:nvSpPr>
        <p:spPr>
          <a:xfrm>
            <a:off x="640080" y="4114800"/>
            <a:ext cx="5943600" cy="731520"/>
          </a:xfrm>
          <a:prstGeom prst="rect">
            <a:avLst/>
          </a:prstGeom>
          <a:noFill/>
          <a:ln/>
        </p:spPr>
        <p:txBody>
          <a:bodyPr wrap="square" lIns="0" tIns="0" rIns="0" bIns="0" rtlCol="0" anchor="ctr"/>
          <a:lstStyle/>
          <a:p>
            <a:pPr indent="0" marL="0">
              <a:buNone/>
            </a:pPr>
            <a:r>
              <a:rPr lang="en-US" sz="1600" dirty="0">
                <a:solidFill>
                  <a:schemeClr val="tx2"/>
                </a:solidFill>
              </a:rPr>
              <a:t>Aaryaman Chopra, Ethan de Guzman,</a:t>
            </a:r>
            <a:endParaRPr lang="en-US" sz="1600" dirty="0"/>
          </a:p>
          <a:p>
            <a:pPr indent="0" marL="0">
              <a:buNone/>
            </a:pPr>
            <a:r>
              <a:rPr lang="en-US" sz="1600" dirty="0">
                <a:solidFill>
                  <a:schemeClr val="tx2"/>
                </a:solidFill>
              </a:rPr>
              <a:t>Palash Desarda, Kaiyaan Faisal</a:t>
            </a:r>
            <a:endParaRPr lang="en-US" sz="1600" dirty="0"/>
          </a:p>
        </p:txBody>
      </p:sp>
      <p:sp>
        <p:nvSpPr>
          <p:cNvPr id="6" name="Text 4"/>
          <p:cNvSpPr txBox="1"/>
          <p:nvPr/>
        </p:nvSpPr>
        <p:spPr>
          <a:xfrm>
            <a:off x="640080" y="6035040"/>
            <a:ext cx="7315200" cy="274320"/>
          </a:xfrm>
          <a:prstGeom prst="rect">
            <a:avLst/>
          </a:prstGeom>
          <a:noFill/>
          <a:ln/>
        </p:spPr>
        <p:txBody>
          <a:bodyPr wrap="square" lIns="0" tIns="0" rIns="0" bIns="0" rtlCol="0" anchor="ctr"/>
          <a:lstStyle/>
          <a:p>
            <a:pPr indent="0" marL="0">
              <a:buNone/>
            </a:pPr>
            <a:r>
              <a:rPr lang="en-US" sz="1200" dirty="0">
                <a:solidFill>
                  <a:schemeClr val="tx2"/>
                </a:solidFill>
              </a:rPr>
              <a:t>P6 Special Topics   |   Sprint Review 2   |   October 27, 2026</a:t>
            </a:r>
            <a:endParaRPr lang="en-US" sz="1200" dirty="0"/>
          </a:p>
        </p:txBody>
      </p:sp>
      <p:sp>
        <p:nvSpPr>
          <p:cNvPr id="7" name="Hero card"/>
          <p:cNvSpPr/>
          <p:nvPr/>
        </p:nvSpPr>
        <p:spPr>
          <a:xfrm>
            <a:off x="7406640" y="1371600"/>
            <a:ext cx="4114800" cy="3840480"/>
          </a:xfrm>
          <a:prstGeom prst="roundRect">
            <a:avLst>
              <a:gd name="adj" fmla="val 4762"/>
            </a:avLst>
          </a:prstGeom>
          <a:solidFill>
            <a:schemeClr val="accent1"/>
          </a:solidFill>
          <a:ln w="6350">
            <a:solidFill>
              <a:schemeClr val="accent1"/>
            </a:solidFill>
            <a:prstDash val="solid"/>
          </a:ln>
        </p:spPr>
      </p:sp>
      <p:sp>
        <p:nvSpPr>
          <p:cNvPr id="8" name="Text 6"/>
          <p:cNvSpPr txBox="1"/>
          <p:nvPr/>
        </p:nvSpPr>
        <p:spPr>
          <a:xfrm>
            <a:off x="7589520" y="1828800"/>
            <a:ext cx="3749040" cy="1188720"/>
          </a:xfrm>
          <a:prstGeom prst="rect">
            <a:avLst/>
          </a:prstGeom>
          <a:noFill/>
          <a:ln/>
        </p:spPr>
        <p:txBody>
          <a:bodyPr wrap="square" lIns="0" tIns="0" rIns="0" bIns="0" rtlCol="0" anchor="ctr"/>
          <a:lstStyle/>
          <a:p>
            <a:pPr algn="ctr" indent="0" marL="0">
              <a:buNone/>
            </a:pPr>
            <a:r>
              <a:rPr lang="en-US" sz="6600" b="1" dirty="0">
                <a:solidFill>
                  <a:schemeClr val="bg1"/>
                </a:solidFill>
              </a:rPr>
              <a:t>95.4%</a:t>
            </a:r>
            <a:endParaRPr lang="en-US" sz="6600" dirty="0"/>
          </a:p>
        </p:txBody>
      </p:sp>
      <p:sp>
        <p:nvSpPr>
          <p:cNvPr id="9" name="Text 7"/>
          <p:cNvSpPr txBox="1"/>
          <p:nvPr/>
        </p:nvSpPr>
        <p:spPr>
          <a:xfrm>
            <a:off x="7589520" y="3063240"/>
            <a:ext cx="3749040" cy="365760"/>
          </a:xfrm>
          <a:prstGeom prst="rect">
            <a:avLst/>
          </a:prstGeom>
          <a:noFill/>
          <a:ln/>
        </p:spPr>
        <p:txBody>
          <a:bodyPr wrap="square" lIns="0" tIns="0" rIns="0" bIns="0" rtlCol="0" anchor="ctr"/>
          <a:lstStyle/>
          <a:p>
            <a:pPr algn="ctr" indent="0" marL="0">
              <a:buNone/>
            </a:pPr>
            <a:r>
              <a:rPr lang="en-US" sz="1800" b="1" dirty="0">
                <a:solidFill>
                  <a:schemeClr val="bg1"/>
                </a:solidFill>
              </a:rPr>
              <a:t>monthly forecast accuracy</a:t>
            </a:r>
            <a:endParaRPr lang="en-US" sz="1800" dirty="0"/>
          </a:p>
        </p:txBody>
      </p:sp>
      <p:sp>
        <p:nvSpPr>
          <p:cNvPr id="10" name="Text 8"/>
          <p:cNvSpPr txBox="1"/>
          <p:nvPr/>
        </p:nvSpPr>
        <p:spPr>
          <a:xfrm>
            <a:off x="7863840" y="3611880"/>
            <a:ext cx="3200400" cy="1097280"/>
          </a:xfrm>
          <a:prstGeom prst="rect">
            <a:avLst/>
          </a:prstGeom>
          <a:noFill/>
          <a:ln/>
        </p:spPr>
        <p:txBody>
          <a:bodyPr wrap="square" lIns="0" tIns="0" rIns="0" bIns="0" rtlCol="0" anchor="ctr"/>
          <a:lstStyle/>
          <a:p>
            <a:pPr algn="ctr" indent="0" marL="0">
              <a:buNone/>
            </a:pPr>
            <a:r>
              <a:rPr lang="en-US" sz="1400" dirty="0">
                <a:solidFill>
                  <a:schemeClr val="bg2"/>
                </a:solidFill>
              </a:rPr>
              <a:t>tested on 31 real monthly series, 2,652 forecasts, 12 months ahead from 3 years of history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OUR TEAM</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Who did what</a:t>
            </a:r>
            <a:endParaRPr lang="en-US" sz="3400" dirty="0"/>
          </a:p>
        </p:txBody>
      </p:sp>
      <p:sp>
        <p:nvSpPr>
          <p:cNvPr id="5" name="Aaryaman Chopra card"/>
          <p:cNvSpPr/>
          <p:nvPr/>
        </p:nvSpPr>
        <p:spPr>
          <a:xfrm>
            <a:off x="548640" y="1645920"/>
            <a:ext cx="2651760" cy="4434840"/>
          </a:xfrm>
          <a:prstGeom prst="roundRect">
            <a:avLst>
              <a:gd name="adj" fmla="val 4138"/>
            </a:avLst>
          </a:prstGeom>
          <a:solidFill>
            <a:schemeClr val="bg2"/>
          </a:solidFill>
          <a:ln w="6350">
            <a:solidFill>
              <a:schemeClr val="bg2"/>
            </a:solidFill>
            <a:prstDash val="solid"/>
          </a:ln>
        </p:spPr>
      </p:sp>
      <p:sp>
        <p:nvSpPr>
          <p:cNvPr id="6" name="Text 3"/>
          <p:cNvSpPr txBox="1"/>
          <p:nvPr/>
        </p:nvSpPr>
        <p:spPr>
          <a:xfrm>
            <a:off x="731520" y="1828800"/>
            <a:ext cx="2286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MODEL TRAINING</a:t>
            </a:r>
            <a:endParaRPr lang="en-US" sz="1100" dirty="0"/>
          </a:p>
        </p:txBody>
      </p:sp>
      <p:sp>
        <p:nvSpPr>
          <p:cNvPr id="7" name="Text 4"/>
          <p:cNvSpPr txBox="1"/>
          <p:nvPr/>
        </p:nvSpPr>
        <p:spPr>
          <a:xfrm>
            <a:off x="731520" y="21488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Aaryaman Chopra</a:t>
            </a:r>
            <a:endParaRPr lang="en-US" sz="1800" dirty="0"/>
          </a:p>
        </p:txBody>
      </p:sp>
      <p:sp>
        <p:nvSpPr>
          <p:cNvPr id="8" name="Text 5"/>
          <p:cNvSpPr txBox="1"/>
          <p:nvPr/>
        </p:nvSpPr>
        <p:spPr>
          <a:xfrm>
            <a:off x="731520" y="27432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Tested the model on 31 real series: 95.4% accuracy</a:t>
            </a:r>
            <a:endParaRPr lang="en-US" sz="1300" dirty="0"/>
          </a:p>
          <a:p>
            <a:pPr marL="342900" indent="-342900">
              <a:spcAft>
                <a:spcPts val="600"/>
              </a:spcAft>
              <a:buSzPct val="100000"/>
              <a:buChar char="•"/>
            </a:pPr>
            <a:r>
              <a:rPr lang="en-US" sz="1300" dirty="0">
                <a:solidFill>
                  <a:schemeClr val="tx2"/>
                </a:solidFill>
              </a:rPr>
              <a:t>Locked down the backend: restricted origins and a rate limit</a:t>
            </a:r>
            <a:endParaRPr lang="en-US" sz="1300" dirty="0"/>
          </a:p>
          <a:p>
            <a:pPr marL="342900" indent="-342900">
              <a:spcAft>
                <a:spcPts val="600"/>
              </a:spcAft>
              <a:buSzPct val="100000"/>
              <a:buChar char="•"/>
            </a:pPr>
            <a:r>
              <a:rPr lang="en-US" sz="1300" dirty="0">
                <a:solidFill>
                  <a:schemeClr val="tx2"/>
                </a:solidFill>
              </a:rPr>
              <a:t>Added automated tests</a:t>
            </a:r>
            <a:endParaRPr lang="en-US" sz="1300" dirty="0"/>
          </a:p>
          <a:p>
            <a:pPr marL="342900" indent="-342900">
              <a:spcAft>
                <a:spcPts val="600"/>
              </a:spcAft>
              <a:buSzPct val="100000"/>
              <a:buChar char="•"/>
            </a:pPr>
            <a:r>
              <a:rPr lang="en-US" sz="1300" dirty="0">
                <a:solidFill>
                  <a:schemeClr val="tx2"/>
                </a:solidFill>
              </a:rPr>
              <a:t>Upload-first flow and the Your data manager</a:t>
            </a:r>
            <a:endParaRPr lang="en-US" sz="1300" dirty="0"/>
          </a:p>
          <a:p>
            <a:pPr marL="342900" indent="-342900">
              <a:spcAft>
                <a:spcPts val="600"/>
              </a:spcAft>
              <a:buSzPct val="100000"/>
              <a:buChar char="•"/>
            </a:pPr>
            <a:r>
              <a:rPr lang="en-US" sz="1300" dirty="0">
                <a:solidFill>
                  <a:schemeClr val="tx2"/>
                </a:solidFill>
              </a:rPr>
              <a:t>Removed all sample data; made 14 test files</a:t>
            </a:r>
            <a:endParaRPr lang="en-US" sz="1300" dirty="0"/>
          </a:p>
        </p:txBody>
      </p:sp>
      <p:sp>
        <p:nvSpPr>
          <p:cNvPr id="9" name="Palash Desarda card"/>
          <p:cNvSpPr/>
          <p:nvPr/>
        </p:nvSpPr>
        <p:spPr>
          <a:xfrm>
            <a:off x="3383280" y="1645920"/>
            <a:ext cx="2651760" cy="4434840"/>
          </a:xfrm>
          <a:prstGeom prst="roundRect">
            <a:avLst>
              <a:gd name="adj" fmla="val 4138"/>
            </a:avLst>
          </a:prstGeom>
          <a:solidFill>
            <a:schemeClr val="bg2"/>
          </a:solidFill>
          <a:ln w="6350">
            <a:solidFill>
              <a:schemeClr val="bg2"/>
            </a:solidFill>
            <a:prstDash val="solid"/>
          </a:ln>
        </p:spPr>
      </p:sp>
      <p:sp>
        <p:nvSpPr>
          <p:cNvPr id="10" name="Text 7"/>
          <p:cNvSpPr txBox="1"/>
          <p:nvPr/>
        </p:nvSpPr>
        <p:spPr>
          <a:xfrm>
            <a:off x="3566160" y="1828800"/>
            <a:ext cx="2286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FRONTEND DESIGN</a:t>
            </a:r>
            <a:endParaRPr lang="en-US" sz="1100" dirty="0"/>
          </a:p>
        </p:txBody>
      </p:sp>
      <p:sp>
        <p:nvSpPr>
          <p:cNvPr id="11" name="Text 8"/>
          <p:cNvSpPr txBox="1"/>
          <p:nvPr/>
        </p:nvSpPr>
        <p:spPr>
          <a:xfrm>
            <a:off x="3566160" y="21488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Palash Desarda</a:t>
            </a:r>
            <a:endParaRPr lang="en-US" sz="1800" dirty="0"/>
          </a:p>
        </p:txBody>
      </p:sp>
      <p:sp>
        <p:nvSpPr>
          <p:cNvPr id="12" name="Text 9"/>
          <p:cNvSpPr txBox="1"/>
          <p:nvPr/>
        </p:nvSpPr>
        <p:spPr>
          <a:xfrm>
            <a:off x="3566160" y="27432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Forecasting and valuation engine with the Patch Forecaster</a:t>
            </a:r>
            <a:endParaRPr lang="en-US" sz="1300" dirty="0"/>
          </a:p>
          <a:p>
            <a:pPr marL="342900" indent="-342900">
              <a:spcAft>
                <a:spcPts val="600"/>
              </a:spcAft>
              <a:buSzPct val="100000"/>
              <a:buChar char="•"/>
            </a:pPr>
            <a:r>
              <a:rPr lang="en-US" sz="1300" dirty="0">
                <a:solidFill>
                  <a:schemeClr val="tx2"/>
                </a:solidFill>
              </a:rPr>
              <a:t>Financial model page: a guided three-step flow</a:t>
            </a:r>
            <a:endParaRPr lang="en-US" sz="1300" dirty="0"/>
          </a:p>
          <a:p>
            <a:pPr marL="342900" indent="-342900">
              <a:spcAft>
                <a:spcPts val="600"/>
              </a:spcAft>
              <a:buSzPct val="100000"/>
              <a:buChar char="•"/>
            </a:pPr>
            <a:r>
              <a:rPr lang="en-US" sz="1300" dirty="0">
                <a:solidFill>
                  <a:schemeClr val="tx2"/>
                </a:solidFill>
              </a:rPr>
              <a:t>Tabs for What if, Break-even, Cash safety, Alerts, Customers</a:t>
            </a:r>
            <a:endParaRPr lang="en-US" sz="1300" dirty="0"/>
          </a:p>
          <a:p>
            <a:pPr marL="342900" indent="-342900">
              <a:spcAft>
                <a:spcPts val="600"/>
              </a:spcAft>
              <a:buSzPct val="100000"/>
              <a:buChar char="•"/>
            </a:pPr>
            <a:r>
              <a:rPr lang="en-US" sz="1300" dirty="0">
                <a:solidFill>
                  <a:schemeClr val="tx2"/>
                </a:solidFill>
              </a:rPr>
              <a:t>Excel and CSV import and export</a:t>
            </a:r>
            <a:endParaRPr lang="en-US" sz="1300" dirty="0"/>
          </a:p>
        </p:txBody>
      </p:sp>
      <p:sp>
        <p:nvSpPr>
          <p:cNvPr id="13" name="Ethan de Guzman card"/>
          <p:cNvSpPr/>
          <p:nvPr/>
        </p:nvSpPr>
        <p:spPr>
          <a:xfrm>
            <a:off x="6217920" y="1645920"/>
            <a:ext cx="2651760" cy="4434840"/>
          </a:xfrm>
          <a:prstGeom prst="roundRect">
            <a:avLst>
              <a:gd name="adj" fmla="val 4138"/>
            </a:avLst>
          </a:prstGeom>
          <a:solidFill>
            <a:schemeClr val="bg2"/>
          </a:solidFill>
          <a:ln w="6350">
            <a:solidFill>
              <a:schemeClr val="bg2"/>
            </a:solidFill>
            <a:prstDash val="solid"/>
          </a:ln>
        </p:spPr>
      </p:sp>
      <p:sp>
        <p:nvSpPr>
          <p:cNvPr id="14" name="Text 11"/>
          <p:cNvSpPr txBox="1"/>
          <p:nvPr/>
        </p:nvSpPr>
        <p:spPr>
          <a:xfrm>
            <a:off x="6400800" y="1828800"/>
            <a:ext cx="2286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BACKEND</a:t>
            </a:r>
            <a:endParaRPr lang="en-US" sz="1100" dirty="0"/>
          </a:p>
        </p:txBody>
      </p:sp>
      <p:sp>
        <p:nvSpPr>
          <p:cNvPr id="15" name="Text 12"/>
          <p:cNvSpPr txBox="1"/>
          <p:nvPr/>
        </p:nvSpPr>
        <p:spPr>
          <a:xfrm>
            <a:off x="6400800" y="21488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Ethan de Guzman</a:t>
            </a:r>
            <a:endParaRPr lang="en-US" sz="1800" dirty="0"/>
          </a:p>
        </p:txBody>
      </p:sp>
      <p:sp>
        <p:nvSpPr>
          <p:cNvPr id="16" name="Text 13"/>
          <p:cNvSpPr txBox="1"/>
          <p:nvPr/>
        </p:nvSpPr>
        <p:spPr>
          <a:xfrm>
            <a:off x="6400800" y="27432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Refactored the SQL and database for the new schema</a:t>
            </a:r>
            <a:endParaRPr lang="en-US" sz="1300" dirty="0"/>
          </a:p>
          <a:p>
            <a:pPr marL="342900" indent="-342900">
              <a:spcAft>
                <a:spcPts val="600"/>
              </a:spcAft>
              <a:buSzPct val="100000"/>
              <a:buChar char="•"/>
            </a:pPr>
            <a:r>
              <a:rPr lang="en-US" sz="1300" dirty="0">
                <a:solidFill>
                  <a:schemeClr val="tx2"/>
                </a:solidFill>
              </a:rPr>
              <a:t>Reworked the tables to fit the forecast and dataset features</a:t>
            </a:r>
            <a:endParaRPr lang="en-US" sz="1300" dirty="0"/>
          </a:p>
          <a:p>
            <a:pPr marL="342900" indent="-342900">
              <a:spcAft>
                <a:spcPts val="600"/>
              </a:spcAft>
              <a:buSzPct val="100000"/>
              <a:buChar char="•"/>
            </a:pPr>
            <a:r>
              <a:rPr lang="en-US" sz="1300" dirty="0">
                <a:solidFill>
                  <a:schemeClr val="tx2"/>
                </a:solidFill>
              </a:rPr>
              <a:t>Groundwork for deploying the backend next sprint</a:t>
            </a:r>
            <a:endParaRPr lang="en-US" sz="1300" dirty="0"/>
          </a:p>
        </p:txBody>
      </p:sp>
      <p:sp>
        <p:nvSpPr>
          <p:cNvPr id="17" name="Kaiyaan Faisal card"/>
          <p:cNvSpPr/>
          <p:nvPr/>
        </p:nvSpPr>
        <p:spPr>
          <a:xfrm>
            <a:off x="9052560" y="1645920"/>
            <a:ext cx="2651760" cy="4434840"/>
          </a:xfrm>
          <a:prstGeom prst="roundRect">
            <a:avLst>
              <a:gd name="adj" fmla="val 4138"/>
            </a:avLst>
          </a:prstGeom>
          <a:solidFill>
            <a:schemeClr val="bg2"/>
          </a:solidFill>
          <a:ln w="6350">
            <a:solidFill>
              <a:schemeClr val="bg2"/>
            </a:solidFill>
            <a:prstDash val="solid"/>
          </a:ln>
        </p:spPr>
      </p:sp>
      <p:sp>
        <p:nvSpPr>
          <p:cNvPr id="18" name="Text 15"/>
          <p:cNvSpPr txBox="1"/>
          <p:nvPr/>
        </p:nvSpPr>
        <p:spPr>
          <a:xfrm>
            <a:off x="9235440" y="1828800"/>
            <a:ext cx="2286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FINANCIAL DATA</a:t>
            </a:r>
            <a:endParaRPr lang="en-US" sz="1100" dirty="0"/>
          </a:p>
        </p:txBody>
      </p:sp>
      <p:sp>
        <p:nvSpPr>
          <p:cNvPr id="19" name="Text 16"/>
          <p:cNvSpPr txBox="1"/>
          <p:nvPr/>
        </p:nvSpPr>
        <p:spPr>
          <a:xfrm>
            <a:off x="9235440" y="21488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Kaiyaan Faisal</a:t>
            </a:r>
            <a:endParaRPr lang="en-US" sz="1800" dirty="0"/>
          </a:p>
        </p:txBody>
      </p:sp>
      <p:sp>
        <p:nvSpPr>
          <p:cNvPr id="20" name="Text 17"/>
          <p:cNvSpPr txBox="1"/>
          <p:nvPr/>
        </p:nvSpPr>
        <p:spPr>
          <a:xfrm>
            <a:off x="9235440" y="274320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Gathered the financial data the model learns from</a:t>
            </a:r>
            <a:endParaRPr lang="en-US" sz="1300" dirty="0"/>
          </a:p>
          <a:p>
            <a:pPr marL="342900" indent="-342900">
              <a:spcAft>
                <a:spcPts val="600"/>
              </a:spcAft>
              <a:buSzPct val="100000"/>
              <a:buChar char="•"/>
            </a:pPr>
            <a:r>
              <a:rPr lang="en-US" sz="1300" dirty="0">
                <a:solidFill>
                  <a:schemeClr val="tx2"/>
                </a:solidFill>
              </a:rPr>
              <a:t>Built the datasets used to test the forecasts</a:t>
            </a:r>
            <a:endParaRPr lang="en-US" sz="1300" dirty="0"/>
          </a:p>
          <a:p>
            <a:pPr marL="342900" indent="-342900">
              <a:spcAft>
                <a:spcPts val="600"/>
              </a:spcAft>
              <a:buSzPct val="100000"/>
              <a:buChar char="•"/>
            </a:pPr>
            <a:r>
              <a:rPr lang="en-US" sz="1300" dirty="0">
                <a:solidFill>
                  <a:schemeClr val="tx2"/>
                </a:solidFill>
              </a:rPr>
              <a:t>Prepared the data for the November cleaning stage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PRODUCT</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What a client can do now</a:t>
            </a:r>
            <a:endParaRPr lang="en-US" sz="3400" dirty="0"/>
          </a:p>
        </p:txBody>
      </p:sp>
      <p:sp>
        <p:nvSpPr>
          <p:cNvPr id="5" name="Step 1 card"/>
          <p:cNvSpPr/>
          <p:nvPr/>
        </p:nvSpPr>
        <p:spPr>
          <a:xfrm>
            <a:off x="548640" y="1737360"/>
            <a:ext cx="2651760" cy="3108960"/>
          </a:xfrm>
          <a:prstGeom prst="roundRect">
            <a:avLst>
              <a:gd name="adj" fmla="val 4138"/>
            </a:avLst>
          </a:prstGeom>
          <a:solidFill>
            <a:schemeClr val="bg2"/>
          </a:solidFill>
          <a:ln w="6350">
            <a:solidFill>
              <a:schemeClr val="bg2"/>
            </a:solidFill>
            <a:prstDash val="solid"/>
          </a:ln>
        </p:spPr>
      </p:sp>
      <p:sp>
        <p:nvSpPr>
          <p:cNvPr id="6" name="Step 1 badge"/>
          <p:cNvSpPr/>
          <p:nvPr/>
        </p:nvSpPr>
        <p:spPr>
          <a:xfrm>
            <a:off x="777240" y="1965960"/>
            <a:ext cx="640080" cy="640080"/>
          </a:xfrm>
          <a:prstGeom prst="ellipse">
            <a:avLst/>
          </a:prstGeom>
          <a:solidFill>
            <a:schemeClr val="accent1"/>
          </a:solidFill>
          <a:ln w="6350">
            <a:solidFill>
              <a:schemeClr val="accent1"/>
            </a:solidFill>
            <a:prstDash val="solid"/>
          </a:ln>
        </p:spPr>
      </p:sp>
      <p:sp>
        <p:nvSpPr>
          <p:cNvPr id="7" name="Text 4"/>
          <p:cNvSpPr txBox="1"/>
          <p:nvPr/>
        </p:nvSpPr>
        <p:spPr>
          <a:xfrm>
            <a:off x="777240" y="19659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5"/>
          <p:cNvSpPr txBox="1"/>
          <p:nvPr/>
        </p:nvSpPr>
        <p:spPr>
          <a:xfrm>
            <a:off x="777240" y="2743200"/>
            <a:ext cx="2194560" cy="411480"/>
          </a:xfrm>
          <a:prstGeom prst="rect">
            <a:avLst/>
          </a:prstGeom>
          <a:noFill/>
          <a:ln/>
        </p:spPr>
        <p:txBody>
          <a:bodyPr wrap="square" lIns="0" tIns="0" rIns="0" bIns="0" rtlCol="0" anchor="ctr"/>
          <a:lstStyle/>
          <a:p>
            <a:pPr indent="0" marL="0">
              <a:buNone/>
            </a:pPr>
            <a:r>
              <a:rPr lang="en-US" sz="2000" b="1" dirty="0">
                <a:solidFill>
                  <a:schemeClr val="tx1"/>
                </a:solidFill>
              </a:rPr>
              <a:t>Upload</a:t>
            </a:r>
            <a:endParaRPr lang="en-US" sz="2000" dirty="0"/>
          </a:p>
        </p:txBody>
      </p:sp>
      <p:sp>
        <p:nvSpPr>
          <p:cNvPr id="9" name="Text 6"/>
          <p:cNvSpPr txBox="1"/>
          <p:nvPr/>
        </p:nvSpPr>
        <p:spPr>
          <a:xfrm>
            <a:off x="777240" y="3246120"/>
            <a:ext cx="2240280" cy="1463040"/>
          </a:xfrm>
          <a:prstGeom prst="rect">
            <a:avLst/>
          </a:prstGeom>
          <a:noFill/>
          <a:ln/>
        </p:spPr>
        <p:txBody>
          <a:bodyPr wrap="square" lIns="0" tIns="0" rIns="0" bIns="0" rtlCol="0" anchor="t"/>
          <a:lstStyle/>
          <a:p>
            <a:pPr indent="0" marL="0">
              <a:buNone/>
            </a:pPr>
            <a:r>
              <a:rPr lang="en-US" sz="1400" dirty="0">
                <a:solidFill>
                  <a:schemeClr val="tx2"/>
                </a:solidFill>
              </a:rPr>
              <a:t>Drop in an Excel or CSV file: one row per month, 12 to 120 months.</a:t>
            </a:r>
            <a:endParaRPr lang="en-US" sz="1400" dirty="0"/>
          </a:p>
        </p:txBody>
      </p:sp>
      <p:sp>
        <p:nvSpPr>
          <p:cNvPr id="10" name="Step 2 card"/>
          <p:cNvSpPr/>
          <p:nvPr/>
        </p:nvSpPr>
        <p:spPr>
          <a:xfrm>
            <a:off x="3383280" y="1737360"/>
            <a:ext cx="2651760" cy="3108960"/>
          </a:xfrm>
          <a:prstGeom prst="roundRect">
            <a:avLst>
              <a:gd name="adj" fmla="val 4138"/>
            </a:avLst>
          </a:prstGeom>
          <a:solidFill>
            <a:schemeClr val="bg2"/>
          </a:solidFill>
          <a:ln w="6350">
            <a:solidFill>
              <a:schemeClr val="bg2"/>
            </a:solidFill>
            <a:prstDash val="solid"/>
          </a:ln>
        </p:spPr>
      </p:sp>
      <p:sp>
        <p:nvSpPr>
          <p:cNvPr id="11" name="Step 2 badge"/>
          <p:cNvSpPr/>
          <p:nvPr/>
        </p:nvSpPr>
        <p:spPr>
          <a:xfrm>
            <a:off x="3611880" y="1965960"/>
            <a:ext cx="640080" cy="640080"/>
          </a:xfrm>
          <a:prstGeom prst="ellipse">
            <a:avLst/>
          </a:prstGeom>
          <a:solidFill>
            <a:schemeClr val="accent1"/>
          </a:solidFill>
          <a:ln w="6350">
            <a:solidFill>
              <a:schemeClr val="accent1"/>
            </a:solidFill>
            <a:prstDash val="solid"/>
          </a:ln>
        </p:spPr>
      </p:sp>
      <p:sp>
        <p:nvSpPr>
          <p:cNvPr id="12" name="Text 9"/>
          <p:cNvSpPr txBox="1"/>
          <p:nvPr/>
        </p:nvSpPr>
        <p:spPr>
          <a:xfrm>
            <a:off x="3611880" y="19659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3" name="Text 10"/>
          <p:cNvSpPr txBox="1"/>
          <p:nvPr/>
        </p:nvSpPr>
        <p:spPr>
          <a:xfrm>
            <a:off x="3611880" y="2743200"/>
            <a:ext cx="2194560" cy="411480"/>
          </a:xfrm>
          <a:prstGeom prst="rect">
            <a:avLst/>
          </a:prstGeom>
          <a:noFill/>
          <a:ln/>
        </p:spPr>
        <p:txBody>
          <a:bodyPr wrap="square" lIns="0" tIns="0" rIns="0" bIns="0" rtlCol="0" anchor="ctr"/>
          <a:lstStyle/>
          <a:p>
            <a:pPr indent="0" marL="0">
              <a:buNone/>
            </a:pPr>
            <a:r>
              <a:rPr lang="en-US" sz="2000" b="1" dirty="0">
                <a:solidFill>
                  <a:schemeClr val="tx1"/>
                </a:solidFill>
              </a:rPr>
              <a:t>Forecast</a:t>
            </a:r>
            <a:endParaRPr lang="en-US" sz="2000" dirty="0"/>
          </a:p>
        </p:txBody>
      </p:sp>
      <p:sp>
        <p:nvSpPr>
          <p:cNvPr id="14" name="Text 11"/>
          <p:cNvSpPr txBox="1"/>
          <p:nvPr/>
        </p:nvSpPr>
        <p:spPr>
          <a:xfrm>
            <a:off x="3611880" y="3246120"/>
            <a:ext cx="2240280" cy="1463040"/>
          </a:xfrm>
          <a:prstGeom prst="rect">
            <a:avLst/>
          </a:prstGeom>
          <a:noFill/>
          <a:ln/>
        </p:spPr>
        <p:txBody>
          <a:bodyPr wrap="square" lIns="0" tIns="0" rIns="0" bIns="0" rtlCol="0" anchor="t"/>
          <a:lstStyle/>
          <a:p>
            <a:pPr indent="0" marL="0">
              <a:buNone/>
            </a:pPr>
            <a:r>
              <a:rPr lang="en-US" sz="1400" dirty="0">
                <a:solidFill>
                  <a:schemeClr val="tx2"/>
                </a:solidFill>
              </a:rPr>
              <a:t>See the next 12 months with a likely range, worked out automatically.</a:t>
            </a:r>
            <a:endParaRPr lang="en-US" sz="1400" dirty="0"/>
          </a:p>
        </p:txBody>
      </p:sp>
      <p:sp>
        <p:nvSpPr>
          <p:cNvPr id="15" name="Step 3 card"/>
          <p:cNvSpPr/>
          <p:nvPr/>
        </p:nvSpPr>
        <p:spPr>
          <a:xfrm>
            <a:off x="6217920" y="1737360"/>
            <a:ext cx="2651760" cy="3108960"/>
          </a:xfrm>
          <a:prstGeom prst="roundRect">
            <a:avLst>
              <a:gd name="adj" fmla="val 4138"/>
            </a:avLst>
          </a:prstGeom>
          <a:solidFill>
            <a:schemeClr val="bg2"/>
          </a:solidFill>
          <a:ln w="6350">
            <a:solidFill>
              <a:schemeClr val="bg2"/>
            </a:solidFill>
            <a:prstDash val="solid"/>
          </a:ln>
        </p:spPr>
      </p:sp>
      <p:sp>
        <p:nvSpPr>
          <p:cNvPr id="16" name="Step 3 badge"/>
          <p:cNvSpPr/>
          <p:nvPr/>
        </p:nvSpPr>
        <p:spPr>
          <a:xfrm>
            <a:off x="6446520" y="1965960"/>
            <a:ext cx="640080" cy="640080"/>
          </a:xfrm>
          <a:prstGeom prst="ellipse">
            <a:avLst/>
          </a:prstGeom>
          <a:solidFill>
            <a:schemeClr val="accent1"/>
          </a:solidFill>
          <a:ln w="6350">
            <a:solidFill>
              <a:schemeClr val="accent1"/>
            </a:solidFill>
            <a:prstDash val="solid"/>
          </a:ln>
        </p:spPr>
      </p:sp>
      <p:sp>
        <p:nvSpPr>
          <p:cNvPr id="17" name="Text 14"/>
          <p:cNvSpPr txBox="1"/>
          <p:nvPr/>
        </p:nvSpPr>
        <p:spPr>
          <a:xfrm>
            <a:off x="6446520" y="19659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Text 15"/>
          <p:cNvSpPr txBox="1"/>
          <p:nvPr/>
        </p:nvSpPr>
        <p:spPr>
          <a:xfrm>
            <a:off x="6446520" y="2743200"/>
            <a:ext cx="2194560" cy="411480"/>
          </a:xfrm>
          <a:prstGeom prst="rect">
            <a:avLst/>
          </a:prstGeom>
          <a:noFill/>
          <a:ln/>
        </p:spPr>
        <p:txBody>
          <a:bodyPr wrap="square" lIns="0" tIns="0" rIns="0" bIns="0" rtlCol="0" anchor="ctr"/>
          <a:lstStyle/>
          <a:p>
            <a:pPr indent="0" marL="0">
              <a:buNone/>
            </a:pPr>
            <a:r>
              <a:rPr lang="en-US" sz="2000" b="1" dirty="0">
                <a:solidFill>
                  <a:schemeClr val="tx1"/>
                </a:solidFill>
              </a:rPr>
              <a:t>Understand</a:t>
            </a:r>
            <a:endParaRPr lang="en-US" sz="2000" dirty="0"/>
          </a:p>
        </p:txBody>
      </p:sp>
      <p:sp>
        <p:nvSpPr>
          <p:cNvPr id="19" name="Text 16"/>
          <p:cNvSpPr txBox="1"/>
          <p:nvPr/>
        </p:nvSpPr>
        <p:spPr>
          <a:xfrm>
            <a:off x="6446520" y="3246120"/>
            <a:ext cx="2240280" cy="1463040"/>
          </a:xfrm>
          <a:prstGeom prst="rect">
            <a:avLst/>
          </a:prstGeom>
          <a:noFill/>
          <a:ln/>
        </p:spPr>
        <p:txBody>
          <a:bodyPr wrap="square" lIns="0" tIns="0" rIns="0" bIns="0" rtlCol="0" anchor="t"/>
          <a:lstStyle/>
          <a:p>
            <a:pPr indent="0" marL="0">
              <a:buNone/>
            </a:pPr>
            <a:r>
              <a:rPr lang="en-US" sz="1400" dirty="0">
                <a:solidFill>
                  <a:schemeClr val="tx2"/>
                </a:solidFill>
              </a:rPr>
              <a:t>Estimated value, what-if changes, break-even, cash safety and unusual-month alerts.</a:t>
            </a:r>
            <a:endParaRPr lang="en-US" sz="1400" dirty="0"/>
          </a:p>
        </p:txBody>
      </p:sp>
      <p:sp>
        <p:nvSpPr>
          <p:cNvPr id="20" name="Step 4 card"/>
          <p:cNvSpPr/>
          <p:nvPr/>
        </p:nvSpPr>
        <p:spPr>
          <a:xfrm>
            <a:off x="9052560" y="1737360"/>
            <a:ext cx="2651760" cy="3108960"/>
          </a:xfrm>
          <a:prstGeom prst="roundRect">
            <a:avLst>
              <a:gd name="adj" fmla="val 4138"/>
            </a:avLst>
          </a:prstGeom>
          <a:solidFill>
            <a:schemeClr val="bg2"/>
          </a:solidFill>
          <a:ln w="6350">
            <a:solidFill>
              <a:schemeClr val="bg2"/>
            </a:solidFill>
            <a:prstDash val="solid"/>
          </a:ln>
        </p:spPr>
      </p:sp>
      <p:sp>
        <p:nvSpPr>
          <p:cNvPr id="21" name="Step 4 badge"/>
          <p:cNvSpPr/>
          <p:nvPr/>
        </p:nvSpPr>
        <p:spPr>
          <a:xfrm>
            <a:off x="9281160" y="1965960"/>
            <a:ext cx="640080" cy="640080"/>
          </a:xfrm>
          <a:prstGeom prst="ellipse">
            <a:avLst/>
          </a:prstGeom>
          <a:solidFill>
            <a:schemeClr val="accent1"/>
          </a:solidFill>
          <a:ln w="6350">
            <a:solidFill>
              <a:schemeClr val="accent1"/>
            </a:solidFill>
            <a:prstDash val="solid"/>
          </a:ln>
        </p:spPr>
      </p:sp>
      <p:sp>
        <p:nvSpPr>
          <p:cNvPr id="22" name="Text 19"/>
          <p:cNvSpPr txBox="1"/>
          <p:nvPr/>
        </p:nvSpPr>
        <p:spPr>
          <a:xfrm>
            <a:off x="9281160" y="19659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3" name="Text 20"/>
          <p:cNvSpPr txBox="1"/>
          <p:nvPr/>
        </p:nvSpPr>
        <p:spPr>
          <a:xfrm>
            <a:off x="9281160" y="2743200"/>
            <a:ext cx="2194560" cy="411480"/>
          </a:xfrm>
          <a:prstGeom prst="rect">
            <a:avLst/>
          </a:prstGeom>
          <a:noFill/>
          <a:ln/>
        </p:spPr>
        <p:txBody>
          <a:bodyPr wrap="square" lIns="0" tIns="0" rIns="0" bIns="0" rtlCol="0" anchor="ctr"/>
          <a:lstStyle/>
          <a:p>
            <a:pPr indent="0" marL="0">
              <a:buNone/>
            </a:pPr>
            <a:r>
              <a:rPr lang="en-US" sz="2000" b="1" dirty="0">
                <a:solidFill>
                  <a:schemeClr val="tx1"/>
                </a:solidFill>
              </a:rPr>
              <a:t>Manage</a:t>
            </a:r>
            <a:endParaRPr lang="en-US" sz="2000" dirty="0"/>
          </a:p>
        </p:txBody>
      </p:sp>
      <p:sp>
        <p:nvSpPr>
          <p:cNvPr id="24" name="Text 21"/>
          <p:cNvSpPr txBox="1"/>
          <p:nvPr/>
        </p:nvSpPr>
        <p:spPr>
          <a:xfrm>
            <a:off x="9281160" y="3246120"/>
            <a:ext cx="2240280" cy="1463040"/>
          </a:xfrm>
          <a:prstGeom prst="rect">
            <a:avLst/>
          </a:prstGeom>
          <a:noFill/>
          <a:ln/>
        </p:spPr>
        <p:txBody>
          <a:bodyPr wrap="square" lIns="0" tIns="0" rIns="0" bIns="0" rtlCol="0" anchor="t"/>
          <a:lstStyle/>
          <a:p>
            <a:pPr indent="0" marL="0">
              <a:buNone/>
            </a:pPr>
            <a:r>
              <a:rPr lang="en-US" sz="1400" dirty="0">
                <a:solidFill>
                  <a:schemeClr val="tx2"/>
                </a:solidFill>
              </a:rPr>
              <a:t>Keep many spreadsheets. Switch, rename, download or delete any of them.</a:t>
            </a:r>
            <a:endParaRPr lang="en-US" sz="1400" dirty="0"/>
          </a:p>
        </p:txBody>
      </p:sp>
      <p:sp>
        <p:nvSpPr>
          <p:cNvPr id="25" name="Text 22"/>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600" i="1" dirty="0">
                <a:solidFill>
                  <a:schemeClr val="tx2"/>
                </a:solidFill>
              </a:rPr>
              <a:t>Sprint 1 ran on made-up sample data. Now nothing shows until you upload your own spreadsheet. Works for local businesses and non-profits.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MODEL</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How the financial model works</a:t>
            </a:r>
            <a:endParaRPr lang="en-US" sz="3400" dirty="0"/>
          </a:p>
        </p:txBody>
      </p:sp>
      <p:sp>
        <p:nvSpPr>
          <p:cNvPr id="5" name="Model part 1"/>
          <p:cNvSpPr/>
          <p:nvPr/>
        </p:nvSpPr>
        <p:spPr>
          <a:xfrm>
            <a:off x="548640" y="1691640"/>
            <a:ext cx="3383280" cy="2286000"/>
          </a:xfrm>
          <a:prstGeom prst="roundRect">
            <a:avLst>
              <a:gd name="adj" fmla="val 4800"/>
            </a:avLst>
          </a:prstGeom>
          <a:solidFill>
            <a:schemeClr val="bg2"/>
          </a:solidFill>
          <a:ln w="6350">
            <a:solidFill>
              <a:schemeClr val="bg2"/>
            </a:solidFill>
            <a:prstDash val="solid"/>
          </a:ln>
        </p:spPr>
      </p:sp>
      <p:sp>
        <p:nvSpPr>
          <p:cNvPr id="6" name="Part 1 badge"/>
          <p:cNvSpPr/>
          <p:nvPr/>
        </p:nvSpPr>
        <p:spPr>
          <a:xfrm>
            <a:off x="777240" y="182880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417320" y="1828800"/>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Statistical forecast</a:t>
            </a:r>
            <a:endParaRPr lang="en-US" sz="1800" dirty="0"/>
          </a:p>
        </p:txBody>
      </p:sp>
      <p:sp>
        <p:nvSpPr>
          <p:cNvPr id="9" name="Text 6"/>
          <p:cNvSpPr txBox="1"/>
          <p:nvPr/>
        </p:nvSpPr>
        <p:spPr>
          <a:xfrm>
            <a:off x="777240" y="2468880"/>
            <a:ext cx="2926080" cy="1371600"/>
          </a:xfrm>
          <a:prstGeom prst="rect">
            <a:avLst/>
          </a:prstGeom>
          <a:noFill/>
          <a:ln/>
        </p:spPr>
        <p:txBody>
          <a:bodyPr wrap="square" lIns="0" tIns="0" rIns="0" bIns="0" rtlCol="0" anchor="t"/>
          <a:lstStyle/>
          <a:p>
            <a:pPr indent="0" marL="0">
              <a:buNone/>
            </a:pPr>
            <a:r>
              <a:rPr lang="en-US" sz="1500" dirty="0">
                <a:solidFill>
                  <a:schemeClr val="tx2"/>
                </a:solidFill>
              </a:rPr>
              <a:t>Three proven methods averaged: seasonal smoothing, last year scaled by growth, and Theta.</a:t>
            </a:r>
            <a:endParaRPr lang="en-US" sz="1500" dirty="0"/>
          </a:p>
        </p:txBody>
      </p:sp>
      <p:sp>
        <p:nvSpPr>
          <p:cNvPr id="10" name="Model arrow 1"/>
          <p:cNvSpPr/>
          <p:nvPr/>
        </p:nvSpPr>
        <p:spPr>
          <a:xfrm>
            <a:off x="3986784" y="2651760"/>
            <a:ext cx="347472" cy="411480"/>
          </a:xfrm>
          <a:prstGeom prst="rightArrow">
            <a:avLst/>
          </a:prstGeom>
          <a:solidFill>
            <a:schemeClr val="accent2"/>
          </a:solidFill>
          <a:ln w="6350">
            <a:solidFill>
              <a:schemeClr val="accent2"/>
            </a:solidFill>
            <a:prstDash val="solid"/>
          </a:ln>
        </p:spPr>
      </p:sp>
      <p:sp>
        <p:nvSpPr>
          <p:cNvPr id="11" name="Model part 2"/>
          <p:cNvSpPr/>
          <p:nvPr/>
        </p:nvSpPr>
        <p:spPr>
          <a:xfrm>
            <a:off x="4389120" y="1691640"/>
            <a:ext cx="3383280" cy="2286000"/>
          </a:xfrm>
          <a:prstGeom prst="roundRect">
            <a:avLst>
              <a:gd name="adj" fmla="val 4800"/>
            </a:avLst>
          </a:prstGeom>
          <a:solidFill>
            <a:schemeClr val="bg2"/>
          </a:solidFill>
          <a:ln w="6350">
            <a:solidFill>
              <a:schemeClr val="bg2"/>
            </a:solidFill>
            <a:prstDash val="solid"/>
          </a:ln>
        </p:spPr>
      </p:sp>
      <p:sp>
        <p:nvSpPr>
          <p:cNvPr id="12" name="Part 2 badge"/>
          <p:cNvSpPr/>
          <p:nvPr/>
        </p:nvSpPr>
        <p:spPr>
          <a:xfrm>
            <a:off x="4617720" y="1828800"/>
            <a:ext cx="457200" cy="457200"/>
          </a:xfrm>
          <a:prstGeom prst="ellipse">
            <a:avLst/>
          </a:prstGeom>
          <a:solidFill>
            <a:schemeClr val="accent1"/>
          </a:solidFill>
          <a:ln w="6350">
            <a:solidFill>
              <a:schemeClr val="accent1"/>
            </a:solidFill>
            <a:prstDash val="solid"/>
          </a:ln>
        </p:spPr>
      </p:sp>
      <p:sp>
        <p:nvSpPr>
          <p:cNvPr id="13" name="Text 10"/>
          <p:cNvSpPr txBox="1"/>
          <p:nvPr/>
        </p:nvSpPr>
        <p:spPr>
          <a:xfrm>
            <a:off x="461772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5257800" y="1828800"/>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Patch transformer</a:t>
            </a:r>
            <a:endParaRPr lang="en-US" sz="1800" dirty="0"/>
          </a:p>
        </p:txBody>
      </p:sp>
      <p:sp>
        <p:nvSpPr>
          <p:cNvPr id="15" name="Text 12"/>
          <p:cNvSpPr txBox="1"/>
          <p:nvPr/>
        </p:nvSpPr>
        <p:spPr>
          <a:xfrm>
            <a:off x="4617720" y="2468880"/>
            <a:ext cx="2926080" cy="1371600"/>
          </a:xfrm>
          <a:prstGeom prst="rect">
            <a:avLst/>
          </a:prstGeom>
          <a:noFill/>
          <a:ln/>
        </p:spPr>
        <p:txBody>
          <a:bodyPr wrap="square" lIns="0" tIns="0" rIns="0" bIns="0" rtlCol="0" anchor="t"/>
          <a:lstStyle/>
          <a:p>
            <a:pPr indent="0" marL="0">
              <a:buNone/>
            </a:pPr>
            <a:r>
              <a:rPr lang="en-US" sz="1500" dirty="0">
                <a:solidFill>
                  <a:schemeClr val="tx2"/>
                </a:solidFill>
              </a:rPr>
              <a:t>A small PatchTST-style model reads your last 36 months in 3-month patches and corrects the baseline. Trained on 48,000 real series.</a:t>
            </a:r>
            <a:endParaRPr lang="en-US" sz="1500" dirty="0"/>
          </a:p>
        </p:txBody>
      </p:sp>
      <p:sp>
        <p:nvSpPr>
          <p:cNvPr id="16" name="Model arrow 2"/>
          <p:cNvSpPr/>
          <p:nvPr/>
        </p:nvSpPr>
        <p:spPr>
          <a:xfrm>
            <a:off x="7827264" y="2651760"/>
            <a:ext cx="347472" cy="411480"/>
          </a:xfrm>
          <a:prstGeom prst="rightArrow">
            <a:avLst/>
          </a:prstGeom>
          <a:solidFill>
            <a:schemeClr val="accent2"/>
          </a:solidFill>
          <a:ln w="6350">
            <a:solidFill>
              <a:schemeClr val="accent2"/>
            </a:solidFill>
            <a:prstDash val="solid"/>
          </a:ln>
        </p:spPr>
      </p:sp>
      <p:sp>
        <p:nvSpPr>
          <p:cNvPr id="17" name="Model part 3"/>
          <p:cNvSpPr/>
          <p:nvPr/>
        </p:nvSpPr>
        <p:spPr>
          <a:xfrm>
            <a:off x="8229600" y="1691640"/>
            <a:ext cx="3383280" cy="2286000"/>
          </a:xfrm>
          <a:prstGeom prst="roundRect">
            <a:avLst>
              <a:gd name="adj" fmla="val 4800"/>
            </a:avLst>
          </a:prstGeom>
          <a:solidFill>
            <a:schemeClr val="bg2"/>
          </a:solidFill>
          <a:ln w="6350">
            <a:solidFill>
              <a:schemeClr val="bg2"/>
            </a:solidFill>
            <a:prstDash val="solid"/>
          </a:ln>
        </p:spPr>
      </p:sp>
      <p:sp>
        <p:nvSpPr>
          <p:cNvPr id="18" name="Part 3 badge"/>
          <p:cNvSpPr/>
          <p:nvPr/>
        </p:nvSpPr>
        <p:spPr>
          <a:xfrm>
            <a:off x="8458200" y="1828800"/>
            <a:ext cx="457200" cy="457200"/>
          </a:xfrm>
          <a:prstGeom prst="ellipse">
            <a:avLst/>
          </a:prstGeom>
          <a:solidFill>
            <a:schemeClr val="accent1"/>
          </a:solidFill>
          <a:ln w="6350">
            <a:solidFill>
              <a:schemeClr val="accent1"/>
            </a:solidFill>
            <a:prstDash val="solid"/>
          </a:ln>
        </p:spPr>
      </p:sp>
      <p:sp>
        <p:nvSpPr>
          <p:cNvPr id="19" name="Text 16"/>
          <p:cNvSpPr txBox="1"/>
          <p:nvPr/>
        </p:nvSpPr>
        <p:spPr>
          <a:xfrm>
            <a:off x="845820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7"/>
          <p:cNvSpPr txBox="1"/>
          <p:nvPr/>
        </p:nvSpPr>
        <p:spPr>
          <a:xfrm>
            <a:off x="9098280" y="1828800"/>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Monte Carlo</a:t>
            </a:r>
            <a:endParaRPr lang="en-US" sz="1800" dirty="0"/>
          </a:p>
        </p:txBody>
      </p:sp>
      <p:sp>
        <p:nvSpPr>
          <p:cNvPr id="21" name="Text 18"/>
          <p:cNvSpPr txBox="1"/>
          <p:nvPr/>
        </p:nvSpPr>
        <p:spPr>
          <a:xfrm>
            <a:off x="8458200" y="2468880"/>
            <a:ext cx="2926080" cy="1371600"/>
          </a:xfrm>
          <a:prstGeom prst="rect">
            <a:avLst/>
          </a:prstGeom>
          <a:noFill/>
          <a:ln/>
        </p:spPr>
        <p:txBody>
          <a:bodyPr wrap="square" lIns="0" tIns="0" rIns="0" bIns="0" rtlCol="0" anchor="t"/>
          <a:lstStyle/>
          <a:p>
            <a:pPr indent="0" marL="0">
              <a:buNone/>
            </a:pPr>
            <a:r>
              <a:rPr lang="en-US" sz="1500" dirty="0">
                <a:solidFill>
                  <a:schemeClr val="tx2"/>
                </a:solidFill>
              </a:rPr>
              <a:t>Runs the forecast 3,000 times with realistic randomness. The spread of results is your likely range, and it feeds the value estimate.</a:t>
            </a:r>
            <a:endParaRPr lang="en-US" sz="1500" dirty="0"/>
          </a:p>
        </p:txBody>
      </p:sp>
      <p:sp>
        <p:nvSpPr>
          <p:cNvPr id="22" name="Text 19"/>
          <p:cNvSpPr txBox="1"/>
          <p:nvPr/>
        </p:nvSpPr>
        <p:spPr>
          <a:xfrm>
            <a:off x="548640" y="4206240"/>
            <a:ext cx="11064240" cy="365760"/>
          </a:xfrm>
          <a:prstGeom prst="rect">
            <a:avLst/>
          </a:prstGeom>
          <a:noFill/>
          <a:ln/>
        </p:spPr>
        <p:txBody>
          <a:bodyPr wrap="square" lIns="0" tIns="0" rIns="0" bIns="0" rtlCol="0" anchor="ctr"/>
          <a:lstStyle/>
          <a:p>
            <a:pPr indent="0" marL="0">
              <a:buNone/>
            </a:pPr>
            <a:r>
              <a:rPr lang="en-US" sz="1600" i="1" dirty="0">
                <a:solidFill>
                  <a:schemeClr val="tx2"/>
                </a:solidFill>
              </a:rPr>
              <a:t>Result: the next 12 months with a likely range, a value estimate, and answers to what-if questions.</a:t>
            </a:r>
            <a:endParaRPr lang="en-US" sz="1600" dirty="0"/>
          </a:p>
        </p:txBody>
      </p:sp>
      <p:sp>
        <p:nvSpPr>
          <p:cNvPr id="23" name="Proof band"/>
          <p:cNvSpPr/>
          <p:nvPr/>
        </p:nvSpPr>
        <p:spPr>
          <a:xfrm>
            <a:off x="548640" y="4800600"/>
            <a:ext cx="11109960" cy="1325880"/>
          </a:xfrm>
          <a:prstGeom prst="roundRect">
            <a:avLst>
              <a:gd name="adj" fmla="val 8276"/>
            </a:avLst>
          </a:prstGeom>
          <a:solidFill>
            <a:schemeClr val="accent1"/>
          </a:solidFill>
          <a:ln w="6350">
            <a:solidFill>
              <a:schemeClr val="accent1"/>
            </a:solidFill>
            <a:prstDash val="solid"/>
          </a:ln>
        </p:spPr>
      </p:sp>
      <p:sp>
        <p:nvSpPr>
          <p:cNvPr id="24" name="Text 21"/>
          <p:cNvSpPr txBox="1"/>
          <p:nvPr/>
        </p:nvSpPr>
        <p:spPr>
          <a:xfrm>
            <a:off x="777240" y="4956048"/>
            <a:ext cx="3383280" cy="594360"/>
          </a:xfrm>
          <a:prstGeom prst="rect">
            <a:avLst/>
          </a:prstGeom>
          <a:noFill/>
          <a:ln/>
        </p:spPr>
        <p:txBody>
          <a:bodyPr wrap="square" lIns="0" tIns="0" rIns="0" bIns="0" rtlCol="0" anchor="ctr"/>
          <a:lstStyle/>
          <a:p>
            <a:pPr indent="0" marL="0">
              <a:buNone/>
            </a:pPr>
            <a:r>
              <a:rPr lang="en-US" sz="3200" b="1" dirty="0">
                <a:solidFill>
                  <a:schemeClr val="bg1"/>
                </a:solidFill>
              </a:rPr>
              <a:t>95.4%</a:t>
            </a:r>
            <a:endParaRPr lang="en-US" sz="3200" dirty="0"/>
          </a:p>
        </p:txBody>
      </p:sp>
      <p:sp>
        <p:nvSpPr>
          <p:cNvPr id="25" name="Text 22"/>
          <p:cNvSpPr txBox="1"/>
          <p:nvPr/>
        </p:nvSpPr>
        <p:spPr>
          <a:xfrm>
            <a:off x="777240" y="5577840"/>
            <a:ext cx="3383280" cy="365760"/>
          </a:xfrm>
          <a:prstGeom prst="rect">
            <a:avLst/>
          </a:prstGeom>
          <a:noFill/>
          <a:ln/>
        </p:spPr>
        <p:txBody>
          <a:bodyPr wrap="square" lIns="0" tIns="0" rIns="0" bIns="0" rtlCol="0" anchor="ctr"/>
          <a:lstStyle/>
          <a:p>
            <a:pPr indent="0" marL="0">
              <a:buNone/>
            </a:pPr>
            <a:r>
              <a:rPr lang="en-US" sz="1400" dirty="0">
                <a:solidFill>
                  <a:schemeClr val="bg2"/>
                </a:solidFill>
              </a:rPr>
              <a:t>forecast accuracy on 31 real series</a:t>
            </a:r>
            <a:endParaRPr lang="en-US" sz="1400" dirty="0"/>
          </a:p>
        </p:txBody>
      </p:sp>
      <p:sp>
        <p:nvSpPr>
          <p:cNvPr id="26" name="Text 23"/>
          <p:cNvSpPr txBox="1"/>
          <p:nvPr/>
        </p:nvSpPr>
        <p:spPr>
          <a:xfrm>
            <a:off x="4434840" y="4956048"/>
            <a:ext cx="3383280" cy="594360"/>
          </a:xfrm>
          <a:prstGeom prst="rect">
            <a:avLst/>
          </a:prstGeom>
          <a:noFill/>
          <a:ln/>
        </p:spPr>
        <p:txBody>
          <a:bodyPr wrap="square" lIns="0" tIns="0" rIns="0" bIns="0" rtlCol="0" anchor="ctr"/>
          <a:lstStyle/>
          <a:p>
            <a:pPr indent="0" marL="0">
              <a:buNone/>
            </a:pPr>
            <a:r>
              <a:rPr lang="en-US" sz="3200" b="1" dirty="0">
                <a:solidFill>
                  <a:schemeClr val="bg1"/>
                </a:solidFill>
              </a:rPr>
              <a:t>4.6% vs 6.4%</a:t>
            </a:r>
            <a:endParaRPr lang="en-US" sz="3200" dirty="0"/>
          </a:p>
        </p:txBody>
      </p:sp>
      <p:sp>
        <p:nvSpPr>
          <p:cNvPr id="27" name="Text 24"/>
          <p:cNvSpPr txBox="1"/>
          <p:nvPr/>
        </p:nvSpPr>
        <p:spPr>
          <a:xfrm>
            <a:off x="4434840" y="5577840"/>
            <a:ext cx="3383280" cy="365760"/>
          </a:xfrm>
          <a:prstGeom prst="rect">
            <a:avLst/>
          </a:prstGeom>
          <a:noFill/>
          <a:ln/>
        </p:spPr>
        <p:txBody>
          <a:bodyPr wrap="square" lIns="0" tIns="0" rIns="0" bIns="0" rtlCol="0" anchor="ctr"/>
          <a:lstStyle/>
          <a:p>
            <a:pPr indent="0" marL="0">
              <a:buNone/>
            </a:pPr>
            <a:r>
              <a:rPr lang="en-US" sz="1400" dirty="0">
                <a:solidFill>
                  <a:schemeClr val="bg2"/>
                </a:solidFill>
              </a:rPr>
              <a:t>average miss: ours vs last year's guess</a:t>
            </a:r>
            <a:endParaRPr lang="en-US" sz="1400" dirty="0"/>
          </a:p>
        </p:txBody>
      </p:sp>
      <p:sp>
        <p:nvSpPr>
          <p:cNvPr id="28" name="Text 25"/>
          <p:cNvSpPr txBox="1"/>
          <p:nvPr/>
        </p:nvSpPr>
        <p:spPr>
          <a:xfrm>
            <a:off x="8092440" y="4956048"/>
            <a:ext cx="3383280" cy="594360"/>
          </a:xfrm>
          <a:prstGeom prst="rect">
            <a:avLst/>
          </a:prstGeom>
          <a:noFill/>
          <a:ln/>
        </p:spPr>
        <p:txBody>
          <a:bodyPr wrap="square" lIns="0" tIns="0" rIns="0" bIns="0" rtlCol="0" anchor="ctr"/>
          <a:lstStyle/>
          <a:p>
            <a:pPr indent="0" marL="0">
              <a:buNone/>
            </a:pPr>
            <a:r>
              <a:rPr lang="en-US" sz="3200" b="1" dirty="0">
                <a:solidFill>
                  <a:schemeClr val="bg1"/>
                </a:solidFill>
              </a:rPr>
              <a:t>8 in 10</a:t>
            </a:r>
            <a:endParaRPr lang="en-US" sz="3200" dirty="0"/>
          </a:p>
        </p:txBody>
      </p:sp>
      <p:sp>
        <p:nvSpPr>
          <p:cNvPr id="29" name="Text 26"/>
          <p:cNvSpPr txBox="1"/>
          <p:nvPr/>
        </p:nvSpPr>
        <p:spPr>
          <a:xfrm>
            <a:off x="8092440" y="5577840"/>
            <a:ext cx="3383280" cy="365760"/>
          </a:xfrm>
          <a:prstGeom prst="rect">
            <a:avLst/>
          </a:prstGeom>
          <a:noFill/>
          <a:ln/>
        </p:spPr>
        <p:txBody>
          <a:bodyPr wrap="square" lIns="0" tIns="0" rIns="0" bIns="0" rtlCol="0" anchor="ctr"/>
          <a:lstStyle/>
          <a:p>
            <a:pPr indent="0" marL="0">
              <a:buNone/>
            </a:pPr>
            <a:r>
              <a:rPr lang="en-US" sz="1400" dirty="0">
                <a:solidFill>
                  <a:schemeClr val="bg2"/>
                </a:solidFill>
              </a:rPr>
              <a:t>times the range held the real value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TIMELINE</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Where we are on the timeline</a:t>
            </a:r>
            <a:endParaRPr lang="en-US" sz="3400" dirty="0"/>
          </a:p>
        </p:txBody>
      </p:sp>
      <p:sp>
        <p:nvSpPr>
          <p:cNvPr id="5" name="Text 2"/>
          <p:cNvSpPr txBox="1"/>
          <p:nvPr/>
        </p:nvSpPr>
        <p:spPr>
          <a:xfrm>
            <a:off x="548640" y="1691640"/>
            <a:ext cx="21031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OCTOBER</a:t>
            </a:r>
            <a:endParaRPr lang="en-US" sz="1100" dirty="0"/>
          </a:p>
        </p:txBody>
      </p:sp>
      <p:sp>
        <p:nvSpPr>
          <p:cNvPr id="6" name="Data and design card"/>
          <p:cNvSpPr/>
          <p:nvPr/>
        </p:nvSpPr>
        <p:spPr>
          <a:xfrm>
            <a:off x="548640" y="2057400"/>
            <a:ext cx="2103120" cy="2971800"/>
          </a:xfrm>
          <a:prstGeom prst="roundRect">
            <a:avLst>
              <a:gd name="adj" fmla="val 5217"/>
            </a:avLst>
          </a:prstGeom>
          <a:solidFill>
            <a:schemeClr val="bg2"/>
          </a:solidFill>
          <a:ln w="6350">
            <a:solidFill>
              <a:schemeClr val="bg2"/>
            </a:solidFill>
            <a:prstDash val="solid"/>
          </a:ln>
        </p:spPr>
      </p:sp>
      <p:sp>
        <p:nvSpPr>
          <p:cNvPr id="7" name="Text 4"/>
          <p:cNvSpPr txBox="1"/>
          <p:nvPr/>
        </p:nvSpPr>
        <p:spPr>
          <a:xfrm>
            <a:off x="713232" y="2240280"/>
            <a:ext cx="1783080" cy="640080"/>
          </a:xfrm>
          <a:prstGeom prst="rect">
            <a:avLst/>
          </a:prstGeom>
          <a:noFill/>
          <a:ln/>
        </p:spPr>
        <p:txBody>
          <a:bodyPr wrap="square" lIns="0" tIns="0" rIns="0" bIns="0" rtlCol="0" anchor="t"/>
          <a:lstStyle/>
          <a:p>
            <a:pPr indent="0" marL="0">
              <a:buNone/>
            </a:pPr>
            <a:r>
              <a:rPr lang="en-US" sz="1800" b="1" dirty="0">
                <a:solidFill>
                  <a:schemeClr val="tx1"/>
                </a:solidFill>
              </a:rPr>
              <a:t>Data and design</a:t>
            </a:r>
            <a:endParaRPr lang="en-US" sz="1800" dirty="0"/>
          </a:p>
        </p:txBody>
      </p:sp>
      <p:sp>
        <p:nvSpPr>
          <p:cNvPr id="8" name="Data and design status"/>
          <p:cNvSpPr/>
          <p:nvPr/>
        </p:nvSpPr>
        <p:spPr>
          <a:xfrm>
            <a:off x="713232" y="2971800"/>
            <a:ext cx="1463040" cy="329184"/>
          </a:xfrm>
          <a:prstGeom prst="roundRect">
            <a:avLst>
              <a:gd name="adj" fmla="val 50000"/>
            </a:avLst>
          </a:prstGeom>
          <a:solidFill>
            <a:schemeClr val="accent1"/>
          </a:solidFill>
          <a:ln w="6350">
            <a:solidFill>
              <a:schemeClr val="accent1"/>
            </a:solidFill>
            <a:prstDash val="solid"/>
          </a:ln>
        </p:spPr>
      </p:sp>
      <p:sp>
        <p:nvSpPr>
          <p:cNvPr id="9" name="Text 6"/>
          <p:cNvSpPr txBox="1"/>
          <p:nvPr/>
        </p:nvSpPr>
        <p:spPr>
          <a:xfrm>
            <a:off x="713232" y="29718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Done</a:t>
            </a:r>
            <a:endParaRPr lang="en-US" sz="1200" dirty="0"/>
          </a:p>
        </p:txBody>
      </p:sp>
      <p:sp>
        <p:nvSpPr>
          <p:cNvPr id="10" name="Text 7"/>
          <p:cNvSpPr txBox="1"/>
          <p:nvPr/>
        </p:nvSpPr>
        <p:spPr>
          <a:xfrm>
            <a:off x="713232" y="3474720"/>
            <a:ext cx="1783080" cy="1371600"/>
          </a:xfrm>
          <a:prstGeom prst="rect">
            <a:avLst/>
          </a:prstGeom>
          <a:noFill/>
          <a:ln/>
        </p:spPr>
        <p:txBody>
          <a:bodyPr wrap="square" lIns="0" tIns="0" rIns="0" bIns="0" rtlCol="0" anchor="t"/>
          <a:lstStyle/>
          <a:p>
            <a:pPr indent="0" marL="0">
              <a:buNone/>
            </a:pPr>
            <a:r>
              <a:rPr lang="en-US" sz="1300" dirty="0">
                <a:solidFill>
                  <a:schemeClr val="tx2"/>
                </a:solidFill>
              </a:rPr>
              <a:t>Engine, schema, financial model page</a:t>
            </a:r>
            <a:endParaRPr lang="en-US" sz="1300" dirty="0"/>
          </a:p>
        </p:txBody>
      </p:sp>
      <p:sp>
        <p:nvSpPr>
          <p:cNvPr id="11" name="Text 8"/>
          <p:cNvSpPr txBox="1"/>
          <p:nvPr/>
        </p:nvSpPr>
        <p:spPr>
          <a:xfrm>
            <a:off x="2788920" y="1691640"/>
            <a:ext cx="21031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NOVEMBER</a:t>
            </a:r>
            <a:endParaRPr lang="en-US" sz="1100" dirty="0"/>
          </a:p>
        </p:txBody>
      </p:sp>
      <p:sp>
        <p:nvSpPr>
          <p:cNvPr id="12" name="Cleaning card"/>
          <p:cNvSpPr/>
          <p:nvPr/>
        </p:nvSpPr>
        <p:spPr>
          <a:xfrm>
            <a:off x="2788920" y="2057400"/>
            <a:ext cx="2103120" cy="2971800"/>
          </a:xfrm>
          <a:prstGeom prst="roundRect">
            <a:avLst>
              <a:gd name="adj" fmla="val 5217"/>
            </a:avLst>
          </a:prstGeom>
          <a:solidFill>
            <a:schemeClr val="bg2"/>
          </a:solidFill>
          <a:ln w="6350">
            <a:solidFill>
              <a:schemeClr val="bg2"/>
            </a:solidFill>
            <a:prstDash val="solid"/>
          </a:ln>
        </p:spPr>
      </p:sp>
      <p:sp>
        <p:nvSpPr>
          <p:cNvPr id="13" name="Text 10"/>
          <p:cNvSpPr txBox="1"/>
          <p:nvPr/>
        </p:nvSpPr>
        <p:spPr>
          <a:xfrm>
            <a:off x="2953512" y="2240280"/>
            <a:ext cx="1783080" cy="640080"/>
          </a:xfrm>
          <a:prstGeom prst="rect">
            <a:avLst/>
          </a:prstGeom>
          <a:noFill/>
          <a:ln/>
        </p:spPr>
        <p:txBody>
          <a:bodyPr wrap="square" lIns="0" tIns="0" rIns="0" bIns="0" rtlCol="0" anchor="t"/>
          <a:lstStyle/>
          <a:p>
            <a:pPr indent="0" marL="0">
              <a:buNone/>
            </a:pPr>
            <a:r>
              <a:rPr lang="en-US" sz="1800" b="1" dirty="0">
                <a:solidFill>
                  <a:schemeClr val="tx1"/>
                </a:solidFill>
              </a:rPr>
              <a:t>Cleaning</a:t>
            </a:r>
            <a:endParaRPr lang="en-US" sz="1800" dirty="0"/>
          </a:p>
        </p:txBody>
      </p:sp>
      <p:sp>
        <p:nvSpPr>
          <p:cNvPr id="14" name="Cleaning status"/>
          <p:cNvSpPr/>
          <p:nvPr/>
        </p:nvSpPr>
        <p:spPr>
          <a:xfrm>
            <a:off x="2953512" y="2971800"/>
            <a:ext cx="1463040" cy="329184"/>
          </a:xfrm>
          <a:prstGeom prst="roundRect">
            <a:avLst>
              <a:gd name="adj" fmla="val 50000"/>
            </a:avLst>
          </a:prstGeom>
          <a:solidFill>
            <a:schemeClr val="accent4"/>
          </a:solidFill>
          <a:ln w="6350">
            <a:solidFill>
              <a:schemeClr val="accent4"/>
            </a:solidFill>
            <a:prstDash val="solid"/>
          </a:ln>
        </p:spPr>
      </p:sp>
      <p:sp>
        <p:nvSpPr>
          <p:cNvPr id="15" name="Text 12"/>
          <p:cNvSpPr txBox="1"/>
          <p:nvPr/>
        </p:nvSpPr>
        <p:spPr>
          <a:xfrm>
            <a:off x="2953512" y="2971800"/>
            <a:ext cx="1463040" cy="329184"/>
          </a:xfrm>
          <a:prstGeom prst="rect">
            <a:avLst/>
          </a:prstGeom>
          <a:noFill/>
          <a:ln/>
        </p:spPr>
        <p:txBody>
          <a:bodyPr wrap="square" lIns="0" tIns="0" rIns="0" bIns="0" rtlCol="0" anchor="ctr"/>
          <a:lstStyle/>
          <a:p>
            <a:pPr algn="ctr" indent="0" marL="0">
              <a:buNone/>
            </a:pPr>
            <a:r>
              <a:rPr lang="en-US" sz="1200" b="1" dirty="0">
                <a:solidFill>
                  <a:schemeClr val="tx1"/>
                </a:solidFill>
              </a:rPr>
              <a:t>Next</a:t>
            </a:r>
            <a:endParaRPr lang="en-US" sz="1200" dirty="0"/>
          </a:p>
        </p:txBody>
      </p:sp>
      <p:sp>
        <p:nvSpPr>
          <p:cNvPr id="16" name="Text 13"/>
          <p:cNvSpPr txBox="1"/>
          <p:nvPr/>
        </p:nvSpPr>
        <p:spPr>
          <a:xfrm>
            <a:off x="2953512" y="3474720"/>
            <a:ext cx="1783080" cy="1371600"/>
          </a:xfrm>
          <a:prstGeom prst="rect">
            <a:avLst/>
          </a:prstGeom>
          <a:noFill/>
          <a:ln/>
        </p:spPr>
        <p:txBody>
          <a:bodyPr wrap="square" lIns="0" tIns="0" rIns="0" bIns="0" rtlCol="0" anchor="t"/>
          <a:lstStyle/>
          <a:p>
            <a:pPr indent="0" marL="0">
              <a:buNone/>
            </a:pPr>
            <a:r>
              <a:rPr lang="en-US" sz="1300" dirty="0">
                <a:solidFill>
                  <a:schemeClr val="tx2"/>
                </a:solidFill>
              </a:rPr>
              <a:t>Real small-business data</a:t>
            </a:r>
            <a:endParaRPr lang="en-US" sz="1300" dirty="0"/>
          </a:p>
        </p:txBody>
      </p:sp>
      <p:sp>
        <p:nvSpPr>
          <p:cNvPr id="17" name="Text 14"/>
          <p:cNvSpPr txBox="1"/>
          <p:nvPr/>
        </p:nvSpPr>
        <p:spPr>
          <a:xfrm>
            <a:off x="5029200" y="1691640"/>
            <a:ext cx="21031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DECEMBER</a:t>
            </a:r>
            <a:endParaRPr lang="en-US" sz="1100" dirty="0"/>
          </a:p>
        </p:txBody>
      </p:sp>
      <p:sp>
        <p:nvSpPr>
          <p:cNvPr id="18" name="Training card"/>
          <p:cNvSpPr/>
          <p:nvPr/>
        </p:nvSpPr>
        <p:spPr>
          <a:xfrm>
            <a:off x="5029200" y="2057400"/>
            <a:ext cx="2103120" cy="2971800"/>
          </a:xfrm>
          <a:prstGeom prst="roundRect">
            <a:avLst>
              <a:gd name="adj" fmla="val 5217"/>
            </a:avLst>
          </a:prstGeom>
          <a:solidFill>
            <a:schemeClr val="bg2"/>
          </a:solidFill>
          <a:ln w="6350">
            <a:solidFill>
              <a:schemeClr val="bg2"/>
            </a:solidFill>
            <a:prstDash val="solid"/>
          </a:ln>
        </p:spPr>
      </p:sp>
      <p:sp>
        <p:nvSpPr>
          <p:cNvPr id="19" name="Text 16"/>
          <p:cNvSpPr txBox="1"/>
          <p:nvPr/>
        </p:nvSpPr>
        <p:spPr>
          <a:xfrm>
            <a:off x="5193792" y="2240280"/>
            <a:ext cx="1783080" cy="640080"/>
          </a:xfrm>
          <a:prstGeom prst="rect">
            <a:avLst/>
          </a:prstGeom>
          <a:noFill/>
          <a:ln/>
        </p:spPr>
        <p:txBody>
          <a:bodyPr wrap="square" lIns="0" tIns="0" rIns="0" bIns="0" rtlCol="0" anchor="t"/>
          <a:lstStyle/>
          <a:p>
            <a:pPr indent="0" marL="0">
              <a:buNone/>
            </a:pPr>
            <a:r>
              <a:rPr lang="en-US" sz="1800" b="1" dirty="0">
                <a:solidFill>
                  <a:schemeClr val="tx1"/>
                </a:solidFill>
              </a:rPr>
              <a:t>Training</a:t>
            </a:r>
            <a:endParaRPr lang="en-US" sz="1800" dirty="0"/>
          </a:p>
        </p:txBody>
      </p:sp>
      <p:sp>
        <p:nvSpPr>
          <p:cNvPr id="20" name="Training status"/>
          <p:cNvSpPr/>
          <p:nvPr/>
        </p:nvSpPr>
        <p:spPr>
          <a:xfrm>
            <a:off x="5193792" y="2971800"/>
            <a:ext cx="1463040" cy="329184"/>
          </a:xfrm>
          <a:prstGeom prst="roundRect">
            <a:avLst>
              <a:gd name="adj" fmla="val 50000"/>
            </a:avLst>
          </a:prstGeom>
          <a:solidFill>
            <a:schemeClr val="accent2"/>
          </a:solidFill>
          <a:ln w="6350">
            <a:solidFill>
              <a:schemeClr val="accent2"/>
            </a:solidFill>
            <a:prstDash val="solid"/>
          </a:ln>
        </p:spPr>
      </p:sp>
      <p:sp>
        <p:nvSpPr>
          <p:cNvPr id="21" name="Text 18"/>
          <p:cNvSpPr txBox="1"/>
          <p:nvPr/>
        </p:nvSpPr>
        <p:spPr>
          <a:xfrm>
            <a:off x="5193792" y="29718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Started early</a:t>
            </a:r>
            <a:endParaRPr lang="en-US" sz="1200" dirty="0"/>
          </a:p>
        </p:txBody>
      </p:sp>
      <p:sp>
        <p:nvSpPr>
          <p:cNvPr id="22" name="Text 19"/>
          <p:cNvSpPr txBox="1"/>
          <p:nvPr/>
        </p:nvSpPr>
        <p:spPr>
          <a:xfrm>
            <a:off x="5193792" y="3474720"/>
            <a:ext cx="1783080" cy="1371600"/>
          </a:xfrm>
          <a:prstGeom prst="rect">
            <a:avLst/>
          </a:prstGeom>
          <a:noFill/>
          <a:ln/>
        </p:spPr>
        <p:txBody>
          <a:bodyPr wrap="square" lIns="0" tIns="0" rIns="0" bIns="0" rtlCol="0" anchor="t"/>
          <a:lstStyle/>
          <a:p>
            <a:pPr indent="0" marL="0">
              <a:buNone/>
            </a:pPr>
            <a:r>
              <a:rPr lang="en-US" sz="1300" dirty="0">
                <a:solidFill>
                  <a:schemeClr val="tx2"/>
                </a:solidFill>
              </a:rPr>
              <a:t>Patch Forecaster trained on public data</a:t>
            </a:r>
            <a:endParaRPr lang="en-US" sz="1300" dirty="0"/>
          </a:p>
        </p:txBody>
      </p:sp>
      <p:sp>
        <p:nvSpPr>
          <p:cNvPr id="23" name="Text 20"/>
          <p:cNvSpPr txBox="1"/>
          <p:nvPr/>
        </p:nvSpPr>
        <p:spPr>
          <a:xfrm>
            <a:off x="7269480" y="1691640"/>
            <a:ext cx="21031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EARLY JANUARY</a:t>
            </a:r>
            <a:endParaRPr lang="en-US" sz="1100" dirty="0"/>
          </a:p>
        </p:txBody>
      </p:sp>
      <p:sp>
        <p:nvSpPr>
          <p:cNvPr id="24" name="Integration card"/>
          <p:cNvSpPr/>
          <p:nvPr/>
        </p:nvSpPr>
        <p:spPr>
          <a:xfrm>
            <a:off x="7269480" y="2057400"/>
            <a:ext cx="2103120" cy="2971800"/>
          </a:xfrm>
          <a:prstGeom prst="roundRect">
            <a:avLst>
              <a:gd name="adj" fmla="val 5217"/>
            </a:avLst>
          </a:prstGeom>
          <a:solidFill>
            <a:schemeClr val="bg2"/>
          </a:solidFill>
          <a:ln w="6350">
            <a:solidFill>
              <a:schemeClr val="bg2"/>
            </a:solidFill>
            <a:prstDash val="solid"/>
          </a:ln>
        </p:spPr>
      </p:sp>
      <p:sp>
        <p:nvSpPr>
          <p:cNvPr id="25" name="Text 22"/>
          <p:cNvSpPr txBox="1"/>
          <p:nvPr/>
        </p:nvSpPr>
        <p:spPr>
          <a:xfrm>
            <a:off x="7434072" y="2240280"/>
            <a:ext cx="1783080" cy="640080"/>
          </a:xfrm>
          <a:prstGeom prst="rect">
            <a:avLst/>
          </a:prstGeom>
          <a:noFill/>
          <a:ln/>
        </p:spPr>
        <p:txBody>
          <a:bodyPr wrap="square" lIns="0" tIns="0" rIns="0" bIns="0" rtlCol="0" anchor="t"/>
          <a:lstStyle/>
          <a:p>
            <a:pPr indent="0" marL="0">
              <a:buNone/>
            </a:pPr>
            <a:r>
              <a:rPr lang="en-US" sz="1800" b="1" dirty="0">
                <a:solidFill>
                  <a:schemeClr val="tx1"/>
                </a:solidFill>
              </a:rPr>
              <a:t>Integration</a:t>
            </a:r>
            <a:endParaRPr lang="en-US" sz="1800" dirty="0"/>
          </a:p>
        </p:txBody>
      </p:sp>
      <p:sp>
        <p:nvSpPr>
          <p:cNvPr id="26" name="Integration status"/>
          <p:cNvSpPr/>
          <p:nvPr/>
        </p:nvSpPr>
        <p:spPr>
          <a:xfrm>
            <a:off x="7434072" y="2971800"/>
            <a:ext cx="1463040" cy="329184"/>
          </a:xfrm>
          <a:prstGeom prst="roundRect">
            <a:avLst>
              <a:gd name="adj" fmla="val 50000"/>
            </a:avLst>
          </a:prstGeom>
          <a:solidFill>
            <a:schemeClr val="accent2"/>
          </a:solidFill>
          <a:ln w="6350">
            <a:solidFill>
              <a:schemeClr val="accent2"/>
            </a:solidFill>
            <a:prstDash val="solid"/>
          </a:ln>
        </p:spPr>
      </p:sp>
      <p:sp>
        <p:nvSpPr>
          <p:cNvPr id="27" name="Text 24"/>
          <p:cNvSpPr txBox="1"/>
          <p:nvPr/>
        </p:nvSpPr>
        <p:spPr>
          <a:xfrm>
            <a:off x="7434072" y="29718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Mostly done</a:t>
            </a:r>
            <a:endParaRPr lang="en-US" sz="1200" dirty="0"/>
          </a:p>
        </p:txBody>
      </p:sp>
      <p:sp>
        <p:nvSpPr>
          <p:cNvPr id="28" name="Text 25"/>
          <p:cNvSpPr txBox="1"/>
          <p:nvPr/>
        </p:nvSpPr>
        <p:spPr>
          <a:xfrm>
            <a:off x="7434072" y="3474720"/>
            <a:ext cx="1783080" cy="1371600"/>
          </a:xfrm>
          <a:prstGeom prst="rect">
            <a:avLst/>
          </a:prstGeom>
          <a:noFill/>
          <a:ln/>
        </p:spPr>
        <p:txBody>
          <a:bodyPr wrap="square" lIns="0" tIns="0" rIns="0" bIns="0" rtlCol="0" anchor="t"/>
          <a:lstStyle/>
          <a:p>
            <a:pPr indent="0" marL="0">
              <a:buNone/>
            </a:pPr>
            <a:r>
              <a:rPr lang="en-US" sz="1300" dirty="0">
                <a:solidFill>
                  <a:schemeClr val="tx2"/>
                </a:solidFill>
              </a:rPr>
              <a:t>Upload, forecast and dashboards on real output</a:t>
            </a:r>
            <a:endParaRPr lang="en-US" sz="1300" dirty="0"/>
          </a:p>
        </p:txBody>
      </p:sp>
      <p:sp>
        <p:nvSpPr>
          <p:cNvPr id="29" name="Text 26"/>
          <p:cNvSpPr txBox="1"/>
          <p:nvPr/>
        </p:nvSpPr>
        <p:spPr>
          <a:xfrm>
            <a:off x="9509760" y="1691640"/>
            <a:ext cx="21031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LATE JANUARY</a:t>
            </a:r>
            <a:endParaRPr lang="en-US" sz="1100" dirty="0"/>
          </a:p>
        </p:txBody>
      </p:sp>
      <p:sp>
        <p:nvSpPr>
          <p:cNvPr id="30" name="Test and present card"/>
          <p:cNvSpPr/>
          <p:nvPr/>
        </p:nvSpPr>
        <p:spPr>
          <a:xfrm>
            <a:off x="9509760" y="2057400"/>
            <a:ext cx="2103120" cy="2971800"/>
          </a:xfrm>
          <a:prstGeom prst="roundRect">
            <a:avLst>
              <a:gd name="adj" fmla="val 5217"/>
            </a:avLst>
          </a:prstGeom>
          <a:solidFill>
            <a:schemeClr val="bg2"/>
          </a:solidFill>
          <a:ln w="6350">
            <a:solidFill>
              <a:schemeClr val="bg2"/>
            </a:solidFill>
            <a:prstDash val="solid"/>
          </a:ln>
        </p:spPr>
      </p:sp>
      <p:sp>
        <p:nvSpPr>
          <p:cNvPr id="31" name="Text 28"/>
          <p:cNvSpPr txBox="1"/>
          <p:nvPr/>
        </p:nvSpPr>
        <p:spPr>
          <a:xfrm>
            <a:off x="9674352" y="2240280"/>
            <a:ext cx="1783080" cy="640080"/>
          </a:xfrm>
          <a:prstGeom prst="rect">
            <a:avLst/>
          </a:prstGeom>
          <a:noFill/>
          <a:ln/>
        </p:spPr>
        <p:txBody>
          <a:bodyPr wrap="square" lIns="0" tIns="0" rIns="0" bIns="0" rtlCol="0" anchor="t"/>
          <a:lstStyle/>
          <a:p>
            <a:pPr indent="0" marL="0">
              <a:buNone/>
            </a:pPr>
            <a:r>
              <a:rPr lang="en-US" sz="1800" b="1" dirty="0">
                <a:solidFill>
                  <a:schemeClr val="tx1"/>
                </a:solidFill>
              </a:rPr>
              <a:t>Test and present</a:t>
            </a:r>
            <a:endParaRPr lang="en-US" sz="1800" dirty="0"/>
          </a:p>
        </p:txBody>
      </p:sp>
      <p:sp>
        <p:nvSpPr>
          <p:cNvPr id="32" name="Test and present status"/>
          <p:cNvSpPr/>
          <p:nvPr/>
        </p:nvSpPr>
        <p:spPr>
          <a:xfrm>
            <a:off x="9674352" y="2971800"/>
            <a:ext cx="1463040" cy="329184"/>
          </a:xfrm>
          <a:prstGeom prst="roundRect">
            <a:avLst>
              <a:gd name="adj" fmla="val 50000"/>
            </a:avLst>
          </a:prstGeom>
          <a:solidFill>
            <a:schemeClr val="accent2"/>
          </a:solidFill>
          <a:ln w="6350">
            <a:solidFill>
              <a:schemeClr val="accent2"/>
            </a:solidFill>
            <a:prstDash val="solid"/>
          </a:ln>
        </p:spPr>
      </p:sp>
      <p:sp>
        <p:nvSpPr>
          <p:cNvPr id="33" name="Text 30"/>
          <p:cNvSpPr txBox="1"/>
          <p:nvPr/>
        </p:nvSpPr>
        <p:spPr>
          <a:xfrm>
            <a:off x="9674352" y="2971800"/>
            <a:ext cx="1463040" cy="329184"/>
          </a:xfrm>
          <a:prstGeom prst="rect">
            <a:avLst/>
          </a:prstGeom>
          <a:noFill/>
          <a:ln/>
        </p:spPr>
        <p:txBody>
          <a:bodyPr wrap="square" lIns="0" tIns="0" rIns="0" bIns="0" rtlCol="0" anchor="ctr"/>
          <a:lstStyle/>
          <a:p>
            <a:pPr algn="ctr" indent="0" marL="0">
              <a:buNone/>
            </a:pPr>
            <a:r>
              <a:rPr lang="en-US" sz="1200" b="1" dirty="0">
                <a:solidFill>
                  <a:schemeClr val="bg1"/>
                </a:solidFill>
              </a:rPr>
              <a:t>Started</a:t>
            </a:r>
            <a:endParaRPr lang="en-US" sz="1200" dirty="0"/>
          </a:p>
        </p:txBody>
      </p:sp>
      <p:sp>
        <p:nvSpPr>
          <p:cNvPr id="34" name="Text 31"/>
          <p:cNvSpPr txBox="1"/>
          <p:nvPr/>
        </p:nvSpPr>
        <p:spPr>
          <a:xfrm>
            <a:off x="9674352" y="3474720"/>
            <a:ext cx="1783080" cy="1371600"/>
          </a:xfrm>
          <a:prstGeom prst="rect">
            <a:avLst/>
          </a:prstGeom>
          <a:noFill/>
          <a:ln/>
        </p:spPr>
        <p:txBody>
          <a:bodyPr wrap="square" lIns="0" tIns="0" rIns="0" bIns="0" rtlCol="0" anchor="t"/>
          <a:lstStyle/>
          <a:p>
            <a:pPr indent="0" marL="0">
              <a:buNone/>
            </a:pPr>
            <a:r>
              <a:rPr lang="en-US" sz="1300" dirty="0">
                <a:solidFill>
                  <a:schemeClr val="tx2"/>
                </a:solidFill>
              </a:rPr>
              <a:t>Backtest and automated tests</a:t>
            </a:r>
            <a:endParaRPr lang="en-US" sz="1300" dirty="0"/>
          </a:p>
        </p:txBody>
      </p:sp>
      <p:sp>
        <p:nvSpPr>
          <p:cNvPr id="35" name="Text 32"/>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800" b="1" dirty="0">
                <a:solidFill>
                  <a:schemeClr val="accent1"/>
                </a:solidFill>
              </a:rPr>
              <a:t>Ahead on the build. Behind on real small-business data: that is the focus for November.</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BEING HONEST</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Risks and open items</a:t>
            </a:r>
            <a:endParaRPr lang="en-US" sz="3400" dirty="0"/>
          </a:p>
        </p:txBody>
      </p:sp>
      <p:sp>
        <p:nvSpPr>
          <p:cNvPr id="5" name="Text 2"/>
          <p:cNvSpPr txBox="1"/>
          <p:nvPr/>
        </p:nvSpPr>
        <p:spPr>
          <a:xfrm>
            <a:off x="548640" y="1645920"/>
            <a:ext cx="274320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RISK</a:t>
            </a:r>
            <a:endParaRPr lang="en-US" sz="1100" dirty="0"/>
          </a:p>
        </p:txBody>
      </p:sp>
      <p:sp>
        <p:nvSpPr>
          <p:cNvPr id="6" name="Text 3"/>
          <p:cNvSpPr txBox="1"/>
          <p:nvPr/>
        </p:nvSpPr>
        <p:spPr>
          <a:xfrm>
            <a:off x="3566160" y="1645920"/>
            <a:ext cx="457200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a:t>
            </a:r>
            <a:endParaRPr lang="en-US" sz="1100" dirty="0"/>
          </a:p>
        </p:txBody>
      </p:sp>
      <p:sp>
        <p:nvSpPr>
          <p:cNvPr id="7" name="Text 4"/>
          <p:cNvSpPr txBox="1"/>
          <p:nvPr/>
        </p:nvSpPr>
        <p:spPr>
          <a:xfrm>
            <a:off x="8686800" y="1645920"/>
            <a:ext cx="274320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OUR RESPONSE</a:t>
            </a:r>
            <a:endParaRPr lang="en-US" sz="1100" dirty="0"/>
          </a:p>
        </p:txBody>
      </p:sp>
      <p:sp>
        <p:nvSpPr>
          <p:cNvPr id="8" name="Risk row 1"/>
          <p:cNvSpPr/>
          <p:nvPr/>
        </p:nvSpPr>
        <p:spPr>
          <a:xfrm>
            <a:off x="548640" y="2011680"/>
            <a:ext cx="11109960" cy="914400"/>
          </a:xfrm>
          <a:prstGeom prst="roundRect">
            <a:avLst>
              <a:gd name="adj" fmla="val 12000"/>
            </a:avLst>
          </a:prstGeom>
          <a:solidFill>
            <a:schemeClr val="bg2"/>
          </a:solidFill>
          <a:ln w="6350">
            <a:solidFill>
              <a:schemeClr val="bg2"/>
            </a:solidFill>
            <a:prstDash val="solid"/>
          </a:ln>
        </p:spPr>
      </p:sp>
      <p:sp>
        <p:nvSpPr>
          <p:cNvPr id="9" name="Text 6"/>
          <p:cNvSpPr txBox="1"/>
          <p:nvPr/>
        </p:nvSpPr>
        <p:spPr>
          <a:xfrm>
            <a:off x="731520" y="2011680"/>
            <a:ext cx="2651760" cy="914400"/>
          </a:xfrm>
          <a:prstGeom prst="rect">
            <a:avLst/>
          </a:prstGeom>
          <a:noFill/>
          <a:ln/>
        </p:spPr>
        <p:txBody>
          <a:bodyPr wrap="square" lIns="0" tIns="0" rIns="0" bIns="0" rtlCol="0" anchor="ctr"/>
          <a:lstStyle/>
          <a:p>
            <a:pPr indent="0" marL="0">
              <a:buNone/>
            </a:pPr>
            <a:r>
              <a:rPr lang="en-US" sz="1500" b="1" dirty="0">
                <a:solidFill>
                  <a:schemeClr val="tx1"/>
                </a:solidFill>
              </a:rPr>
              <a:t>Backend not proven live</a:t>
            </a:r>
            <a:endParaRPr lang="en-US" sz="1500" dirty="0"/>
          </a:p>
        </p:txBody>
      </p:sp>
      <p:sp>
        <p:nvSpPr>
          <p:cNvPr id="10" name="Text 7"/>
          <p:cNvSpPr txBox="1"/>
          <p:nvPr/>
        </p:nvSpPr>
        <p:spPr>
          <a:xfrm>
            <a:off x="3566160" y="2011680"/>
            <a:ext cx="4937760" cy="914400"/>
          </a:xfrm>
          <a:prstGeom prst="rect">
            <a:avLst/>
          </a:prstGeom>
          <a:noFill/>
          <a:ln/>
        </p:spPr>
        <p:txBody>
          <a:bodyPr wrap="square" lIns="0" tIns="0" rIns="0" bIns="0" rtlCol="0" anchor="ctr"/>
          <a:lstStyle/>
          <a:p>
            <a:pPr indent="0" marL="0">
              <a:buNone/>
            </a:pPr>
            <a:r>
              <a:rPr lang="en-US" sz="1300" dirty="0">
                <a:solidFill>
                  <a:schemeClr val="tx2"/>
                </a:solidFill>
              </a:rPr>
              <a:t>The edge function and the new database table are written but not yet deployed to our Supabase project. The app falls back to the browser.</a:t>
            </a:r>
            <a:endParaRPr lang="en-US" sz="1300" dirty="0"/>
          </a:p>
        </p:txBody>
      </p:sp>
      <p:sp>
        <p:nvSpPr>
          <p:cNvPr id="11" name="Text 8"/>
          <p:cNvSpPr txBox="1"/>
          <p:nvPr/>
        </p:nvSpPr>
        <p:spPr>
          <a:xfrm>
            <a:off x="8686800" y="2011680"/>
            <a:ext cx="2834640" cy="914400"/>
          </a:xfrm>
          <a:prstGeom prst="rect">
            <a:avLst/>
          </a:prstGeom>
          <a:noFill/>
          <a:ln/>
        </p:spPr>
        <p:txBody>
          <a:bodyPr wrap="square" lIns="0" tIns="0" rIns="0" bIns="0" rtlCol="0" anchor="ctr"/>
          <a:lstStyle/>
          <a:p>
            <a:pPr indent="0" marL="0">
              <a:buNone/>
            </a:pPr>
            <a:r>
              <a:rPr lang="en-US" sz="1300" b="1" dirty="0">
                <a:solidFill>
                  <a:schemeClr val="accent1"/>
                </a:solidFill>
              </a:rPr>
              <a:t>Deploy to a test project and run end to end</a:t>
            </a:r>
            <a:endParaRPr lang="en-US" sz="1300" dirty="0"/>
          </a:p>
        </p:txBody>
      </p:sp>
      <p:sp>
        <p:nvSpPr>
          <p:cNvPr id="12" name="Risk row 2"/>
          <p:cNvSpPr/>
          <p:nvPr/>
        </p:nvSpPr>
        <p:spPr>
          <a:xfrm>
            <a:off x="548640" y="3035808"/>
            <a:ext cx="11109960" cy="914400"/>
          </a:xfrm>
          <a:prstGeom prst="roundRect">
            <a:avLst>
              <a:gd name="adj" fmla="val 12000"/>
            </a:avLst>
          </a:prstGeom>
          <a:solidFill>
            <a:schemeClr val="bg2"/>
          </a:solidFill>
          <a:ln w="6350">
            <a:solidFill>
              <a:schemeClr val="bg2"/>
            </a:solidFill>
            <a:prstDash val="solid"/>
          </a:ln>
        </p:spPr>
      </p:sp>
      <p:sp>
        <p:nvSpPr>
          <p:cNvPr id="13" name="Text 10"/>
          <p:cNvSpPr txBox="1"/>
          <p:nvPr/>
        </p:nvSpPr>
        <p:spPr>
          <a:xfrm>
            <a:off x="731520" y="3035808"/>
            <a:ext cx="2651760" cy="914400"/>
          </a:xfrm>
          <a:prstGeom prst="rect">
            <a:avLst/>
          </a:prstGeom>
          <a:noFill/>
          <a:ln/>
        </p:spPr>
        <p:txBody>
          <a:bodyPr wrap="square" lIns="0" tIns="0" rIns="0" bIns="0" rtlCol="0" anchor="ctr"/>
          <a:lstStyle/>
          <a:p>
            <a:pPr indent="0" marL="0">
              <a:buNone/>
            </a:pPr>
            <a:r>
              <a:rPr lang="en-US" sz="1500" b="1" dirty="0">
                <a:solidFill>
                  <a:schemeClr val="tx1"/>
                </a:solidFill>
              </a:rPr>
              <a:t>No real small-business data yet</a:t>
            </a:r>
            <a:endParaRPr lang="en-US" sz="1500" dirty="0"/>
          </a:p>
        </p:txBody>
      </p:sp>
      <p:sp>
        <p:nvSpPr>
          <p:cNvPr id="14" name="Text 11"/>
          <p:cNvSpPr txBox="1"/>
          <p:nvPr/>
        </p:nvSpPr>
        <p:spPr>
          <a:xfrm>
            <a:off x="3566160" y="3035808"/>
            <a:ext cx="4937760" cy="914400"/>
          </a:xfrm>
          <a:prstGeom prst="rect">
            <a:avLst/>
          </a:prstGeom>
          <a:noFill/>
          <a:ln/>
        </p:spPr>
        <p:txBody>
          <a:bodyPr wrap="square" lIns="0" tIns="0" rIns="0" bIns="0" rtlCol="0" anchor="ctr"/>
          <a:lstStyle/>
          <a:p>
            <a:pPr indent="0" marL="0">
              <a:buNone/>
            </a:pPr>
            <a:r>
              <a:rPr lang="en-US" sz="1300" dirty="0">
                <a:solidFill>
                  <a:schemeClr val="tx2"/>
                </a:solidFill>
              </a:rPr>
              <a:t>The model has only been trained and tested on public national data.</a:t>
            </a:r>
            <a:endParaRPr lang="en-US" sz="1300" dirty="0"/>
          </a:p>
        </p:txBody>
      </p:sp>
      <p:sp>
        <p:nvSpPr>
          <p:cNvPr id="15" name="Text 12"/>
          <p:cNvSpPr txBox="1"/>
          <p:nvPr/>
        </p:nvSpPr>
        <p:spPr>
          <a:xfrm>
            <a:off x="8686800" y="3035808"/>
            <a:ext cx="2834640" cy="914400"/>
          </a:xfrm>
          <a:prstGeom prst="rect">
            <a:avLst/>
          </a:prstGeom>
          <a:noFill/>
          <a:ln/>
        </p:spPr>
        <p:txBody>
          <a:bodyPr wrap="square" lIns="0" tIns="0" rIns="0" bIns="0" rtlCol="0" anchor="ctr"/>
          <a:lstStyle/>
          <a:p>
            <a:pPr indent="0" marL="0">
              <a:buNone/>
            </a:pPr>
            <a:r>
              <a:rPr lang="en-US" sz="1300" b="1" dirty="0">
                <a:solidFill>
                  <a:schemeClr val="accent1"/>
                </a:solidFill>
              </a:rPr>
              <a:t>Collect and clean real client data in November</a:t>
            </a:r>
            <a:endParaRPr lang="en-US" sz="1300" dirty="0"/>
          </a:p>
        </p:txBody>
      </p:sp>
      <p:sp>
        <p:nvSpPr>
          <p:cNvPr id="16" name="Risk row 3"/>
          <p:cNvSpPr/>
          <p:nvPr/>
        </p:nvSpPr>
        <p:spPr>
          <a:xfrm>
            <a:off x="548640" y="4059936"/>
            <a:ext cx="11109960" cy="914400"/>
          </a:xfrm>
          <a:prstGeom prst="roundRect">
            <a:avLst>
              <a:gd name="adj" fmla="val 12000"/>
            </a:avLst>
          </a:prstGeom>
          <a:solidFill>
            <a:schemeClr val="bg2"/>
          </a:solidFill>
          <a:ln w="6350">
            <a:solidFill>
              <a:schemeClr val="bg2"/>
            </a:solidFill>
            <a:prstDash val="solid"/>
          </a:ln>
        </p:spPr>
      </p:sp>
      <p:sp>
        <p:nvSpPr>
          <p:cNvPr id="17" name="Text 14"/>
          <p:cNvSpPr txBox="1"/>
          <p:nvPr/>
        </p:nvSpPr>
        <p:spPr>
          <a:xfrm>
            <a:off x="731520" y="4059936"/>
            <a:ext cx="2651760" cy="914400"/>
          </a:xfrm>
          <a:prstGeom prst="rect">
            <a:avLst/>
          </a:prstGeom>
          <a:noFill/>
          <a:ln/>
        </p:spPr>
        <p:txBody>
          <a:bodyPr wrap="square" lIns="0" tIns="0" rIns="0" bIns="0" rtlCol="0" anchor="ctr"/>
          <a:lstStyle/>
          <a:p>
            <a:pPr indent="0" marL="0">
              <a:buNone/>
            </a:pPr>
            <a:r>
              <a:rPr lang="en-US" sz="1500" b="1" dirty="0">
                <a:solidFill>
                  <a:schemeClr val="tx1"/>
                </a:solidFill>
              </a:rPr>
              <a:t>Short history is weaker</a:t>
            </a:r>
            <a:endParaRPr lang="en-US" sz="1500" dirty="0"/>
          </a:p>
        </p:txBody>
      </p:sp>
      <p:sp>
        <p:nvSpPr>
          <p:cNvPr id="18" name="Text 15"/>
          <p:cNvSpPr txBox="1"/>
          <p:nvPr/>
        </p:nvSpPr>
        <p:spPr>
          <a:xfrm>
            <a:off x="3566160" y="4059936"/>
            <a:ext cx="4937760" cy="914400"/>
          </a:xfrm>
          <a:prstGeom prst="rect">
            <a:avLst/>
          </a:prstGeom>
          <a:noFill/>
          <a:ln/>
        </p:spPr>
        <p:txBody>
          <a:bodyPr wrap="square" lIns="0" tIns="0" rIns="0" bIns="0" rtlCol="0" anchor="ctr"/>
          <a:lstStyle/>
          <a:p>
            <a:pPr indent="0" marL="0">
              <a:buNone/>
            </a:pPr>
            <a:r>
              <a:rPr lang="en-US" sz="1300" dirty="0">
                <a:solidFill>
                  <a:schemeClr val="tx2"/>
                </a:solidFill>
              </a:rPr>
              <a:t>With 18 months, ranges held the truth only about 60 to 65% of the time on some series.</a:t>
            </a:r>
            <a:endParaRPr lang="en-US" sz="1300" dirty="0"/>
          </a:p>
        </p:txBody>
      </p:sp>
      <p:sp>
        <p:nvSpPr>
          <p:cNvPr id="19" name="Text 16"/>
          <p:cNvSpPr txBox="1"/>
          <p:nvPr/>
        </p:nvSpPr>
        <p:spPr>
          <a:xfrm>
            <a:off x="8686800" y="4059936"/>
            <a:ext cx="2834640" cy="914400"/>
          </a:xfrm>
          <a:prstGeom prst="rect">
            <a:avLst/>
          </a:prstGeom>
          <a:noFill/>
          <a:ln/>
        </p:spPr>
        <p:txBody>
          <a:bodyPr wrap="square" lIns="0" tIns="0" rIns="0" bIns="0" rtlCol="0" anchor="ctr"/>
          <a:lstStyle/>
          <a:p>
            <a:pPr indent="0" marL="0">
              <a:buNone/>
            </a:pPr>
            <a:r>
              <a:rPr lang="en-US" sz="1300" b="1" dirty="0">
                <a:solidFill>
                  <a:schemeClr val="accent1"/>
                </a:solidFill>
              </a:rPr>
              <a:t>Ask for 24+ months and widen ranges for short history</a:t>
            </a:r>
            <a:endParaRPr lang="en-US" sz="1300" dirty="0"/>
          </a:p>
        </p:txBody>
      </p:sp>
      <p:sp>
        <p:nvSpPr>
          <p:cNvPr id="20" name="Risk row 4"/>
          <p:cNvSpPr/>
          <p:nvPr/>
        </p:nvSpPr>
        <p:spPr>
          <a:xfrm>
            <a:off x="548640" y="5084064"/>
            <a:ext cx="11109960" cy="914400"/>
          </a:xfrm>
          <a:prstGeom prst="roundRect">
            <a:avLst>
              <a:gd name="adj" fmla="val 12000"/>
            </a:avLst>
          </a:prstGeom>
          <a:solidFill>
            <a:schemeClr val="bg2"/>
          </a:solidFill>
          <a:ln w="6350">
            <a:solidFill>
              <a:schemeClr val="bg2"/>
            </a:solidFill>
            <a:prstDash val="solid"/>
          </a:ln>
        </p:spPr>
      </p:sp>
      <p:sp>
        <p:nvSpPr>
          <p:cNvPr id="21" name="Text 18"/>
          <p:cNvSpPr txBox="1"/>
          <p:nvPr/>
        </p:nvSpPr>
        <p:spPr>
          <a:xfrm>
            <a:off x="731520" y="5084064"/>
            <a:ext cx="2651760" cy="914400"/>
          </a:xfrm>
          <a:prstGeom prst="rect">
            <a:avLst/>
          </a:prstGeom>
          <a:noFill/>
          <a:ln/>
        </p:spPr>
        <p:txBody>
          <a:bodyPr wrap="square" lIns="0" tIns="0" rIns="0" bIns="0" rtlCol="0" anchor="ctr"/>
          <a:lstStyle/>
          <a:p>
            <a:pPr indent="0" marL="0">
              <a:buNone/>
            </a:pPr>
            <a:r>
              <a:rPr lang="en-US" sz="1500" b="1" dirty="0">
                <a:solidFill>
                  <a:schemeClr val="tx1"/>
                </a:solidFill>
              </a:rPr>
              <a:t>Engine needs a second reader</a:t>
            </a:r>
            <a:endParaRPr lang="en-US" sz="1500" dirty="0"/>
          </a:p>
        </p:txBody>
      </p:sp>
      <p:sp>
        <p:nvSpPr>
          <p:cNvPr id="22" name="Text 19"/>
          <p:cNvSpPr txBox="1"/>
          <p:nvPr/>
        </p:nvSpPr>
        <p:spPr>
          <a:xfrm>
            <a:off x="3566160" y="5084064"/>
            <a:ext cx="4937760" cy="914400"/>
          </a:xfrm>
          <a:prstGeom prst="rect">
            <a:avLst/>
          </a:prstGeom>
          <a:noFill/>
          <a:ln/>
        </p:spPr>
        <p:txBody>
          <a:bodyPr wrap="square" lIns="0" tIns="0" rIns="0" bIns="0" rtlCol="0" anchor="ctr"/>
          <a:lstStyle/>
          <a:p>
            <a:pPr indent="0" marL="0">
              <a:buNone/>
            </a:pPr>
            <a:r>
              <a:rPr lang="en-US" sz="1300" dirty="0">
                <a:solidFill>
                  <a:schemeClr val="tx2"/>
                </a:solidFill>
              </a:rPr>
              <a:t>About 5,000 lines of forecasting and valuation maths were written fast.</a:t>
            </a:r>
            <a:endParaRPr lang="en-US" sz="1300" dirty="0"/>
          </a:p>
        </p:txBody>
      </p:sp>
      <p:sp>
        <p:nvSpPr>
          <p:cNvPr id="23" name="Text 20"/>
          <p:cNvSpPr txBox="1"/>
          <p:nvPr/>
        </p:nvSpPr>
        <p:spPr>
          <a:xfrm>
            <a:off x="8686800" y="5084064"/>
            <a:ext cx="2834640" cy="914400"/>
          </a:xfrm>
          <a:prstGeom prst="rect">
            <a:avLst/>
          </a:prstGeom>
          <a:noFill/>
          <a:ln/>
        </p:spPr>
        <p:txBody>
          <a:bodyPr wrap="square" lIns="0" tIns="0" rIns="0" bIns="0" rtlCol="0" anchor="ctr"/>
          <a:lstStyle/>
          <a:p>
            <a:pPr indent="0" marL="0">
              <a:buNone/>
            </a:pPr>
            <a:r>
              <a:rPr lang="en-US" sz="1300" b="1" dirty="0">
                <a:solidFill>
                  <a:schemeClr val="accent1"/>
                </a:solidFill>
              </a:rPr>
              <a:t>A teammate reviews it and checks against hand calculations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NEXT SPRINT</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What we want to do next</a:t>
            </a:r>
            <a:endParaRPr lang="en-US" sz="3400" dirty="0"/>
          </a:p>
        </p:txBody>
      </p:sp>
      <p:sp>
        <p:nvSpPr>
          <p:cNvPr id="5" name="Next item 1"/>
          <p:cNvSpPr/>
          <p:nvPr/>
        </p:nvSpPr>
        <p:spPr>
          <a:xfrm>
            <a:off x="548640" y="1691640"/>
            <a:ext cx="11109960" cy="749808"/>
          </a:xfrm>
          <a:prstGeom prst="roundRect">
            <a:avLst>
              <a:gd name="adj" fmla="val 14634"/>
            </a:avLst>
          </a:prstGeom>
          <a:solidFill>
            <a:schemeClr val="bg2"/>
          </a:solidFill>
          <a:ln w="6350">
            <a:solidFill>
              <a:schemeClr val="bg2"/>
            </a:solidFill>
            <a:prstDash val="solid"/>
          </a:ln>
        </p:spPr>
      </p:sp>
      <p:sp>
        <p:nvSpPr>
          <p:cNvPr id="6" name="Next badge 1"/>
          <p:cNvSpPr/>
          <p:nvPr/>
        </p:nvSpPr>
        <p:spPr>
          <a:xfrm>
            <a:off x="777240" y="1828800"/>
            <a:ext cx="475488" cy="475488"/>
          </a:xfrm>
          <a:prstGeom prst="ellipse">
            <a:avLst/>
          </a:prstGeom>
          <a:solidFill>
            <a:schemeClr val="accent1"/>
          </a:solidFill>
          <a:ln w="6350">
            <a:solidFill>
              <a:schemeClr val="accent1"/>
            </a:solidFill>
            <a:prstDash val="solid"/>
          </a:ln>
        </p:spPr>
      </p:sp>
      <p:sp>
        <p:nvSpPr>
          <p:cNvPr id="7" name="Text 4"/>
          <p:cNvSpPr txBox="1"/>
          <p:nvPr/>
        </p:nvSpPr>
        <p:spPr>
          <a:xfrm>
            <a:off x="777240" y="182880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508760" y="1691640"/>
            <a:ext cx="3566160" cy="749808"/>
          </a:xfrm>
          <a:prstGeom prst="rect">
            <a:avLst/>
          </a:prstGeom>
          <a:noFill/>
          <a:ln/>
        </p:spPr>
        <p:txBody>
          <a:bodyPr wrap="square" lIns="0" tIns="0" rIns="0" bIns="0" rtlCol="0" anchor="ctr"/>
          <a:lstStyle/>
          <a:p>
            <a:pPr indent="0" marL="0">
              <a:buNone/>
            </a:pPr>
            <a:r>
              <a:rPr lang="en-US" sz="1600" b="1" dirty="0">
                <a:solidFill>
                  <a:schemeClr val="tx1"/>
                </a:solidFill>
              </a:rPr>
              <a:t>Deploy and test the backend</a:t>
            </a:r>
            <a:endParaRPr lang="en-US" sz="1600" dirty="0"/>
          </a:p>
        </p:txBody>
      </p:sp>
      <p:sp>
        <p:nvSpPr>
          <p:cNvPr id="9" name="Text 6"/>
          <p:cNvSpPr txBox="1"/>
          <p:nvPr/>
        </p:nvSpPr>
        <p:spPr>
          <a:xfrm>
            <a:off x="5120640" y="1691640"/>
            <a:ext cx="4937760" cy="749808"/>
          </a:xfrm>
          <a:prstGeom prst="rect">
            <a:avLst/>
          </a:prstGeom>
          <a:noFill/>
          <a:ln/>
        </p:spPr>
        <p:txBody>
          <a:bodyPr wrap="square" lIns="0" tIns="0" rIns="0" bIns="0" rtlCol="0" anchor="ctr"/>
          <a:lstStyle/>
          <a:p>
            <a:pPr indent="0" marL="0">
              <a:buNone/>
            </a:pPr>
            <a:r>
              <a:rPr lang="en-US" sz="1300" dirty="0">
                <a:solidFill>
                  <a:schemeClr val="tx2"/>
                </a:solidFill>
              </a:rPr>
              <a:t>Run the edge function and database on Supabase, end to end</a:t>
            </a:r>
            <a:endParaRPr lang="en-US" sz="1300" dirty="0"/>
          </a:p>
        </p:txBody>
      </p:sp>
      <p:sp>
        <p:nvSpPr>
          <p:cNvPr id="10" name="Text 7"/>
          <p:cNvSpPr txBox="1"/>
          <p:nvPr/>
        </p:nvSpPr>
        <p:spPr>
          <a:xfrm>
            <a:off x="10149840" y="1691640"/>
            <a:ext cx="1371600" cy="749808"/>
          </a:xfrm>
          <a:prstGeom prst="rect">
            <a:avLst/>
          </a:prstGeom>
          <a:noFill/>
          <a:ln/>
        </p:spPr>
        <p:txBody>
          <a:bodyPr wrap="square" lIns="0" tIns="0" rIns="0" bIns="0" rtlCol="0" anchor="ctr"/>
          <a:lstStyle/>
          <a:p>
            <a:pPr algn="r" indent="0" marL="0">
              <a:buNone/>
            </a:pPr>
            <a:r>
              <a:rPr lang="en-US" sz="1400" b="1" dirty="0">
                <a:solidFill>
                  <a:schemeClr val="accent1"/>
                </a:solidFill>
              </a:rPr>
              <a:t>Ethan</a:t>
            </a:r>
            <a:endParaRPr lang="en-US" sz="1400" dirty="0"/>
          </a:p>
        </p:txBody>
      </p:sp>
      <p:sp>
        <p:nvSpPr>
          <p:cNvPr id="11" name="Next item 2"/>
          <p:cNvSpPr/>
          <p:nvPr/>
        </p:nvSpPr>
        <p:spPr>
          <a:xfrm>
            <a:off x="548640" y="2560320"/>
            <a:ext cx="11109960" cy="749808"/>
          </a:xfrm>
          <a:prstGeom prst="roundRect">
            <a:avLst>
              <a:gd name="adj" fmla="val 14634"/>
            </a:avLst>
          </a:prstGeom>
          <a:solidFill>
            <a:schemeClr val="bg2"/>
          </a:solidFill>
          <a:ln w="6350">
            <a:solidFill>
              <a:schemeClr val="bg2"/>
            </a:solidFill>
            <a:prstDash val="solid"/>
          </a:ln>
        </p:spPr>
      </p:sp>
      <p:sp>
        <p:nvSpPr>
          <p:cNvPr id="12" name="Next badge 2"/>
          <p:cNvSpPr/>
          <p:nvPr/>
        </p:nvSpPr>
        <p:spPr>
          <a:xfrm>
            <a:off x="777240" y="2697480"/>
            <a:ext cx="475488" cy="475488"/>
          </a:xfrm>
          <a:prstGeom prst="ellipse">
            <a:avLst/>
          </a:prstGeom>
          <a:solidFill>
            <a:schemeClr val="accent1"/>
          </a:solidFill>
          <a:ln w="6350">
            <a:solidFill>
              <a:schemeClr val="accent1"/>
            </a:solidFill>
            <a:prstDash val="solid"/>
          </a:ln>
        </p:spPr>
      </p:sp>
      <p:sp>
        <p:nvSpPr>
          <p:cNvPr id="13" name="Text 10"/>
          <p:cNvSpPr txBox="1"/>
          <p:nvPr/>
        </p:nvSpPr>
        <p:spPr>
          <a:xfrm>
            <a:off x="777240" y="269748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1508760" y="2560320"/>
            <a:ext cx="3566160" cy="749808"/>
          </a:xfrm>
          <a:prstGeom prst="rect">
            <a:avLst/>
          </a:prstGeom>
          <a:noFill/>
          <a:ln/>
        </p:spPr>
        <p:txBody>
          <a:bodyPr wrap="square" lIns="0" tIns="0" rIns="0" bIns="0" rtlCol="0" anchor="ctr"/>
          <a:lstStyle/>
          <a:p>
            <a:pPr indent="0" marL="0">
              <a:buNone/>
            </a:pPr>
            <a:r>
              <a:rPr lang="en-US" sz="1600" b="1" dirty="0">
                <a:solidFill>
                  <a:schemeClr val="tx1"/>
                </a:solidFill>
              </a:rPr>
              <a:t>Collect and clean real data</a:t>
            </a:r>
            <a:endParaRPr lang="en-US" sz="1600" dirty="0"/>
          </a:p>
        </p:txBody>
      </p:sp>
      <p:sp>
        <p:nvSpPr>
          <p:cNvPr id="15" name="Text 12"/>
          <p:cNvSpPr txBox="1"/>
          <p:nvPr/>
        </p:nvSpPr>
        <p:spPr>
          <a:xfrm>
            <a:off x="5120640" y="2560320"/>
            <a:ext cx="4937760" cy="749808"/>
          </a:xfrm>
          <a:prstGeom prst="rect">
            <a:avLst/>
          </a:prstGeom>
          <a:noFill/>
          <a:ln/>
        </p:spPr>
        <p:txBody>
          <a:bodyPr wrap="square" lIns="0" tIns="0" rIns="0" bIns="0" rtlCol="0" anchor="ctr"/>
          <a:lstStyle/>
          <a:p>
            <a:pPr indent="0" marL="0">
              <a:buNone/>
            </a:pPr>
            <a:r>
              <a:rPr lang="en-US" sz="1300" dirty="0">
                <a:solidFill>
                  <a:schemeClr val="tx2"/>
                </a:solidFill>
              </a:rPr>
              <a:t>Real small-business sales to test and tune the model</a:t>
            </a:r>
            <a:endParaRPr lang="en-US" sz="1300" dirty="0"/>
          </a:p>
        </p:txBody>
      </p:sp>
      <p:sp>
        <p:nvSpPr>
          <p:cNvPr id="16" name="Text 13"/>
          <p:cNvSpPr txBox="1"/>
          <p:nvPr/>
        </p:nvSpPr>
        <p:spPr>
          <a:xfrm>
            <a:off x="10149840" y="2560320"/>
            <a:ext cx="1371600" cy="749808"/>
          </a:xfrm>
          <a:prstGeom prst="rect">
            <a:avLst/>
          </a:prstGeom>
          <a:noFill/>
          <a:ln/>
        </p:spPr>
        <p:txBody>
          <a:bodyPr wrap="square" lIns="0" tIns="0" rIns="0" bIns="0" rtlCol="0" anchor="ctr"/>
          <a:lstStyle/>
          <a:p>
            <a:pPr algn="r" indent="0" marL="0">
              <a:buNone/>
            </a:pPr>
            <a:r>
              <a:rPr lang="en-US" sz="1400" b="1" dirty="0">
                <a:solidFill>
                  <a:schemeClr val="accent1"/>
                </a:solidFill>
              </a:rPr>
              <a:t>Kaiyaan</a:t>
            </a:r>
            <a:endParaRPr lang="en-US" sz="1400" dirty="0"/>
          </a:p>
        </p:txBody>
      </p:sp>
      <p:sp>
        <p:nvSpPr>
          <p:cNvPr id="17" name="Next item 3"/>
          <p:cNvSpPr/>
          <p:nvPr/>
        </p:nvSpPr>
        <p:spPr>
          <a:xfrm>
            <a:off x="548640" y="3429000"/>
            <a:ext cx="11109960" cy="749808"/>
          </a:xfrm>
          <a:prstGeom prst="roundRect">
            <a:avLst>
              <a:gd name="adj" fmla="val 14634"/>
            </a:avLst>
          </a:prstGeom>
          <a:solidFill>
            <a:schemeClr val="bg2"/>
          </a:solidFill>
          <a:ln w="6350">
            <a:solidFill>
              <a:schemeClr val="bg2"/>
            </a:solidFill>
            <a:prstDash val="solid"/>
          </a:ln>
        </p:spPr>
      </p:sp>
      <p:sp>
        <p:nvSpPr>
          <p:cNvPr id="18" name="Next badge 3"/>
          <p:cNvSpPr/>
          <p:nvPr/>
        </p:nvSpPr>
        <p:spPr>
          <a:xfrm>
            <a:off x="777240" y="3566160"/>
            <a:ext cx="475488" cy="475488"/>
          </a:xfrm>
          <a:prstGeom prst="ellipse">
            <a:avLst/>
          </a:prstGeom>
          <a:solidFill>
            <a:schemeClr val="accent1"/>
          </a:solidFill>
          <a:ln w="6350">
            <a:solidFill>
              <a:schemeClr val="accent1"/>
            </a:solidFill>
            <a:prstDash val="solid"/>
          </a:ln>
        </p:spPr>
      </p:sp>
      <p:sp>
        <p:nvSpPr>
          <p:cNvPr id="19" name="Text 16"/>
          <p:cNvSpPr txBox="1"/>
          <p:nvPr/>
        </p:nvSpPr>
        <p:spPr>
          <a:xfrm>
            <a:off x="777240" y="35661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7"/>
          <p:cNvSpPr txBox="1"/>
          <p:nvPr/>
        </p:nvSpPr>
        <p:spPr>
          <a:xfrm>
            <a:off x="1508760" y="3429000"/>
            <a:ext cx="3566160" cy="749808"/>
          </a:xfrm>
          <a:prstGeom prst="rect">
            <a:avLst/>
          </a:prstGeom>
          <a:noFill/>
          <a:ln/>
        </p:spPr>
        <p:txBody>
          <a:bodyPr wrap="square" lIns="0" tIns="0" rIns="0" bIns="0" rtlCol="0" anchor="ctr"/>
          <a:lstStyle/>
          <a:p>
            <a:pPr indent="0" marL="0">
              <a:buNone/>
            </a:pPr>
            <a:r>
              <a:rPr lang="en-US" sz="1600" b="1" dirty="0">
                <a:solidFill>
                  <a:schemeClr val="tx1"/>
                </a:solidFill>
              </a:rPr>
              <a:t>Validate and tune the model</a:t>
            </a:r>
            <a:endParaRPr lang="en-US" sz="1600" dirty="0"/>
          </a:p>
        </p:txBody>
      </p:sp>
      <p:sp>
        <p:nvSpPr>
          <p:cNvPr id="21" name="Text 18"/>
          <p:cNvSpPr txBox="1"/>
          <p:nvPr/>
        </p:nvSpPr>
        <p:spPr>
          <a:xfrm>
            <a:off x="5120640" y="3429000"/>
            <a:ext cx="4937760" cy="749808"/>
          </a:xfrm>
          <a:prstGeom prst="rect">
            <a:avLst/>
          </a:prstGeom>
          <a:noFill/>
          <a:ln/>
        </p:spPr>
        <p:txBody>
          <a:bodyPr wrap="square" lIns="0" tIns="0" rIns="0" bIns="0" rtlCol="0" anchor="ctr"/>
          <a:lstStyle/>
          <a:p>
            <a:pPr indent="0" marL="0">
              <a:buNone/>
            </a:pPr>
            <a:r>
              <a:rPr lang="en-US" sz="1300" dirty="0">
                <a:solidFill>
                  <a:schemeClr val="tx2"/>
                </a:solidFill>
              </a:rPr>
              <a:t>Score it on that data; fix ranges for short history</a:t>
            </a:r>
            <a:endParaRPr lang="en-US" sz="1300" dirty="0"/>
          </a:p>
        </p:txBody>
      </p:sp>
      <p:sp>
        <p:nvSpPr>
          <p:cNvPr id="22" name="Text 19"/>
          <p:cNvSpPr txBox="1"/>
          <p:nvPr/>
        </p:nvSpPr>
        <p:spPr>
          <a:xfrm>
            <a:off x="10149840" y="3429000"/>
            <a:ext cx="1371600" cy="749808"/>
          </a:xfrm>
          <a:prstGeom prst="rect">
            <a:avLst/>
          </a:prstGeom>
          <a:noFill/>
          <a:ln/>
        </p:spPr>
        <p:txBody>
          <a:bodyPr wrap="square" lIns="0" tIns="0" rIns="0" bIns="0" rtlCol="0" anchor="ctr"/>
          <a:lstStyle/>
          <a:p>
            <a:pPr algn="r" indent="0" marL="0">
              <a:buNone/>
            </a:pPr>
            <a:r>
              <a:rPr lang="en-US" sz="1400" b="1" dirty="0">
                <a:solidFill>
                  <a:schemeClr val="accent1"/>
                </a:solidFill>
              </a:rPr>
              <a:t>Aaryaman</a:t>
            </a:r>
            <a:endParaRPr lang="en-US" sz="1400" dirty="0"/>
          </a:p>
        </p:txBody>
      </p:sp>
      <p:sp>
        <p:nvSpPr>
          <p:cNvPr id="23" name="Next item 4"/>
          <p:cNvSpPr/>
          <p:nvPr/>
        </p:nvSpPr>
        <p:spPr>
          <a:xfrm>
            <a:off x="548640" y="4297680"/>
            <a:ext cx="11109960" cy="749808"/>
          </a:xfrm>
          <a:prstGeom prst="roundRect">
            <a:avLst>
              <a:gd name="adj" fmla="val 14634"/>
            </a:avLst>
          </a:prstGeom>
          <a:solidFill>
            <a:schemeClr val="bg2"/>
          </a:solidFill>
          <a:ln w="6350">
            <a:solidFill>
              <a:schemeClr val="bg2"/>
            </a:solidFill>
            <a:prstDash val="solid"/>
          </a:ln>
        </p:spPr>
      </p:sp>
      <p:sp>
        <p:nvSpPr>
          <p:cNvPr id="24" name="Next badge 4"/>
          <p:cNvSpPr/>
          <p:nvPr/>
        </p:nvSpPr>
        <p:spPr>
          <a:xfrm>
            <a:off x="777240" y="4434840"/>
            <a:ext cx="475488" cy="475488"/>
          </a:xfrm>
          <a:prstGeom prst="ellipse">
            <a:avLst/>
          </a:prstGeom>
          <a:solidFill>
            <a:schemeClr val="accent1"/>
          </a:solidFill>
          <a:ln w="6350">
            <a:solidFill>
              <a:schemeClr val="accent1"/>
            </a:solidFill>
            <a:prstDash val="solid"/>
          </a:ln>
        </p:spPr>
      </p:sp>
      <p:sp>
        <p:nvSpPr>
          <p:cNvPr id="25" name="Text 22"/>
          <p:cNvSpPr txBox="1"/>
          <p:nvPr/>
        </p:nvSpPr>
        <p:spPr>
          <a:xfrm>
            <a:off x="777240" y="443484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6" name="Text 23"/>
          <p:cNvSpPr txBox="1"/>
          <p:nvPr/>
        </p:nvSpPr>
        <p:spPr>
          <a:xfrm>
            <a:off x="1508760" y="4297680"/>
            <a:ext cx="3566160" cy="749808"/>
          </a:xfrm>
          <a:prstGeom prst="rect">
            <a:avLst/>
          </a:prstGeom>
          <a:noFill/>
          <a:ln/>
        </p:spPr>
        <p:txBody>
          <a:bodyPr wrap="square" lIns="0" tIns="0" rIns="0" bIns="0" rtlCol="0" anchor="ctr"/>
          <a:lstStyle/>
          <a:p>
            <a:pPr indent="0" marL="0">
              <a:buNone/>
            </a:pPr>
            <a:r>
              <a:rPr lang="en-US" sz="1600" b="1" dirty="0">
                <a:solidFill>
                  <a:schemeClr val="tx1"/>
                </a:solidFill>
              </a:rPr>
              <a:t>Polish and review</a:t>
            </a:r>
            <a:endParaRPr lang="en-US" sz="1600" dirty="0"/>
          </a:p>
        </p:txBody>
      </p:sp>
      <p:sp>
        <p:nvSpPr>
          <p:cNvPr id="27" name="Text 24"/>
          <p:cNvSpPr txBox="1"/>
          <p:nvPr/>
        </p:nvSpPr>
        <p:spPr>
          <a:xfrm>
            <a:off x="5120640" y="4297680"/>
            <a:ext cx="4937760" cy="749808"/>
          </a:xfrm>
          <a:prstGeom prst="rect">
            <a:avLst/>
          </a:prstGeom>
          <a:noFill/>
          <a:ln/>
        </p:spPr>
        <p:txBody>
          <a:bodyPr wrap="square" lIns="0" tIns="0" rIns="0" bIns="0" rtlCol="0" anchor="ctr"/>
          <a:lstStyle/>
          <a:p>
            <a:pPr indent="0" marL="0">
              <a:buNone/>
            </a:pPr>
            <a:r>
              <a:rPr lang="en-US" sz="1300" dirty="0">
                <a:solidFill>
                  <a:schemeClr val="tx2"/>
                </a:solidFill>
              </a:rPr>
              <a:t>Second read of the maths; non-profit flow; UX fixes</a:t>
            </a:r>
            <a:endParaRPr lang="en-US" sz="1300" dirty="0"/>
          </a:p>
        </p:txBody>
      </p:sp>
      <p:sp>
        <p:nvSpPr>
          <p:cNvPr id="28" name="Text 25"/>
          <p:cNvSpPr txBox="1"/>
          <p:nvPr/>
        </p:nvSpPr>
        <p:spPr>
          <a:xfrm>
            <a:off x="10149840" y="4297680"/>
            <a:ext cx="1371600" cy="749808"/>
          </a:xfrm>
          <a:prstGeom prst="rect">
            <a:avLst/>
          </a:prstGeom>
          <a:noFill/>
          <a:ln/>
        </p:spPr>
        <p:txBody>
          <a:bodyPr wrap="square" lIns="0" tIns="0" rIns="0" bIns="0" rtlCol="0" anchor="ctr"/>
          <a:lstStyle/>
          <a:p>
            <a:pPr algn="r" indent="0" marL="0">
              <a:buNone/>
            </a:pPr>
            <a:r>
              <a:rPr lang="en-US" sz="1400" b="1" dirty="0">
                <a:solidFill>
                  <a:schemeClr val="accent1"/>
                </a:solidFill>
              </a:rPr>
              <a:t>Palash</a:t>
            </a:r>
            <a:endParaRPr lang="en-US" sz="1400" dirty="0"/>
          </a:p>
        </p:txBody>
      </p:sp>
      <p:sp>
        <p:nvSpPr>
          <p:cNvPr id="29" name="Next item 5"/>
          <p:cNvSpPr/>
          <p:nvPr/>
        </p:nvSpPr>
        <p:spPr>
          <a:xfrm>
            <a:off x="548640" y="5166360"/>
            <a:ext cx="11109960" cy="749808"/>
          </a:xfrm>
          <a:prstGeom prst="roundRect">
            <a:avLst>
              <a:gd name="adj" fmla="val 14634"/>
            </a:avLst>
          </a:prstGeom>
          <a:solidFill>
            <a:schemeClr val="bg2"/>
          </a:solidFill>
          <a:ln w="6350">
            <a:solidFill>
              <a:schemeClr val="bg2"/>
            </a:solidFill>
            <a:prstDash val="solid"/>
          </a:ln>
        </p:spPr>
      </p:sp>
      <p:sp>
        <p:nvSpPr>
          <p:cNvPr id="30" name="Next badge 5"/>
          <p:cNvSpPr/>
          <p:nvPr/>
        </p:nvSpPr>
        <p:spPr>
          <a:xfrm>
            <a:off x="777240" y="5303520"/>
            <a:ext cx="475488" cy="475488"/>
          </a:xfrm>
          <a:prstGeom prst="ellipse">
            <a:avLst/>
          </a:prstGeom>
          <a:solidFill>
            <a:schemeClr val="accent1"/>
          </a:solidFill>
          <a:ln w="6350">
            <a:solidFill>
              <a:schemeClr val="accent1"/>
            </a:solidFill>
            <a:prstDash val="solid"/>
          </a:ln>
        </p:spPr>
      </p:sp>
      <p:sp>
        <p:nvSpPr>
          <p:cNvPr id="31" name="Text 28"/>
          <p:cNvSpPr txBox="1"/>
          <p:nvPr/>
        </p:nvSpPr>
        <p:spPr>
          <a:xfrm>
            <a:off x="777240" y="530352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2" name="Text 29"/>
          <p:cNvSpPr txBox="1"/>
          <p:nvPr/>
        </p:nvSpPr>
        <p:spPr>
          <a:xfrm>
            <a:off x="1508760" y="5166360"/>
            <a:ext cx="3566160" cy="749808"/>
          </a:xfrm>
          <a:prstGeom prst="rect">
            <a:avLst/>
          </a:prstGeom>
          <a:noFill/>
          <a:ln/>
        </p:spPr>
        <p:txBody>
          <a:bodyPr wrap="square" lIns="0" tIns="0" rIns="0" bIns="0" rtlCol="0" anchor="ctr"/>
          <a:lstStyle/>
          <a:p>
            <a:pPr indent="0" marL="0">
              <a:buNone/>
            </a:pPr>
            <a:r>
              <a:rPr lang="en-US" sz="1600" b="1" dirty="0">
                <a:solidFill>
                  <a:schemeClr val="tx1"/>
                </a:solidFill>
              </a:rPr>
              <a:t>Security and privacy review</a:t>
            </a:r>
            <a:endParaRPr lang="en-US" sz="1600" dirty="0"/>
          </a:p>
        </p:txBody>
      </p:sp>
      <p:sp>
        <p:nvSpPr>
          <p:cNvPr id="33" name="Text 30"/>
          <p:cNvSpPr txBox="1"/>
          <p:nvPr/>
        </p:nvSpPr>
        <p:spPr>
          <a:xfrm>
            <a:off x="5120640" y="5166360"/>
            <a:ext cx="4937760" cy="749808"/>
          </a:xfrm>
          <a:prstGeom prst="rect">
            <a:avLst/>
          </a:prstGeom>
          <a:noFill/>
          <a:ln/>
        </p:spPr>
        <p:txBody>
          <a:bodyPr wrap="square" lIns="0" tIns="0" rIns="0" bIns="0" rtlCol="0" anchor="ctr"/>
          <a:lstStyle/>
          <a:p>
            <a:pPr indent="0" marL="0">
              <a:buNone/>
            </a:pPr>
            <a:r>
              <a:rPr lang="en-US" sz="1300" dirty="0">
                <a:solidFill>
                  <a:schemeClr val="tx2"/>
                </a:solidFill>
              </a:rPr>
              <a:t>Who can see client data, and how it is stored</a:t>
            </a:r>
            <a:endParaRPr lang="en-US" sz="1300" dirty="0"/>
          </a:p>
        </p:txBody>
      </p:sp>
      <p:sp>
        <p:nvSpPr>
          <p:cNvPr id="34" name="Text 31"/>
          <p:cNvSpPr txBox="1"/>
          <p:nvPr/>
        </p:nvSpPr>
        <p:spPr>
          <a:xfrm>
            <a:off x="10149840" y="5166360"/>
            <a:ext cx="1371600" cy="749808"/>
          </a:xfrm>
          <a:prstGeom prst="rect">
            <a:avLst/>
          </a:prstGeom>
          <a:noFill/>
          <a:ln/>
        </p:spPr>
        <p:txBody>
          <a:bodyPr wrap="square" lIns="0" tIns="0" rIns="0" bIns="0" rtlCol="0" anchor="ctr"/>
          <a:lstStyle/>
          <a:p>
            <a:pPr algn="r" indent="0" marL="0">
              <a:buNone/>
            </a:pPr>
            <a:r>
              <a:rPr lang="en-US" sz="1400" b="1" dirty="0">
                <a:solidFill>
                  <a:schemeClr val="accent1"/>
                </a:solidFill>
              </a:rPr>
              <a:t>Everyone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SEE IT WORK</a:t>
            </a:r>
            <a:endParaRPr lang="en-US" sz="1200" dirty="0"/>
          </a:p>
        </p:txBody>
      </p:sp>
      <p:sp>
        <p:nvSpPr>
          <p:cNvPr id="3" name="Title"/>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400" b="1" dirty="0">
                <a:solidFill>
                  <a:schemeClr val="tx1"/>
                </a:solidFill>
              </a:rPr>
              <a:t>Live demo, then questions</a:t>
            </a:r>
            <a:endParaRPr lang="en-US" sz="3400" dirty="0"/>
          </a:p>
        </p:txBody>
      </p:sp>
      <p:sp>
        <p:nvSpPr>
          <p:cNvPr id="5" name="Demo step 01"/>
          <p:cNvSpPr/>
          <p:nvPr/>
        </p:nvSpPr>
        <p:spPr>
          <a:xfrm>
            <a:off x="548640" y="1645920"/>
            <a:ext cx="2103120" cy="3017520"/>
          </a:xfrm>
          <a:prstGeom prst="roundRect">
            <a:avLst>
              <a:gd name="adj" fmla="val 5217"/>
            </a:avLst>
          </a:prstGeom>
          <a:solidFill>
            <a:schemeClr val="bg2"/>
          </a:solidFill>
          <a:ln w="6350">
            <a:solidFill>
              <a:schemeClr val="bg2"/>
            </a:solidFill>
            <a:prstDash val="solid"/>
          </a:ln>
        </p:spPr>
      </p:sp>
      <p:sp>
        <p:nvSpPr>
          <p:cNvPr id="6" name="Text 3"/>
          <p:cNvSpPr txBox="1"/>
          <p:nvPr/>
        </p:nvSpPr>
        <p:spPr>
          <a:xfrm>
            <a:off x="731520" y="1828800"/>
            <a:ext cx="1737360" cy="640080"/>
          </a:xfrm>
          <a:prstGeom prst="rect">
            <a:avLst/>
          </a:prstGeom>
          <a:noFill/>
          <a:ln/>
        </p:spPr>
        <p:txBody>
          <a:bodyPr wrap="square" lIns="0" tIns="0" rIns="0" bIns="0" rtlCol="0" anchor="ctr"/>
          <a:lstStyle/>
          <a:p>
            <a:pPr indent="0" marL="0">
              <a:buNone/>
            </a:pPr>
            <a:r>
              <a:rPr lang="en-US" sz="3400" b="1" dirty="0">
                <a:solidFill>
                  <a:schemeClr val="accent2"/>
                </a:solidFill>
              </a:rPr>
              <a:t>01</a:t>
            </a:r>
            <a:endParaRPr lang="en-US" sz="3400" dirty="0"/>
          </a:p>
        </p:txBody>
      </p:sp>
      <p:sp>
        <p:nvSpPr>
          <p:cNvPr id="7" name="Text 4"/>
          <p:cNvSpPr txBox="1"/>
          <p:nvPr/>
        </p:nvSpPr>
        <p:spPr>
          <a:xfrm>
            <a:off x="731520" y="2560320"/>
            <a:ext cx="1783080" cy="365760"/>
          </a:xfrm>
          <a:prstGeom prst="rect">
            <a:avLst/>
          </a:prstGeom>
          <a:noFill/>
          <a:ln/>
        </p:spPr>
        <p:txBody>
          <a:bodyPr wrap="square" lIns="0" tIns="0" rIns="0" bIns="0" rtlCol="0" anchor="ctr"/>
          <a:lstStyle/>
          <a:p>
            <a:pPr indent="0" marL="0">
              <a:buNone/>
            </a:pPr>
            <a:r>
              <a:rPr lang="en-US" sz="1400" b="1" spc="200" kern="0" dirty="0">
                <a:solidFill>
                  <a:schemeClr val="tx1"/>
                </a:solidFill>
              </a:rPr>
              <a:t>SIGN IN</a:t>
            </a:r>
            <a:endParaRPr lang="en-US" sz="1400" dirty="0"/>
          </a:p>
        </p:txBody>
      </p:sp>
      <p:sp>
        <p:nvSpPr>
          <p:cNvPr id="8" name="Text 5"/>
          <p:cNvSpPr txBox="1"/>
          <p:nvPr/>
        </p:nvSpPr>
        <p:spPr>
          <a:xfrm>
            <a:off x="731520" y="3017520"/>
            <a:ext cx="1783080" cy="1463040"/>
          </a:xfrm>
          <a:prstGeom prst="rect">
            <a:avLst/>
          </a:prstGeom>
          <a:noFill/>
          <a:ln/>
        </p:spPr>
        <p:txBody>
          <a:bodyPr wrap="square" lIns="0" tIns="0" rIns="0" bIns="0" rtlCol="0" anchor="t"/>
          <a:lstStyle/>
          <a:p>
            <a:pPr indent="0" marL="0">
              <a:buNone/>
            </a:pPr>
            <a:r>
              <a:rPr lang="en-US" sz="1400" dirty="0">
                <a:solidFill>
                  <a:schemeClr val="tx2"/>
                </a:solidFill>
              </a:rPr>
              <a:t>Empty app: it asks for your data first.</a:t>
            </a:r>
            <a:endParaRPr lang="en-US" sz="1400" dirty="0"/>
          </a:p>
        </p:txBody>
      </p:sp>
      <p:sp>
        <p:nvSpPr>
          <p:cNvPr id="9" name="Demo step 02"/>
          <p:cNvSpPr/>
          <p:nvPr/>
        </p:nvSpPr>
        <p:spPr>
          <a:xfrm>
            <a:off x="2788920" y="1645920"/>
            <a:ext cx="2103120" cy="3017520"/>
          </a:xfrm>
          <a:prstGeom prst="roundRect">
            <a:avLst>
              <a:gd name="adj" fmla="val 5217"/>
            </a:avLst>
          </a:prstGeom>
          <a:solidFill>
            <a:schemeClr val="bg2"/>
          </a:solidFill>
          <a:ln w="6350">
            <a:solidFill>
              <a:schemeClr val="bg2"/>
            </a:solidFill>
            <a:prstDash val="solid"/>
          </a:ln>
        </p:spPr>
      </p:sp>
      <p:sp>
        <p:nvSpPr>
          <p:cNvPr id="10" name="Text 7"/>
          <p:cNvSpPr txBox="1"/>
          <p:nvPr/>
        </p:nvSpPr>
        <p:spPr>
          <a:xfrm>
            <a:off x="2971800" y="1828800"/>
            <a:ext cx="1737360" cy="640080"/>
          </a:xfrm>
          <a:prstGeom prst="rect">
            <a:avLst/>
          </a:prstGeom>
          <a:noFill/>
          <a:ln/>
        </p:spPr>
        <p:txBody>
          <a:bodyPr wrap="square" lIns="0" tIns="0" rIns="0" bIns="0" rtlCol="0" anchor="ctr"/>
          <a:lstStyle/>
          <a:p>
            <a:pPr indent="0" marL="0">
              <a:buNone/>
            </a:pPr>
            <a:r>
              <a:rPr lang="en-US" sz="3400" b="1" dirty="0">
                <a:solidFill>
                  <a:schemeClr val="accent2"/>
                </a:solidFill>
              </a:rPr>
              <a:t>02</a:t>
            </a:r>
            <a:endParaRPr lang="en-US" sz="3400" dirty="0"/>
          </a:p>
        </p:txBody>
      </p:sp>
      <p:sp>
        <p:nvSpPr>
          <p:cNvPr id="11" name="Text 8"/>
          <p:cNvSpPr txBox="1"/>
          <p:nvPr/>
        </p:nvSpPr>
        <p:spPr>
          <a:xfrm>
            <a:off x="2971800" y="2560320"/>
            <a:ext cx="1783080" cy="365760"/>
          </a:xfrm>
          <a:prstGeom prst="rect">
            <a:avLst/>
          </a:prstGeom>
          <a:noFill/>
          <a:ln/>
        </p:spPr>
        <p:txBody>
          <a:bodyPr wrap="square" lIns="0" tIns="0" rIns="0" bIns="0" rtlCol="0" anchor="ctr"/>
          <a:lstStyle/>
          <a:p>
            <a:pPr indent="0" marL="0">
              <a:buNone/>
            </a:pPr>
            <a:r>
              <a:rPr lang="en-US" sz="1400" b="1" spc="200" kern="0" dirty="0">
                <a:solidFill>
                  <a:schemeClr val="tx1"/>
                </a:solidFill>
              </a:rPr>
              <a:t>UPLOAD</a:t>
            </a:r>
            <a:endParaRPr lang="en-US" sz="1400" dirty="0"/>
          </a:p>
        </p:txBody>
      </p:sp>
      <p:sp>
        <p:nvSpPr>
          <p:cNvPr id="12" name="Text 9"/>
          <p:cNvSpPr txBox="1"/>
          <p:nvPr/>
        </p:nvSpPr>
        <p:spPr>
          <a:xfrm>
            <a:off x="2971800" y="3017520"/>
            <a:ext cx="1783080" cy="1463040"/>
          </a:xfrm>
          <a:prstGeom prst="rect">
            <a:avLst/>
          </a:prstGeom>
          <a:noFill/>
          <a:ln/>
        </p:spPr>
        <p:txBody>
          <a:bodyPr wrap="square" lIns="0" tIns="0" rIns="0" bIns="0" rtlCol="0" anchor="t"/>
          <a:lstStyle/>
          <a:p>
            <a:pPr indent="0" marL="0">
              <a:buNone/>
            </a:pPr>
            <a:r>
              <a:rPr lang="en-US" sz="1400" dirty="0">
                <a:solidFill>
                  <a:schemeClr val="tx2"/>
                </a:solidFill>
              </a:rPr>
              <a:t>Drop in a 36-month café file; the forecast runs on its own.</a:t>
            </a:r>
            <a:endParaRPr lang="en-US" sz="1400" dirty="0"/>
          </a:p>
        </p:txBody>
      </p:sp>
      <p:sp>
        <p:nvSpPr>
          <p:cNvPr id="13" name="Demo step 03"/>
          <p:cNvSpPr/>
          <p:nvPr/>
        </p:nvSpPr>
        <p:spPr>
          <a:xfrm>
            <a:off x="5029200" y="1645920"/>
            <a:ext cx="2103120" cy="3017520"/>
          </a:xfrm>
          <a:prstGeom prst="roundRect">
            <a:avLst>
              <a:gd name="adj" fmla="val 5217"/>
            </a:avLst>
          </a:prstGeom>
          <a:solidFill>
            <a:schemeClr val="bg2"/>
          </a:solidFill>
          <a:ln w="6350">
            <a:solidFill>
              <a:schemeClr val="bg2"/>
            </a:solidFill>
            <a:prstDash val="solid"/>
          </a:ln>
        </p:spPr>
      </p:sp>
      <p:sp>
        <p:nvSpPr>
          <p:cNvPr id="14" name="Text 11"/>
          <p:cNvSpPr txBox="1"/>
          <p:nvPr/>
        </p:nvSpPr>
        <p:spPr>
          <a:xfrm>
            <a:off x="5212080" y="1828800"/>
            <a:ext cx="1737360" cy="640080"/>
          </a:xfrm>
          <a:prstGeom prst="rect">
            <a:avLst/>
          </a:prstGeom>
          <a:noFill/>
          <a:ln/>
        </p:spPr>
        <p:txBody>
          <a:bodyPr wrap="square" lIns="0" tIns="0" rIns="0" bIns="0" rtlCol="0" anchor="ctr"/>
          <a:lstStyle/>
          <a:p>
            <a:pPr indent="0" marL="0">
              <a:buNone/>
            </a:pPr>
            <a:r>
              <a:rPr lang="en-US" sz="3400" b="1" dirty="0">
                <a:solidFill>
                  <a:schemeClr val="accent2"/>
                </a:solidFill>
              </a:rPr>
              <a:t>03</a:t>
            </a:r>
            <a:endParaRPr lang="en-US" sz="3400" dirty="0"/>
          </a:p>
        </p:txBody>
      </p:sp>
      <p:sp>
        <p:nvSpPr>
          <p:cNvPr id="15" name="Text 12"/>
          <p:cNvSpPr txBox="1"/>
          <p:nvPr/>
        </p:nvSpPr>
        <p:spPr>
          <a:xfrm>
            <a:off x="5212080" y="2560320"/>
            <a:ext cx="1783080" cy="365760"/>
          </a:xfrm>
          <a:prstGeom prst="rect">
            <a:avLst/>
          </a:prstGeom>
          <a:noFill/>
          <a:ln/>
        </p:spPr>
        <p:txBody>
          <a:bodyPr wrap="square" lIns="0" tIns="0" rIns="0" bIns="0" rtlCol="0" anchor="ctr"/>
          <a:lstStyle/>
          <a:p>
            <a:pPr indent="0" marL="0">
              <a:buNone/>
            </a:pPr>
            <a:r>
              <a:rPr lang="en-US" sz="1400" b="1" spc="200" kern="0" dirty="0">
                <a:solidFill>
                  <a:schemeClr val="tx1"/>
                </a:solidFill>
              </a:rPr>
              <a:t>OVERVIEW</a:t>
            </a:r>
            <a:endParaRPr lang="en-US" sz="1400" dirty="0"/>
          </a:p>
        </p:txBody>
      </p:sp>
      <p:sp>
        <p:nvSpPr>
          <p:cNvPr id="16" name="Text 13"/>
          <p:cNvSpPr txBox="1"/>
          <p:nvPr/>
        </p:nvSpPr>
        <p:spPr>
          <a:xfrm>
            <a:off x="5212080" y="3017520"/>
            <a:ext cx="1783080" cy="1463040"/>
          </a:xfrm>
          <a:prstGeom prst="rect">
            <a:avLst/>
          </a:prstGeom>
          <a:noFill/>
          <a:ln/>
        </p:spPr>
        <p:txBody>
          <a:bodyPr wrap="square" lIns="0" tIns="0" rIns="0" bIns="0" rtlCol="0" anchor="t"/>
          <a:lstStyle/>
          <a:p>
            <a:pPr indent="0" marL="0">
              <a:buNone/>
            </a:pPr>
            <a:r>
              <a:rPr lang="en-US" sz="1400" dirty="0">
                <a:solidFill>
                  <a:schemeClr val="tx2"/>
                </a:solidFill>
              </a:rPr>
              <a:t>Last month, next 12 months, and what it means.</a:t>
            </a:r>
            <a:endParaRPr lang="en-US" sz="1400" dirty="0"/>
          </a:p>
        </p:txBody>
      </p:sp>
      <p:sp>
        <p:nvSpPr>
          <p:cNvPr id="17" name="Demo step 04"/>
          <p:cNvSpPr/>
          <p:nvPr/>
        </p:nvSpPr>
        <p:spPr>
          <a:xfrm>
            <a:off x="7269480" y="1645920"/>
            <a:ext cx="2103120" cy="3017520"/>
          </a:xfrm>
          <a:prstGeom prst="roundRect">
            <a:avLst>
              <a:gd name="adj" fmla="val 5217"/>
            </a:avLst>
          </a:prstGeom>
          <a:solidFill>
            <a:schemeClr val="bg2"/>
          </a:solidFill>
          <a:ln w="6350">
            <a:solidFill>
              <a:schemeClr val="bg2"/>
            </a:solidFill>
            <a:prstDash val="solid"/>
          </a:ln>
        </p:spPr>
      </p:sp>
      <p:sp>
        <p:nvSpPr>
          <p:cNvPr id="18" name="Text 15"/>
          <p:cNvSpPr txBox="1"/>
          <p:nvPr/>
        </p:nvSpPr>
        <p:spPr>
          <a:xfrm>
            <a:off x="7452360" y="1828800"/>
            <a:ext cx="1737360" cy="640080"/>
          </a:xfrm>
          <a:prstGeom prst="rect">
            <a:avLst/>
          </a:prstGeom>
          <a:noFill/>
          <a:ln/>
        </p:spPr>
        <p:txBody>
          <a:bodyPr wrap="square" lIns="0" tIns="0" rIns="0" bIns="0" rtlCol="0" anchor="ctr"/>
          <a:lstStyle/>
          <a:p>
            <a:pPr indent="0" marL="0">
              <a:buNone/>
            </a:pPr>
            <a:r>
              <a:rPr lang="en-US" sz="3400" b="1" dirty="0">
                <a:solidFill>
                  <a:schemeClr val="accent2"/>
                </a:solidFill>
              </a:rPr>
              <a:t>04</a:t>
            </a:r>
            <a:endParaRPr lang="en-US" sz="3400" dirty="0"/>
          </a:p>
        </p:txBody>
      </p:sp>
      <p:sp>
        <p:nvSpPr>
          <p:cNvPr id="19" name="Text 16"/>
          <p:cNvSpPr txBox="1"/>
          <p:nvPr/>
        </p:nvSpPr>
        <p:spPr>
          <a:xfrm>
            <a:off x="7452360" y="2560320"/>
            <a:ext cx="1783080" cy="365760"/>
          </a:xfrm>
          <a:prstGeom prst="rect">
            <a:avLst/>
          </a:prstGeom>
          <a:noFill/>
          <a:ln/>
        </p:spPr>
        <p:txBody>
          <a:bodyPr wrap="square" lIns="0" tIns="0" rIns="0" bIns="0" rtlCol="0" anchor="ctr"/>
          <a:lstStyle/>
          <a:p>
            <a:pPr indent="0" marL="0">
              <a:buNone/>
            </a:pPr>
            <a:r>
              <a:rPr lang="en-US" sz="1400" b="1" spc="200" kern="0" dirty="0">
                <a:solidFill>
                  <a:schemeClr val="tx1"/>
                </a:solidFill>
              </a:rPr>
              <a:t>WHAT IF</a:t>
            </a:r>
            <a:endParaRPr lang="en-US" sz="1400" dirty="0"/>
          </a:p>
        </p:txBody>
      </p:sp>
      <p:sp>
        <p:nvSpPr>
          <p:cNvPr id="20" name="Text 17"/>
          <p:cNvSpPr txBox="1"/>
          <p:nvPr/>
        </p:nvSpPr>
        <p:spPr>
          <a:xfrm>
            <a:off x="7452360" y="3017520"/>
            <a:ext cx="1783080" cy="1463040"/>
          </a:xfrm>
          <a:prstGeom prst="rect">
            <a:avLst/>
          </a:prstGeom>
          <a:noFill/>
          <a:ln/>
        </p:spPr>
        <p:txBody>
          <a:bodyPr wrap="square" lIns="0" tIns="0" rIns="0" bIns="0" rtlCol="0" anchor="t"/>
          <a:lstStyle/>
          <a:p>
            <a:pPr indent="0" marL="0">
              <a:buNone/>
            </a:pPr>
            <a:r>
              <a:rPr lang="en-US" sz="1400" dirty="0">
                <a:solidFill>
                  <a:schemeClr val="tx2"/>
                </a:solidFill>
              </a:rPr>
              <a:t>Try a price rise and see the effect on profit and value.</a:t>
            </a:r>
            <a:endParaRPr lang="en-US" sz="1400" dirty="0"/>
          </a:p>
        </p:txBody>
      </p:sp>
      <p:sp>
        <p:nvSpPr>
          <p:cNvPr id="21" name="Demo step 05"/>
          <p:cNvSpPr/>
          <p:nvPr/>
        </p:nvSpPr>
        <p:spPr>
          <a:xfrm>
            <a:off x="9509760" y="1645920"/>
            <a:ext cx="2103120" cy="3017520"/>
          </a:xfrm>
          <a:prstGeom prst="roundRect">
            <a:avLst>
              <a:gd name="adj" fmla="val 5217"/>
            </a:avLst>
          </a:prstGeom>
          <a:solidFill>
            <a:schemeClr val="bg2"/>
          </a:solidFill>
          <a:ln w="6350">
            <a:solidFill>
              <a:schemeClr val="bg2"/>
            </a:solidFill>
            <a:prstDash val="solid"/>
          </a:ln>
        </p:spPr>
      </p:sp>
      <p:sp>
        <p:nvSpPr>
          <p:cNvPr id="22" name="Text 19"/>
          <p:cNvSpPr txBox="1"/>
          <p:nvPr/>
        </p:nvSpPr>
        <p:spPr>
          <a:xfrm>
            <a:off x="9692640" y="1828800"/>
            <a:ext cx="1737360" cy="640080"/>
          </a:xfrm>
          <a:prstGeom prst="rect">
            <a:avLst/>
          </a:prstGeom>
          <a:noFill/>
          <a:ln/>
        </p:spPr>
        <p:txBody>
          <a:bodyPr wrap="square" lIns="0" tIns="0" rIns="0" bIns="0" rtlCol="0" anchor="ctr"/>
          <a:lstStyle/>
          <a:p>
            <a:pPr indent="0" marL="0">
              <a:buNone/>
            </a:pPr>
            <a:r>
              <a:rPr lang="en-US" sz="3400" b="1" dirty="0">
                <a:solidFill>
                  <a:schemeClr val="accent2"/>
                </a:solidFill>
              </a:rPr>
              <a:t>05</a:t>
            </a:r>
            <a:endParaRPr lang="en-US" sz="3400" dirty="0"/>
          </a:p>
        </p:txBody>
      </p:sp>
      <p:sp>
        <p:nvSpPr>
          <p:cNvPr id="23" name="Text 20"/>
          <p:cNvSpPr txBox="1"/>
          <p:nvPr/>
        </p:nvSpPr>
        <p:spPr>
          <a:xfrm>
            <a:off x="9692640" y="2560320"/>
            <a:ext cx="1783080" cy="365760"/>
          </a:xfrm>
          <a:prstGeom prst="rect">
            <a:avLst/>
          </a:prstGeom>
          <a:noFill/>
          <a:ln/>
        </p:spPr>
        <p:txBody>
          <a:bodyPr wrap="square" lIns="0" tIns="0" rIns="0" bIns="0" rtlCol="0" anchor="ctr"/>
          <a:lstStyle/>
          <a:p>
            <a:pPr indent="0" marL="0">
              <a:buNone/>
            </a:pPr>
            <a:r>
              <a:rPr lang="en-US" sz="1400" b="1" spc="200" kern="0" dirty="0">
                <a:solidFill>
                  <a:schemeClr val="tx1"/>
                </a:solidFill>
              </a:rPr>
              <a:t>YOUR DATA</a:t>
            </a:r>
            <a:endParaRPr lang="en-US" sz="1400" dirty="0"/>
          </a:p>
        </p:txBody>
      </p:sp>
      <p:sp>
        <p:nvSpPr>
          <p:cNvPr id="24" name="Text 21"/>
          <p:cNvSpPr txBox="1"/>
          <p:nvPr/>
        </p:nvSpPr>
        <p:spPr>
          <a:xfrm>
            <a:off x="9692640" y="3017520"/>
            <a:ext cx="1783080" cy="1463040"/>
          </a:xfrm>
          <a:prstGeom prst="rect">
            <a:avLst/>
          </a:prstGeom>
          <a:noFill/>
          <a:ln/>
        </p:spPr>
        <p:txBody>
          <a:bodyPr wrap="square" lIns="0" tIns="0" rIns="0" bIns="0" rtlCol="0" anchor="t"/>
          <a:lstStyle/>
          <a:p>
            <a:pPr indent="0" marL="0">
              <a:buNone/>
            </a:pPr>
            <a:r>
              <a:rPr lang="en-US" sz="1400" dirty="0">
                <a:solidFill>
                  <a:schemeClr val="tx2"/>
                </a:solidFill>
              </a:rPr>
              <a:t>Add a second file, switch, rename, delete. Try a bad file.</a:t>
            </a:r>
            <a:endParaRPr lang="en-US" sz="1400" dirty="0"/>
          </a:p>
        </p:txBody>
      </p:sp>
      <p:sp>
        <p:nvSpPr>
          <p:cNvPr id="25" name="Text 22"/>
          <p:cNvSpPr txBox="1"/>
          <p:nvPr/>
        </p:nvSpPr>
        <p:spPr>
          <a:xfrm>
            <a:off x="548640" y="4892040"/>
            <a:ext cx="11064240" cy="365760"/>
          </a:xfrm>
          <a:prstGeom prst="rect">
            <a:avLst/>
          </a:prstGeom>
          <a:noFill/>
          <a:ln/>
        </p:spPr>
        <p:txBody>
          <a:bodyPr wrap="square" lIns="0" tIns="0" rIns="0" bIns="0" rtlCol="0" anchor="ctr"/>
          <a:lstStyle/>
          <a:p>
            <a:pPr indent="0" marL="0">
              <a:buNone/>
            </a:pPr>
            <a:r>
              <a:rPr lang="en-US" sz="1400" i="1" dirty="0">
                <a:solidFill>
                  <a:schemeClr val="tx2"/>
                </a:solidFill>
              </a:rPr>
              <a:t>Everything on screen comes from the uploaded file. There is no sample data left in the app.</a:t>
            </a:r>
            <a:endParaRPr lang="en-US" sz="1400" dirty="0"/>
          </a:p>
        </p:txBody>
      </p:sp>
      <p:sp>
        <p:nvSpPr>
          <p:cNvPr id="26" name="Questions band"/>
          <p:cNvSpPr/>
          <p:nvPr/>
        </p:nvSpPr>
        <p:spPr>
          <a:xfrm>
            <a:off x="548640" y="5394960"/>
            <a:ext cx="11109960" cy="777240"/>
          </a:xfrm>
          <a:prstGeom prst="roundRect">
            <a:avLst>
              <a:gd name="adj" fmla="val 14118"/>
            </a:avLst>
          </a:prstGeom>
          <a:solidFill>
            <a:schemeClr val="accent1"/>
          </a:solidFill>
          <a:ln w="6350">
            <a:solidFill>
              <a:schemeClr val="accent1"/>
            </a:solidFill>
            <a:prstDash val="solid"/>
          </a:ln>
        </p:spPr>
      </p:sp>
      <p:sp>
        <p:nvSpPr>
          <p:cNvPr id="27" name="Text 24"/>
          <p:cNvSpPr txBox="1"/>
          <p:nvPr/>
        </p:nvSpPr>
        <p:spPr>
          <a:xfrm>
            <a:off x="822960" y="5394960"/>
            <a:ext cx="10607040" cy="777240"/>
          </a:xfrm>
          <a:prstGeom prst="rect">
            <a:avLst/>
          </a:prstGeom>
          <a:noFill/>
          <a:ln/>
        </p:spPr>
        <p:txBody>
          <a:bodyPr wrap="square" lIns="0" tIns="0" rIns="0" bIns="0" rtlCol="0" anchor="ctr"/>
          <a:lstStyle/>
          <a:p>
            <a:pPr indent="0" marL="0">
              <a:buNone/>
            </a:pPr>
            <a:r>
              <a:rPr lang="en-US" sz="2200" b="1" dirty="0">
                <a:solidFill>
                  <a:schemeClr val="bg1"/>
                </a:solidFill>
              </a:rPr>
              <a:t>Questions?  </a:t>
            </a:r>
            <a:pPr indent="0" marL="0">
              <a:buNone/>
            </a:pPr>
            <a:r>
              <a:rPr lang="en-US" sz="1600" dirty="0">
                <a:solidFill>
                  <a:schemeClr val="bg1"/>
                </a:solidFill>
              </a:rPr>
              <a:t>We would love your feedback on the product, the model and the plan.</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scend">
  <a:themeElements>
    <a:clrScheme name="Ascend">
      <a:dk1>
        <a:srgbClr val="161C19"/>
      </a:dk1>
      <a:lt1>
        <a:srgbClr val="FFFFFF"/>
      </a:lt1>
      <a:dk2>
        <a:srgbClr val="2A3330"/>
      </a:dk2>
      <a:lt2>
        <a:srgbClr val="E3EEE6"/>
      </a:lt2>
      <a:accent1>
        <a:srgbClr val="1F6B4F"/>
      </a:accent1>
      <a:accent2>
        <a:srgbClr val="3D9472"/>
      </a:accent2>
      <a:accent3>
        <a:srgbClr val="2E8A67"/>
      </a:accent3>
      <a:accent4>
        <a:srgbClr val="D9A441"/>
      </a:accent4>
      <a:accent5>
        <a:srgbClr val="C0583F"/>
      </a:accent5>
      <a:accent6>
        <a:srgbClr val="6B7671"/>
      </a:accent6>
      <a:hlink>
        <a:srgbClr val="1F6B4F"/>
      </a:hlink>
      <a:folHlink>
        <a:srgbClr val="6B7671"/>
      </a:folHlink>
    </a:clrScheme>
    <a:fontScheme name="Asce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Ascend: Sprint Review 2</dc:title>
  <dc:subject>PptxGenJS Presentation</dc:subject>
  <dc:creator>Ascend team</dc:creator>
  <cp:lastModifiedBy>Ascend team</cp:lastModifiedBy>
  <cp:revision>1</cp:revision>
  <dcterms:created xsi:type="dcterms:W3CDTF">2026-10-27T05:39:12Z</dcterms:created>
  <dcterms:modified xsi:type="dcterms:W3CDTF">2026-10-27T05:39:12Z</dcterms:modified>
</cp:coreProperties>
</file>