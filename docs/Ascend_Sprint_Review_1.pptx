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Actual</c:v>
                </c:pt>
              </c:strCache>
            </c:strRef>
          </c:tx>
          <c:spPr>
            <a:solidFill>
              <a:srgbClr val="161C19"/>
            </a:solidFill>
            <a:ln w="31750" cap="flat">
              <a:solidFill>
                <a:srgbClr val="161C1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61C19"/>
              </a:solidFill>
              <a:ln w="9525" cap="flat">
                <a:solidFill>
                  <a:srgbClr val="161C19"/>
                </a:solidFill>
                <a:prstDash val="solid"/>
                <a:round/>
              </a:ln>
              <a:effectLst/>
            </c:spPr>
          </c:marker>
          <c:cat>
            <c:multiLvlStrRef>
              <c:f>Sheet1!$A$2:$A$22</c:f>
              <c:multiLvlStrCache>
                <c:ptCount val="21"/>
                <c:lvl>
                  <c:pt idx="0">
                    <c:v>Apr 25</c:v>
                  </c:pt>
                  <c:pt idx="1">
                    <c:v>May</c:v>
                  </c:pt>
                  <c:pt idx="2">
                    <c:v>Jun</c:v>
                  </c:pt>
                  <c:pt idx="3">
                    <c:v>Jul</c:v>
                  </c:pt>
                  <c:pt idx="4">
                    <c:v>Aug</c:v>
                  </c:pt>
                  <c:pt idx="5">
                    <c:v>Sep</c:v>
                  </c:pt>
                  <c:pt idx="6">
                    <c:v>Oct</c:v>
                  </c:pt>
                  <c:pt idx="7">
                    <c:v>Nov</c:v>
                  </c:pt>
                  <c:pt idx="8">
                    <c:v>Dec</c:v>
                  </c:pt>
                  <c:pt idx="9">
                    <c:v>Jan 26</c:v>
                  </c:pt>
                  <c:pt idx="10">
                    <c:v>Feb</c:v>
                  </c:pt>
                  <c:pt idx="11">
                    <c:v>Mar</c:v>
                  </c:pt>
                  <c:pt idx="12">
                    <c:v>Apr</c:v>
                  </c:pt>
                  <c:pt idx="13">
                    <c:v>May</c:v>
                  </c:pt>
                  <c:pt idx="14">
                    <c:v>Jun</c:v>
                  </c:pt>
                  <c:pt idx="15">
                    <c:v>Jul</c:v>
                  </c:pt>
                  <c:pt idx="16">
                    <c:v>Aug</c:v>
                  </c:pt>
                  <c:pt idx="17">
                    <c:v>Sep</c:v>
                  </c:pt>
                  <c:pt idx="18">
                    <c:v>Oct</c:v>
                  </c:pt>
                  <c:pt idx="19">
                    <c:v>Nov</c:v>
                  </c:pt>
                  <c:pt idx="20">
                    <c:v>Dec</c:v>
                  </c:pt>
                </c:lvl>
              </c:multiLvlStrCache>
            </c:multiLvlStrRef>
          </c:cat>
          <c:val>
            <c:numRef>
              <c:f>Sheet1!$B$2:$B$22</c:f>
              <c:numCache>
                <c:formatCode>General</c:formatCode>
                <c:ptCount val="21"/>
                <c:pt idx="0">
                  <c:v>40600</c:v>
                </c:pt>
                <c:pt idx="1">
                  <c:v>41800</c:v>
                </c:pt>
                <c:pt idx="2">
                  <c:v>42100</c:v>
                </c:pt>
                <c:pt idx="3">
                  <c:v>40400</c:v>
                </c:pt>
                <c:pt idx="4">
                  <c:v>40700</c:v>
                </c:pt>
                <c:pt idx="5">
                  <c:v>39800</c:v>
                </c:pt>
                <c:pt idx="6">
                  <c:v>37200</c:v>
                </c:pt>
                <c:pt idx="7">
                  <c:v>38900</c:v>
                </c:pt>
                <c:pt idx="8">
                  <c:v>38500</c:v>
                </c:pt>
                <c:pt idx="9">
                  <c:v>41200</c:v>
                </c:pt>
                <c:pt idx="10">
                  <c:v>44600</c:v>
                </c:pt>
                <c:pt idx="11">
                  <c:v>45600</c:v>
                </c:pt>
                <c:pt idx="12">
                  <c:v>47400</c:v>
                </c:pt>
                <c:pt idx="13">
                  <c:v>48500</c:v>
                </c:pt>
                <c:pt idx="14">
                  <c:v>49400</c:v>
                </c:pt>
                <c:pt idx="15">
                  <c:v>48400</c:v>
                </c:pt>
                <c:pt idx="16">
                  <c:v>46700</c:v>
                </c:pt>
                <c:pt idx="17">
                  <c:v>50600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Forecast</c:v>
                </c:pt>
              </c:strCache>
            </c:strRef>
          </c:tx>
          <c:spPr>
            <a:solidFill>
              <a:srgbClr val="1F6B4F"/>
            </a:solidFill>
            <a:ln w="31750" cap="flat">
              <a:solidFill>
                <a:srgbClr val="1F6B4F"/>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6B4F"/>
              </a:solidFill>
              <a:ln w="9525" cap="flat">
                <a:solidFill>
                  <a:srgbClr val="1F6B4F"/>
                </a:solidFill>
                <a:prstDash val="solid"/>
                <a:round/>
              </a:ln>
              <a:effectLst/>
            </c:spPr>
          </c:marker>
          <c:cat>
            <c:multiLvlStrRef>
              <c:f>Sheet1!$A$2:$A$22</c:f>
              <c:multiLvlStrCache>
                <c:ptCount val="21"/>
                <c:lvl>
                  <c:pt idx="0">
                    <c:v>Apr 25</c:v>
                  </c:pt>
                  <c:pt idx="1">
                    <c:v>May</c:v>
                  </c:pt>
                  <c:pt idx="2">
                    <c:v>Jun</c:v>
                  </c:pt>
                  <c:pt idx="3">
                    <c:v>Jul</c:v>
                  </c:pt>
                  <c:pt idx="4">
                    <c:v>Aug</c:v>
                  </c:pt>
                  <c:pt idx="5">
                    <c:v>Sep</c:v>
                  </c:pt>
                  <c:pt idx="6">
                    <c:v>Oct</c:v>
                  </c:pt>
                  <c:pt idx="7">
                    <c:v>Nov</c:v>
                  </c:pt>
                  <c:pt idx="8">
                    <c:v>Dec</c:v>
                  </c:pt>
                  <c:pt idx="9">
                    <c:v>Jan 26</c:v>
                  </c:pt>
                  <c:pt idx="10">
                    <c:v>Feb</c:v>
                  </c:pt>
                  <c:pt idx="11">
                    <c:v>Mar</c:v>
                  </c:pt>
                  <c:pt idx="12">
                    <c:v>Apr</c:v>
                  </c:pt>
                  <c:pt idx="13">
                    <c:v>May</c:v>
                  </c:pt>
                  <c:pt idx="14">
                    <c:v>Jun</c:v>
                  </c:pt>
                  <c:pt idx="15">
                    <c:v>Jul</c:v>
                  </c:pt>
                  <c:pt idx="16">
                    <c:v>Aug</c:v>
                  </c:pt>
                  <c:pt idx="17">
                    <c:v>Sep</c:v>
                  </c:pt>
                  <c:pt idx="18">
                    <c:v>Oct</c:v>
                  </c:pt>
                  <c:pt idx="19">
                    <c:v>Nov</c:v>
                  </c:pt>
                  <c:pt idx="20">
                    <c:v>Dec</c:v>
                  </c:pt>
                </c:lvl>
              </c:multiLvlStrCache>
            </c:multiLvlStrRef>
          </c:cat>
          <c:val>
            <c:numRef>
              <c:f>Sheet1!$C$2:$C$22</c:f>
              <c:numCache>
                <c:formatCode>General</c:formatCode>
                <c:ptCount val="21"/>
                <c:pt idx="17">
                  <c:v>50600</c:v>
                </c:pt>
                <c:pt idx="18">
                  <c:v>51900</c:v>
                </c:pt>
                <c:pt idx="19">
                  <c:v>52800</c:v>
                </c:pt>
                <c:pt idx="20">
                  <c:v>53800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6B7671"/>
                </a:solidFill>
                <a:latin typeface="Arial"/>
              </a:defRPr>
            </a:pPr>
            <a:endParaRPr lang="en-US"/>
          </a:p>
        </c:txPr>
        <c:crossAx val="2094734552"/>
        <c:crosses val="autoZero"/>
        <c:auto val="1"/>
        <c:lblAlgn val="ctr"/>
        <c:noMultiLvlLbl val="1"/>
        <c:tickLblSkip val="4"/>
      </c:catAx>
      <c:valAx>
        <c:axId val="2094734552"/>
        <c:scaling>
          <c:orientation val="minMax"/>
          <c:max val="55000"/>
          <c:min val="35000"/>
        </c:scaling>
        <c:delete val="0"/>
        <c:axPos val="l"/>
        <c:majorGridlines>
          <c:spPr>
            <a:ln w="6350" cap="flat">
              <a:solidFill>
                <a:srgbClr val="E6EBE7"/>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6B7671"/>
                </a:solidFill>
                <a:latin typeface="Arial"/>
              </a:defRPr>
            </a:pPr>
            <a:endParaRPr lang="en-US"/>
          </a:p>
        </c:txPr>
        <c:crossAx val="2094734554"/>
        <c:crosses val="autoZero"/>
        <c:crossBetween val="between"/>
        <c:majorUnit val="5000"/>
      </c:valAx>
      <c:spPr>
        <a:noFill/>
        <a:ln>
          <a:noFill/>
        </a:ln>
        <a:effectLst/>
      </c:spPr>
    </c:plotArea>
    <c:legend>
      <c:legendPos val="b"/>
      <c:overlay val="0"/>
      <c:txPr>
        <a:bodyPr/>
        <a:lstStyle/>
        <a:p>
          <a:pPr>
            <a:defRPr sz="900">
              <a:solidFill>
                <a:srgbClr val="4E5955"/>
              </a:solidFill>
              <a:latin typeface="Arial"/>
              <a:cs typeface="Arial"/>
            </a:defRPr>
          </a:pPr>
          <a:endParaRPr lang="en-US"/>
        </a:p>
      </c:txPr>
    </c:legend>
    <c:plotVisOnly val="1"/>
    <c:dispBlanksAs val="gap"/>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Ascend is an AI growth-intelligence platform for small businesses: it learns a business from its own data, forecasts what is next, and points to opportunities.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roles, one shared repo. Aaryaman: model training. Kaiyaan: financial data. Palash: frontend design. Ethan: backend and Supabase. We all manage the GitHub repository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exists today: landing page, working auth on a live Supabase project, a database schema, and a full dashboard demo. The dashboard numbers are sample data: the model and real data pipeline come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Data collection and cleaning come first because the model is only as good as its data. Training is the highlighted step. Integration connects real output to the dashboard, then we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schedule from October through the end of the project in January. Adjust the months to match the real course calendar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running app. 1) Sign in. 2) Overview: health score, KPIs, switch the forecast between revenue, expenses and cash flow. 3) Forecasts: drag the scenario slider. 4) Opportunities: expand one and click Start review. 5) Data sources: upload any CSV. Model: press Run sample forecast. Be clear that the numbers are sample data until the real model is trained.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Good questions to expect: where the data comes from, how we measure forecast accuracy, privacy of business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AS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0728655" y="502920"/>
            <a:ext cx="640080" cy="640080"/>
          </a:xfrm>
          <a:prstGeom prst="roundRect">
            <a:avLst>
              <a:gd name="adj" fmla="val 11000"/>
            </a:avLst>
          </a:prstGeom>
          <a:solidFill>
            <a:srgbClr val="161C1A"/>
          </a:solidFill>
          <a:ln w="12700">
            <a:solidFill>
              <a:srgbClr val="161C1A"/>
            </a:solidFill>
            <a:prstDash val="solid"/>
          </a:ln>
        </p:spPr>
      </p:sp>
      <p:sp>
        <p:nvSpPr>
          <p:cNvPr id="3" name="Shape 1"/>
          <p:cNvSpPr/>
          <p:nvPr/>
        </p:nvSpPr>
        <p:spPr>
          <a:xfrm>
            <a:off x="10860512" y="607253"/>
            <a:ext cx="375727" cy="42885"/>
          </a:xfrm>
          <a:prstGeom prst="rect">
            <a:avLst/>
          </a:prstGeom>
          <a:solidFill>
            <a:srgbClr val="3D9472"/>
          </a:solidFill>
          <a:ln w="12700">
            <a:solidFill>
              <a:srgbClr val="3D9472"/>
            </a:solidFill>
            <a:prstDash val="solid"/>
          </a:ln>
        </p:spPr>
      </p:sp>
      <p:sp>
        <p:nvSpPr>
          <p:cNvPr id="4" name="Shape 2"/>
          <p:cNvSpPr/>
          <p:nvPr/>
        </p:nvSpPr>
        <p:spPr>
          <a:xfrm>
            <a:off x="10860512" y="876727"/>
            <a:ext cx="90891" cy="147218"/>
          </a:xfrm>
          <a:prstGeom prst="rect">
            <a:avLst/>
          </a:prstGeom>
          <a:solidFill>
            <a:srgbClr val="7E857E"/>
          </a:solidFill>
          <a:ln w="12700">
            <a:solidFill>
              <a:srgbClr val="7E857E"/>
            </a:solidFill>
            <a:prstDash val="solid"/>
          </a:ln>
        </p:spPr>
      </p:sp>
      <p:sp>
        <p:nvSpPr>
          <p:cNvPr id="5" name="Shape 3"/>
          <p:cNvSpPr/>
          <p:nvPr/>
        </p:nvSpPr>
        <p:spPr>
          <a:xfrm>
            <a:off x="11007730" y="794796"/>
            <a:ext cx="89611" cy="229149"/>
          </a:xfrm>
          <a:prstGeom prst="rect">
            <a:avLst/>
          </a:prstGeom>
          <a:solidFill>
            <a:srgbClr val="AFBAB2"/>
          </a:solidFill>
          <a:ln w="12700">
            <a:solidFill>
              <a:srgbClr val="AFBAB2"/>
            </a:solidFill>
            <a:prstDash val="solid"/>
          </a:ln>
        </p:spPr>
      </p:sp>
      <p:sp>
        <p:nvSpPr>
          <p:cNvPr id="6" name="Shape 4"/>
          <p:cNvSpPr/>
          <p:nvPr/>
        </p:nvSpPr>
        <p:spPr>
          <a:xfrm>
            <a:off x="11153028" y="675742"/>
            <a:ext cx="89611" cy="348204"/>
          </a:xfrm>
          <a:prstGeom prst="rect">
            <a:avLst/>
          </a:prstGeom>
          <a:solidFill>
            <a:srgbClr val="E3EEE6"/>
          </a:solidFill>
          <a:ln w="12700">
            <a:solidFill>
              <a:srgbClr val="E3EEE6"/>
            </a:solidFill>
            <a:prstDash val="solid"/>
          </a:ln>
        </p:spPr>
      </p:sp>
      <p:sp>
        <p:nvSpPr>
          <p:cNvPr id="7" name="Text 5"/>
          <p:cNvSpPr txBox="1"/>
          <p:nvPr/>
        </p:nvSpPr>
        <p:spPr>
          <a:xfrm>
            <a:off x="822960" y="2103120"/>
            <a:ext cx="5943600" cy="320040"/>
          </a:xfrm>
          <a:prstGeom prst="rect">
            <a:avLst/>
          </a:prstGeom>
          <a:noFill/>
          <a:ln/>
        </p:spPr>
        <p:txBody>
          <a:bodyPr wrap="square" lIns="0" tIns="0" rIns="0" bIns="0" rtlCol="0" anchor="ctr"/>
          <a:lstStyle/>
          <a:p>
            <a:pPr indent="0" marL="0">
              <a:buNone/>
            </a:pPr>
            <a:r>
              <a:rPr lang="en-US" sz="1300" b="1" spc="400" kern="0" dirty="0">
                <a:solidFill>
                  <a:srgbClr val="1F6B4F"/>
                </a:solidFill>
                <a:latin typeface="Arial" pitchFamily="34" charset="0"/>
                <a:ea typeface="Arial" pitchFamily="34" charset="-122"/>
                <a:cs typeface="Arial" pitchFamily="34" charset="-120"/>
              </a:rPr>
              <a:t>AI-POWERED GROWTH INTELLIGENCE</a:t>
            </a:r>
            <a:endParaRPr lang="en-US" sz="1300" dirty="0"/>
          </a:p>
        </p:txBody>
      </p:sp>
      <p:sp>
        <p:nvSpPr>
          <p:cNvPr id="8" name="Text 6"/>
          <p:cNvSpPr txBox="1"/>
          <p:nvPr/>
        </p:nvSpPr>
        <p:spPr>
          <a:xfrm>
            <a:off x="822960" y="2468880"/>
            <a:ext cx="5943600" cy="1280160"/>
          </a:xfrm>
          <a:prstGeom prst="rect">
            <a:avLst/>
          </a:prstGeom>
          <a:noFill/>
          <a:ln/>
        </p:spPr>
        <p:txBody>
          <a:bodyPr wrap="square" lIns="0" tIns="0" rIns="0" bIns="0" rtlCol="0" anchor="ctr"/>
          <a:lstStyle/>
          <a:p>
            <a:pPr indent="0" marL="0">
              <a:buNone/>
            </a:pPr>
            <a:r>
              <a:rPr lang="en-US" sz="8000" b="1" dirty="0">
                <a:solidFill>
                  <a:srgbClr val="161C19"/>
                </a:solidFill>
                <a:latin typeface="Arial" pitchFamily="34" charset="0"/>
                <a:ea typeface="Arial" pitchFamily="34" charset="-122"/>
                <a:cs typeface="Arial" pitchFamily="34" charset="-120"/>
              </a:rPr>
              <a:t>ASCEND</a:t>
            </a:r>
            <a:endParaRPr lang="en-US" sz="8000" dirty="0"/>
          </a:p>
        </p:txBody>
      </p:sp>
      <p:sp>
        <p:nvSpPr>
          <p:cNvPr id="9" name="Text 7"/>
          <p:cNvSpPr txBox="1"/>
          <p:nvPr/>
        </p:nvSpPr>
        <p:spPr>
          <a:xfrm>
            <a:off x="822960" y="3931920"/>
            <a:ext cx="6035040" cy="868680"/>
          </a:xfrm>
          <a:prstGeom prst="rect">
            <a:avLst/>
          </a:prstGeom>
          <a:noFill/>
          <a:ln/>
        </p:spPr>
        <p:txBody>
          <a:bodyPr wrap="square" lIns="0" tIns="0" rIns="0" bIns="0" rtlCol="0" anchor="t"/>
          <a:lstStyle/>
          <a:p>
            <a:pPr indent="0" marL="0">
              <a:buNone/>
            </a:pPr>
            <a:r>
              <a:rPr lang="en-US" sz="2100" b="1" dirty="0">
                <a:solidFill>
                  <a:srgbClr val="2E8A67"/>
                </a:solidFill>
                <a:latin typeface="Arial" pitchFamily="34" charset="0"/>
                <a:ea typeface="Arial" pitchFamily="34" charset="-122"/>
                <a:cs typeface="Arial" pitchFamily="34" charset="-120"/>
              </a:rPr>
              <a:t>Aaryaman Chopra, Ethan de Guzman,</a:t>
            </a:r>
            <a:endParaRPr lang="en-US" sz="2100" dirty="0"/>
          </a:p>
          <a:p>
            <a:pPr indent="0" marL="0">
              <a:buNone/>
            </a:pPr>
            <a:r>
              <a:rPr lang="en-US" sz="2100" b="1" dirty="0">
                <a:solidFill>
                  <a:srgbClr val="2E8A67"/>
                </a:solidFill>
                <a:latin typeface="Arial" pitchFamily="34" charset="0"/>
                <a:ea typeface="Arial" pitchFamily="34" charset="-122"/>
                <a:cs typeface="Arial" pitchFamily="34" charset="-120"/>
              </a:rPr>
              <a:t>Palash Desarda, Kaiyaan Faisal</a:t>
            </a:r>
            <a:endParaRPr lang="en-US" sz="2100" dirty="0"/>
          </a:p>
        </p:txBody>
      </p:sp>
      <p:sp>
        <p:nvSpPr>
          <p:cNvPr id="10" name="Text 8"/>
          <p:cNvSpPr txBox="1"/>
          <p:nvPr/>
        </p:nvSpPr>
        <p:spPr>
          <a:xfrm>
            <a:off x="822960" y="4846320"/>
            <a:ext cx="6035040" cy="365760"/>
          </a:xfrm>
          <a:prstGeom prst="rect">
            <a:avLst/>
          </a:prstGeom>
          <a:noFill/>
          <a:ln/>
        </p:spPr>
        <p:txBody>
          <a:bodyPr wrap="square" lIns="0" tIns="0" rIns="0" bIns="0" rtlCol="0" anchor="ctr"/>
          <a:lstStyle/>
          <a:p>
            <a:pPr indent="0" marL="0">
              <a:buNone/>
            </a:pPr>
            <a:r>
              <a:rPr lang="en-US" sz="2100" b="1" dirty="0">
                <a:solidFill>
                  <a:srgbClr val="2E8A67"/>
                </a:solidFill>
                <a:latin typeface="Arial" pitchFamily="34" charset="0"/>
                <a:ea typeface="Arial" pitchFamily="34" charset="-122"/>
                <a:cs typeface="Arial" pitchFamily="34" charset="-120"/>
              </a:rPr>
              <a:t>P6 Special Topics</a:t>
            </a:r>
            <a:endParaRPr lang="en-US" sz="2100" dirty="0"/>
          </a:p>
        </p:txBody>
      </p:sp>
      <p:sp>
        <p:nvSpPr>
          <p:cNvPr id="11" name="Text 9"/>
          <p:cNvSpPr txBox="1"/>
          <p:nvPr/>
        </p:nvSpPr>
        <p:spPr>
          <a:xfrm>
            <a:off x="822960" y="5394960"/>
            <a:ext cx="6035040" cy="320040"/>
          </a:xfrm>
          <a:prstGeom prst="rect">
            <a:avLst/>
          </a:prstGeom>
          <a:noFill/>
          <a:ln/>
        </p:spPr>
        <p:txBody>
          <a:bodyPr wrap="square" lIns="0" tIns="0" rIns="0" bIns="0" rtlCol="0" anchor="ctr"/>
          <a:lstStyle/>
          <a:p>
            <a:pPr indent="0" marL="0">
              <a:buNone/>
            </a:pPr>
            <a:r>
              <a:rPr lang="en-US" sz="1400" dirty="0">
                <a:solidFill>
                  <a:srgbClr val="4E5955"/>
                </a:solidFill>
                <a:latin typeface="Arial" pitchFamily="34" charset="0"/>
                <a:ea typeface="Arial" pitchFamily="34" charset="-122"/>
                <a:cs typeface="Arial" pitchFamily="34" charset="-120"/>
              </a:rPr>
              <a:t>Sprint Review 1  |  October 6, 2026</a:t>
            </a:r>
            <a:endParaRPr lang="en-US" sz="1400" dirty="0"/>
          </a:p>
        </p:txBody>
      </p:sp>
      <p:sp>
        <p:nvSpPr>
          <p:cNvPr id="12" name="Shape 10"/>
          <p:cNvSpPr/>
          <p:nvPr/>
        </p:nvSpPr>
        <p:spPr>
          <a:xfrm>
            <a:off x="6995160" y="2011680"/>
            <a:ext cx="4389120" cy="3520440"/>
          </a:xfrm>
          <a:prstGeom prst="roundRect">
            <a:avLst>
              <a:gd name="adj" fmla="val 3117"/>
            </a:avLst>
          </a:prstGeom>
          <a:solidFill>
            <a:srgbClr val="F3F8F3"/>
          </a:solidFill>
          <a:ln w="9525">
            <a:solidFill>
              <a:srgbClr val="D6DCD7"/>
            </a:solidFill>
            <a:prstDash val="solid"/>
          </a:ln>
        </p:spPr>
      </p:sp>
      <p:sp>
        <p:nvSpPr>
          <p:cNvPr id="13" name="Text 11"/>
          <p:cNvSpPr txBox="1"/>
          <p:nvPr/>
        </p:nvSpPr>
        <p:spPr>
          <a:xfrm>
            <a:off x="7360920" y="2331720"/>
            <a:ext cx="3200400" cy="274320"/>
          </a:xfrm>
          <a:prstGeom prst="rect">
            <a:avLst/>
          </a:prstGeom>
          <a:noFill/>
          <a:ln/>
        </p:spPr>
        <p:txBody>
          <a:bodyPr wrap="square" lIns="0" tIns="0" rIns="0" bIns="0" rtlCol="0" anchor="ctr"/>
          <a:lstStyle/>
          <a:p>
            <a:pPr indent="0" marL="0">
              <a:buNone/>
            </a:pPr>
            <a:r>
              <a:rPr lang="en-US" sz="1000" b="1" spc="400" kern="0" dirty="0">
                <a:solidFill>
                  <a:srgbClr val="6B7671"/>
                </a:solidFill>
                <a:latin typeface="Arial" pitchFamily="34" charset="0"/>
                <a:ea typeface="Arial" pitchFamily="34" charset="-122"/>
                <a:cs typeface="Arial" pitchFamily="34" charset="-120"/>
              </a:rPr>
              <a:t>BUSINESS HEALTH</a:t>
            </a:r>
            <a:endParaRPr lang="en-US" sz="1000" dirty="0"/>
          </a:p>
        </p:txBody>
      </p:sp>
      <p:sp>
        <p:nvSpPr>
          <p:cNvPr id="14" name="Text 12"/>
          <p:cNvSpPr txBox="1"/>
          <p:nvPr/>
        </p:nvSpPr>
        <p:spPr>
          <a:xfrm>
            <a:off x="7360920" y="2743200"/>
            <a:ext cx="2743200" cy="365760"/>
          </a:xfrm>
          <a:prstGeom prst="rect">
            <a:avLst/>
          </a:prstGeom>
          <a:noFill/>
          <a:ln/>
        </p:spPr>
        <p:txBody>
          <a:bodyPr wrap="square" lIns="0" tIns="0" rIns="0" bIns="0" rtlCol="0" anchor="ctr"/>
          <a:lstStyle/>
          <a:p>
            <a:pPr indent="0" marL="0">
              <a:buNone/>
            </a:pPr>
            <a:r>
              <a:rPr lang="en-US" sz="1500" dirty="0">
                <a:solidFill>
                  <a:srgbClr val="2A3330"/>
                </a:solidFill>
                <a:latin typeface="Arial" pitchFamily="34" charset="0"/>
                <a:ea typeface="Arial" pitchFamily="34" charset="-122"/>
                <a:cs typeface="Arial" pitchFamily="34" charset="-120"/>
              </a:rPr>
              <a:t>Growth Potential</a:t>
            </a:r>
            <a:endParaRPr lang="en-US" sz="1500" dirty="0"/>
          </a:p>
        </p:txBody>
      </p:sp>
      <p:sp>
        <p:nvSpPr>
          <p:cNvPr id="15" name="Text 13"/>
          <p:cNvSpPr txBox="1"/>
          <p:nvPr/>
        </p:nvSpPr>
        <p:spPr>
          <a:xfrm>
            <a:off x="10012680" y="2651760"/>
            <a:ext cx="1005840" cy="548640"/>
          </a:xfrm>
          <a:prstGeom prst="rect">
            <a:avLst/>
          </a:prstGeom>
          <a:noFill/>
          <a:ln/>
        </p:spPr>
        <p:txBody>
          <a:bodyPr wrap="square" lIns="0" tIns="0" rIns="0" bIns="0" rtlCol="0" anchor="ctr"/>
          <a:lstStyle/>
          <a:p>
            <a:pPr algn="r" indent="0" marL="0">
              <a:buNone/>
            </a:pPr>
            <a:r>
              <a:rPr lang="en-US" sz="3200" b="1" dirty="0">
                <a:solidFill>
                  <a:srgbClr val="1F6B4F"/>
                </a:solidFill>
                <a:latin typeface="Arial" pitchFamily="34" charset="0"/>
                <a:ea typeface="Arial" pitchFamily="34" charset="-122"/>
                <a:cs typeface="Arial" pitchFamily="34" charset="-120"/>
              </a:rPr>
              <a:t>82</a:t>
            </a:r>
            <a:endParaRPr lang="en-US" sz="3200" dirty="0"/>
          </a:p>
        </p:txBody>
      </p:sp>
      <p:sp>
        <p:nvSpPr>
          <p:cNvPr id="16" name="Shape 14"/>
          <p:cNvSpPr/>
          <p:nvPr/>
        </p:nvSpPr>
        <p:spPr>
          <a:xfrm>
            <a:off x="7360920" y="3291840"/>
            <a:ext cx="3657600" cy="109728"/>
          </a:xfrm>
          <a:prstGeom prst="roundRect">
            <a:avLst>
              <a:gd name="adj" fmla="val 50000"/>
            </a:avLst>
          </a:prstGeom>
          <a:solidFill>
            <a:srgbClr val="D8DDD9"/>
          </a:solidFill>
          <a:ln w="12700">
            <a:solidFill>
              <a:srgbClr val="D8DDD9"/>
            </a:solidFill>
            <a:prstDash val="solid"/>
          </a:ln>
        </p:spPr>
      </p:sp>
      <p:sp>
        <p:nvSpPr>
          <p:cNvPr id="17" name="Shape 15"/>
          <p:cNvSpPr/>
          <p:nvPr/>
        </p:nvSpPr>
        <p:spPr>
          <a:xfrm>
            <a:off x="7360920" y="3291840"/>
            <a:ext cx="2999232" cy="109728"/>
          </a:xfrm>
          <a:prstGeom prst="roundRect">
            <a:avLst>
              <a:gd name="adj" fmla="val 50000"/>
            </a:avLst>
          </a:prstGeom>
          <a:solidFill>
            <a:srgbClr val="1F6B4F"/>
          </a:solidFill>
          <a:ln w="12700">
            <a:solidFill>
              <a:srgbClr val="1F6B4F"/>
            </a:solidFill>
            <a:prstDash val="solid"/>
          </a:ln>
        </p:spPr>
      </p:sp>
      <p:sp>
        <p:nvSpPr>
          <p:cNvPr id="18" name="Text 16"/>
          <p:cNvSpPr txBox="1"/>
          <p:nvPr/>
        </p:nvSpPr>
        <p:spPr>
          <a:xfrm>
            <a:off x="7360920" y="3611880"/>
            <a:ext cx="2194560" cy="292608"/>
          </a:xfrm>
          <a:prstGeom prst="rect">
            <a:avLst/>
          </a:prstGeom>
          <a:noFill/>
          <a:ln/>
        </p:spPr>
        <p:txBody>
          <a:bodyPr wrap="square" lIns="0" tIns="0" rIns="0" bIns="0" rtlCol="0" anchor="ctr"/>
          <a:lstStyle/>
          <a:p>
            <a:pPr indent="0" marL="0">
              <a:buNone/>
            </a:pPr>
            <a:r>
              <a:rPr lang="en-US" sz="1400" dirty="0">
                <a:solidFill>
                  <a:srgbClr val="2A3330"/>
                </a:solidFill>
                <a:latin typeface="Arial" pitchFamily="34" charset="0"/>
                <a:ea typeface="Arial" pitchFamily="34" charset="-122"/>
                <a:cs typeface="Arial" pitchFamily="34" charset="-120"/>
              </a:rPr>
              <a:t>Revenue</a:t>
            </a:r>
            <a:endParaRPr lang="en-US" sz="1400" dirty="0"/>
          </a:p>
        </p:txBody>
      </p:sp>
      <p:sp>
        <p:nvSpPr>
          <p:cNvPr id="19" name="Text 17"/>
          <p:cNvSpPr txBox="1"/>
          <p:nvPr/>
        </p:nvSpPr>
        <p:spPr>
          <a:xfrm>
            <a:off x="9555480" y="3611880"/>
            <a:ext cx="1463040" cy="292608"/>
          </a:xfrm>
          <a:prstGeom prst="rect">
            <a:avLst/>
          </a:prstGeom>
          <a:noFill/>
          <a:ln/>
        </p:spPr>
        <p:txBody>
          <a:bodyPr wrap="square" lIns="0" tIns="0" rIns="0" bIns="0" rtlCol="0" anchor="ctr"/>
          <a:lstStyle/>
          <a:p>
            <a:pPr algn="r" indent="0" marL="0">
              <a:buNone/>
            </a:pPr>
            <a:r>
              <a:rPr lang="en-US" sz="1400" b="1" dirty="0">
                <a:solidFill>
                  <a:srgbClr val="1F6B4F"/>
                </a:solidFill>
                <a:latin typeface="Arial" pitchFamily="34" charset="0"/>
                <a:ea typeface="Arial" pitchFamily="34" charset="-122"/>
                <a:cs typeface="Arial" pitchFamily="34" charset="-120"/>
              </a:rPr>
              <a:t>↑ +8.4%</a:t>
            </a:r>
            <a:endParaRPr lang="en-US" sz="1400" dirty="0"/>
          </a:p>
        </p:txBody>
      </p:sp>
      <p:sp>
        <p:nvSpPr>
          <p:cNvPr id="20" name="Text 18"/>
          <p:cNvSpPr txBox="1"/>
          <p:nvPr/>
        </p:nvSpPr>
        <p:spPr>
          <a:xfrm>
            <a:off x="7360920" y="3977640"/>
            <a:ext cx="2194560" cy="292608"/>
          </a:xfrm>
          <a:prstGeom prst="rect">
            <a:avLst/>
          </a:prstGeom>
          <a:noFill/>
          <a:ln/>
        </p:spPr>
        <p:txBody>
          <a:bodyPr wrap="square" lIns="0" tIns="0" rIns="0" bIns="0" rtlCol="0" anchor="ctr"/>
          <a:lstStyle/>
          <a:p>
            <a:pPr indent="0" marL="0">
              <a:buNone/>
            </a:pPr>
            <a:r>
              <a:rPr lang="en-US" sz="1400" dirty="0">
                <a:solidFill>
                  <a:srgbClr val="2A3330"/>
                </a:solidFill>
                <a:latin typeface="Arial" pitchFamily="34" charset="0"/>
                <a:ea typeface="Arial" pitchFamily="34" charset="-122"/>
                <a:cs typeface="Arial" pitchFamily="34" charset="-120"/>
              </a:rPr>
              <a:t>Expenses</a:t>
            </a:r>
            <a:endParaRPr lang="en-US" sz="1400" dirty="0"/>
          </a:p>
        </p:txBody>
      </p:sp>
      <p:sp>
        <p:nvSpPr>
          <p:cNvPr id="21" name="Text 19"/>
          <p:cNvSpPr txBox="1"/>
          <p:nvPr/>
        </p:nvSpPr>
        <p:spPr>
          <a:xfrm>
            <a:off x="9555480" y="3977640"/>
            <a:ext cx="1463040" cy="292608"/>
          </a:xfrm>
          <a:prstGeom prst="rect">
            <a:avLst/>
          </a:prstGeom>
          <a:noFill/>
          <a:ln/>
        </p:spPr>
        <p:txBody>
          <a:bodyPr wrap="square" lIns="0" tIns="0" rIns="0" bIns="0" rtlCol="0" anchor="ctr"/>
          <a:lstStyle/>
          <a:p>
            <a:pPr algn="r" indent="0" marL="0">
              <a:buNone/>
            </a:pPr>
            <a:r>
              <a:rPr lang="en-US" sz="1400" b="1" dirty="0">
                <a:solidFill>
                  <a:srgbClr val="1F6B4F"/>
                </a:solidFill>
                <a:latin typeface="Arial" pitchFamily="34" charset="0"/>
                <a:ea typeface="Arial" pitchFamily="34" charset="-122"/>
                <a:cs typeface="Arial" pitchFamily="34" charset="-120"/>
              </a:rPr>
              <a:t>↑ +3.1%</a:t>
            </a:r>
            <a:endParaRPr lang="en-US" sz="1400" dirty="0"/>
          </a:p>
        </p:txBody>
      </p:sp>
      <p:sp>
        <p:nvSpPr>
          <p:cNvPr id="22" name="Text 20"/>
          <p:cNvSpPr txBox="1"/>
          <p:nvPr/>
        </p:nvSpPr>
        <p:spPr>
          <a:xfrm>
            <a:off x="7360920" y="4343400"/>
            <a:ext cx="2194560" cy="292608"/>
          </a:xfrm>
          <a:prstGeom prst="rect">
            <a:avLst/>
          </a:prstGeom>
          <a:noFill/>
          <a:ln/>
        </p:spPr>
        <p:txBody>
          <a:bodyPr wrap="square" lIns="0" tIns="0" rIns="0" bIns="0" rtlCol="0" anchor="ctr"/>
          <a:lstStyle/>
          <a:p>
            <a:pPr indent="0" marL="0">
              <a:buNone/>
            </a:pPr>
            <a:r>
              <a:rPr lang="en-US" sz="1400" dirty="0">
                <a:solidFill>
                  <a:srgbClr val="2A3330"/>
                </a:solidFill>
                <a:latin typeface="Arial" pitchFamily="34" charset="0"/>
                <a:ea typeface="Arial" pitchFamily="34" charset="-122"/>
                <a:cs typeface="Arial" pitchFamily="34" charset="-120"/>
              </a:rPr>
              <a:t>Cash Flow</a:t>
            </a:r>
            <a:endParaRPr lang="en-US" sz="1400" dirty="0"/>
          </a:p>
        </p:txBody>
      </p:sp>
      <p:sp>
        <p:nvSpPr>
          <p:cNvPr id="23" name="Text 21"/>
          <p:cNvSpPr txBox="1"/>
          <p:nvPr/>
        </p:nvSpPr>
        <p:spPr>
          <a:xfrm>
            <a:off x="9555480" y="4343400"/>
            <a:ext cx="1463040" cy="292608"/>
          </a:xfrm>
          <a:prstGeom prst="rect">
            <a:avLst/>
          </a:prstGeom>
          <a:noFill/>
          <a:ln/>
        </p:spPr>
        <p:txBody>
          <a:bodyPr wrap="square" lIns="0" tIns="0" rIns="0" bIns="0" rtlCol="0" anchor="ctr"/>
          <a:lstStyle/>
          <a:p>
            <a:pPr algn="r" indent="0" marL="0">
              <a:buNone/>
            </a:pPr>
            <a:r>
              <a:rPr lang="en-US" sz="1400" b="1" dirty="0">
                <a:solidFill>
                  <a:srgbClr val="1F6B4F"/>
                </a:solidFill>
                <a:latin typeface="Arial" pitchFamily="34" charset="0"/>
                <a:ea typeface="Arial" pitchFamily="34" charset="-122"/>
                <a:cs typeface="Arial" pitchFamily="34" charset="-120"/>
              </a:rPr>
              <a:t>↑ +11.2%</a:t>
            </a:r>
            <a:endParaRPr lang="en-US" sz="1400" dirty="0"/>
          </a:p>
        </p:txBody>
      </p:sp>
      <p:sp>
        <p:nvSpPr>
          <p:cNvPr id="24" name="Shape 22"/>
          <p:cNvSpPr/>
          <p:nvPr/>
        </p:nvSpPr>
        <p:spPr>
          <a:xfrm>
            <a:off x="7360920" y="4709160"/>
            <a:ext cx="3657600" cy="640080"/>
          </a:xfrm>
          <a:prstGeom prst="roundRect">
            <a:avLst>
              <a:gd name="adj" fmla="val 17143"/>
            </a:avLst>
          </a:prstGeom>
          <a:solidFill>
            <a:srgbClr val="E3EDE5"/>
          </a:solidFill>
          <a:ln w="12700">
            <a:solidFill>
              <a:srgbClr val="2E8A67"/>
            </a:solidFill>
            <a:prstDash val="solid"/>
          </a:ln>
        </p:spPr>
      </p:sp>
      <p:sp>
        <p:nvSpPr>
          <p:cNvPr id="25" name="Text 23"/>
          <p:cNvSpPr txBox="1"/>
          <p:nvPr/>
        </p:nvSpPr>
        <p:spPr>
          <a:xfrm>
            <a:off x="7543800" y="4709160"/>
            <a:ext cx="3291840" cy="640080"/>
          </a:xfrm>
          <a:prstGeom prst="rect">
            <a:avLst/>
          </a:prstGeom>
          <a:noFill/>
          <a:ln/>
        </p:spPr>
        <p:txBody>
          <a:bodyPr wrap="square" lIns="0" tIns="0" rIns="0" bIns="0" rtlCol="0" anchor="ctr"/>
          <a:lstStyle/>
          <a:p>
            <a:pPr indent="0" marL="0">
              <a:buNone/>
            </a:pPr>
            <a:r>
              <a:rPr lang="en-US" sz="1200" b="1" dirty="0">
                <a:solidFill>
                  <a:srgbClr val="1F6B4F"/>
                </a:solidFill>
                <a:latin typeface="Arial" pitchFamily="34" charset="0"/>
                <a:ea typeface="Arial" pitchFamily="34" charset="-122"/>
                <a:cs typeface="Arial" pitchFamily="34" charset="-120"/>
              </a:rPr>
              <a:t>✦ Opportunity Detected</a:t>
            </a:r>
            <a:endParaRPr lang="en-US" sz="1200" dirty="0"/>
          </a:p>
          <a:p>
            <a:pPr indent="0" marL="0">
              <a:buNone/>
            </a:pPr>
            <a:r>
              <a:rPr lang="en-US" sz="1100" dirty="0">
                <a:solidFill>
                  <a:srgbClr val="2A3330"/>
                </a:solidFill>
                <a:latin typeface="Arial" pitchFamily="34" charset="0"/>
                <a:ea typeface="Arial" pitchFamily="34" charset="-122"/>
                <a:cs typeface="Arial" pitchFamily="34" charset="-120"/>
              </a:rPr>
              <a:t>Weekday sales are underperforming.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0728655" y="502920"/>
            <a:ext cx="640080" cy="640080"/>
          </a:xfrm>
          <a:prstGeom prst="roundRect">
            <a:avLst>
              <a:gd name="adj" fmla="val 11000"/>
            </a:avLst>
          </a:prstGeom>
          <a:solidFill>
            <a:srgbClr val="161C1A"/>
          </a:solidFill>
          <a:ln w="12700">
            <a:solidFill>
              <a:srgbClr val="161C1A"/>
            </a:solidFill>
            <a:prstDash val="solid"/>
          </a:ln>
        </p:spPr>
      </p:sp>
      <p:sp>
        <p:nvSpPr>
          <p:cNvPr id="3" name="Shape 1"/>
          <p:cNvSpPr/>
          <p:nvPr/>
        </p:nvSpPr>
        <p:spPr>
          <a:xfrm>
            <a:off x="10860512" y="607253"/>
            <a:ext cx="375727" cy="42885"/>
          </a:xfrm>
          <a:prstGeom prst="rect">
            <a:avLst/>
          </a:prstGeom>
          <a:solidFill>
            <a:srgbClr val="3D9472"/>
          </a:solidFill>
          <a:ln w="12700">
            <a:solidFill>
              <a:srgbClr val="3D9472"/>
            </a:solidFill>
            <a:prstDash val="solid"/>
          </a:ln>
        </p:spPr>
      </p:sp>
      <p:sp>
        <p:nvSpPr>
          <p:cNvPr id="4" name="Shape 2"/>
          <p:cNvSpPr/>
          <p:nvPr/>
        </p:nvSpPr>
        <p:spPr>
          <a:xfrm>
            <a:off x="10860512" y="876727"/>
            <a:ext cx="90891" cy="147218"/>
          </a:xfrm>
          <a:prstGeom prst="rect">
            <a:avLst/>
          </a:prstGeom>
          <a:solidFill>
            <a:srgbClr val="7E857E"/>
          </a:solidFill>
          <a:ln w="12700">
            <a:solidFill>
              <a:srgbClr val="7E857E"/>
            </a:solidFill>
            <a:prstDash val="solid"/>
          </a:ln>
        </p:spPr>
      </p:sp>
      <p:sp>
        <p:nvSpPr>
          <p:cNvPr id="5" name="Shape 3"/>
          <p:cNvSpPr/>
          <p:nvPr/>
        </p:nvSpPr>
        <p:spPr>
          <a:xfrm>
            <a:off x="11007730" y="794796"/>
            <a:ext cx="89611" cy="229149"/>
          </a:xfrm>
          <a:prstGeom prst="rect">
            <a:avLst/>
          </a:prstGeom>
          <a:solidFill>
            <a:srgbClr val="AFBAB2"/>
          </a:solidFill>
          <a:ln w="12700">
            <a:solidFill>
              <a:srgbClr val="AFBAB2"/>
            </a:solidFill>
            <a:prstDash val="solid"/>
          </a:ln>
        </p:spPr>
      </p:sp>
      <p:sp>
        <p:nvSpPr>
          <p:cNvPr id="6" name="Shape 4"/>
          <p:cNvSpPr/>
          <p:nvPr/>
        </p:nvSpPr>
        <p:spPr>
          <a:xfrm>
            <a:off x="11153028" y="675742"/>
            <a:ext cx="89611" cy="348204"/>
          </a:xfrm>
          <a:prstGeom prst="rect">
            <a:avLst/>
          </a:prstGeom>
          <a:solidFill>
            <a:srgbClr val="E3EEE6"/>
          </a:solidFill>
          <a:ln w="12700">
            <a:solidFill>
              <a:srgbClr val="E3EEE6"/>
            </a:solidFill>
            <a:prstDash val="solid"/>
          </a:ln>
        </p:spPr>
      </p:sp>
      <p:sp>
        <p:nvSpPr>
          <p:cNvPr id="7" name="Text 5"/>
          <p:cNvSpPr txBox="1"/>
          <p:nvPr/>
        </p:nvSpPr>
        <p:spPr>
          <a:xfrm>
            <a:off x="822960" y="685800"/>
            <a:ext cx="7315200" cy="274320"/>
          </a:xfrm>
          <a:prstGeom prst="rect">
            <a:avLst/>
          </a:prstGeom>
          <a:noFill/>
          <a:ln/>
        </p:spPr>
        <p:txBody>
          <a:bodyPr wrap="square" lIns="0" tIns="0" rIns="0" bIns="0" rtlCol="0" anchor="ctr"/>
          <a:lstStyle/>
          <a:p>
            <a:pPr indent="0" marL="0">
              <a:buNone/>
            </a:pPr>
            <a:r>
              <a:rPr lang="en-US" sz="1200" b="1" spc="400" kern="0" dirty="0">
                <a:solidFill>
                  <a:srgbClr val="1F6B4F"/>
                </a:solidFill>
                <a:latin typeface="Arial" pitchFamily="34" charset="0"/>
                <a:ea typeface="Arial" pitchFamily="34" charset="-122"/>
                <a:cs typeface="Arial" pitchFamily="34" charset="-120"/>
              </a:rPr>
              <a:t>OUR TEAM</a:t>
            </a:r>
            <a:endParaRPr lang="en-US" sz="1200" dirty="0"/>
          </a:p>
        </p:txBody>
      </p:sp>
      <p:sp>
        <p:nvSpPr>
          <p:cNvPr id="8" name="Text 6"/>
          <p:cNvSpPr txBox="1"/>
          <p:nvPr/>
        </p:nvSpPr>
        <p:spPr>
          <a:xfrm>
            <a:off x="822960" y="1005840"/>
            <a:ext cx="9448495" cy="731520"/>
          </a:xfrm>
          <a:prstGeom prst="rect">
            <a:avLst/>
          </a:prstGeom>
          <a:noFill/>
          <a:ln/>
        </p:spPr>
        <p:txBody>
          <a:bodyPr wrap="square" lIns="0" tIns="0" rIns="0" bIns="0" rtlCol="0" anchor="t"/>
          <a:lstStyle/>
          <a:p>
            <a:pPr indent="0" marL="0">
              <a:buNone/>
            </a:pPr>
            <a:r>
              <a:rPr lang="en-US" sz="3600" b="1" dirty="0">
                <a:solidFill>
                  <a:srgbClr val="161C19"/>
                </a:solidFill>
                <a:latin typeface="Arial" pitchFamily="34" charset="0"/>
                <a:ea typeface="Arial" pitchFamily="34" charset="-122"/>
                <a:cs typeface="Arial" pitchFamily="34" charset="-120"/>
              </a:rPr>
              <a:t>Who owns what</a:t>
            </a:r>
            <a:endParaRPr lang="en-US" sz="3600" dirty="0"/>
          </a:p>
        </p:txBody>
      </p:sp>
      <p:sp>
        <p:nvSpPr>
          <p:cNvPr id="9" name="Shape 7"/>
          <p:cNvSpPr/>
          <p:nvPr/>
        </p:nvSpPr>
        <p:spPr>
          <a:xfrm>
            <a:off x="822960" y="2240280"/>
            <a:ext cx="2430704" cy="2514600"/>
          </a:xfrm>
          <a:prstGeom prst="roundRect">
            <a:avLst>
              <a:gd name="adj" fmla="val 4514"/>
            </a:avLst>
          </a:prstGeom>
          <a:solidFill>
            <a:srgbClr val="F3F8F3"/>
          </a:solidFill>
          <a:ln w="9525">
            <a:solidFill>
              <a:srgbClr val="D6DCD7"/>
            </a:solidFill>
            <a:prstDash val="solid"/>
          </a:ln>
        </p:spPr>
      </p:sp>
      <p:sp>
        <p:nvSpPr>
          <p:cNvPr id="10" name="Text 8"/>
          <p:cNvSpPr txBox="1"/>
          <p:nvPr/>
        </p:nvSpPr>
        <p:spPr>
          <a:xfrm>
            <a:off x="1097280" y="2514600"/>
            <a:ext cx="1973504" cy="274320"/>
          </a:xfrm>
          <a:prstGeom prst="rect">
            <a:avLst/>
          </a:prstGeom>
          <a:noFill/>
          <a:ln/>
        </p:spPr>
        <p:txBody>
          <a:bodyPr wrap="square" lIns="0" tIns="0" rIns="0" bIns="0" rtlCol="0" anchor="ctr"/>
          <a:lstStyle/>
          <a:p>
            <a:pPr indent="0" marL="0">
              <a:buNone/>
            </a:pPr>
            <a:r>
              <a:rPr lang="en-US" sz="1050" b="1" spc="200" kern="0" dirty="0">
                <a:solidFill>
                  <a:srgbClr val="1F6B4F"/>
                </a:solidFill>
                <a:latin typeface="Arial" pitchFamily="34" charset="0"/>
                <a:ea typeface="Arial" pitchFamily="34" charset="-122"/>
                <a:cs typeface="Arial" pitchFamily="34" charset="-120"/>
              </a:rPr>
              <a:t>MODEL TRAINING</a:t>
            </a:r>
            <a:endParaRPr lang="en-US" sz="1050" dirty="0"/>
          </a:p>
        </p:txBody>
      </p:sp>
      <p:sp>
        <p:nvSpPr>
          <p:cNvPr id="11" name="Text 9"/>
          <p:cNvSpPr txBox="1"/>
          <p:nvPr/>
        </p:nvSpPr>
        <p:spPr>
          <a:xfrm>
            <a:off x="1097280" y="2880360"/>
            <a:ext cx="1973504" cy="411480"/>
          </a:xfrm>
          <a:prstGeom prst="rect">
            <a:avLst/>
          </a:prstGeom>
          <a:noFill/>
          <a:ln/>
        </p:spPr>
        <p:txBody>
          <a:bodyPr wrap="square" lIns="0" tIns="0" rIns="0" bIns="0" rtlCol="0" anchor="ctr"/>
          <a:lstStyle/>
          <a:p>
            <a:pPr indent="0" marL="0">
              <a:buNone/>
            </a:pPr>
            <a:r>
              <a:rPr lang="en-US" sz="1700" b="1" dirty="0">
                <a:solidFill>
                  <a:srgbClr val="161C19"/>
                </a:solidFill>
                <a:latin typeface="Arial" pitchFamily="34" charset="0"/>
                <a:ea typeface="Arial" pitchFamily="34" charset="-122"/>
                <a:cs typeface="Arial" pitchFamily="34" charset="-120"/>
              </a:rPr>
              <a:t>Aaryaman Chopra</a:t>
            </a:r>
            <a:endParaRPr lang="en-US" sz="1700" dirty="0"/>
          </a:p>
        </p:txBody>
      </p:sp>
      <p:sp>
        <p:nvSpPr>
          <p:cNvPr id="12" name="Text 10"/>
          <p:cNvSpPr txBox="1"/>
          <p:nvPr/>
        </p:nvSpPr>
        <p:spPr>
          <a:xfrm>
            <a:off x="1097280" y="3429000"/>
            <a:ext cx="1882064" cy="1097280"/>
          </a:xfrm>
          <a:prstGeom prst="rect">
            <a:avLst/>
          </a:prstGeom>
          <a:noFill/>
          <a:ln/>
        </p:spPr>
        <p:txBody>
          <a:bodyPr wrap="square" lIns="0" tIns="0" rIns="0" bIns="0" rtlCol="0" anchor="t"/>
          <a:lstStyle/>
          <a:p>
            <a:pPr indent="0" marL="0">
              <a:buNone/>
            </a:pPr>
            <a:r>
              <a:rPr lang="en-US" sz="1300" dirty="0">
                <a:solidFill>
                  <a:srgbClr val="4E5955"/>
                </a:solidFill>
                <a:latin typeface="Arial" pitchFamily="34" charset="0"/>
                <a:ea typeface="Arial" pitchFamily="34" charset="-122"/>
                <a:cs typeface="Arial" pitchFamily="34" charset="-120"/>
              </a:rPr>
              <a:t>Trains the time-series neural network that produces forecasts.</a:t>
            </a:r>
            <a:endParaRPr lang="en-US" sz="1300" dirty="0"/>
          </a:p>
        </p:txBody>
      </p:sp>
      <p:sp>
        <p:nvSpPr>
          <p:cNvPr id="13" name="Shape 11"/>
          <p:cNvSpPr/>
          <p:nvPr/>
        </p:nvSpPr>
        <p:spPr>
          <a:xfrm>
            <a:off x="3527984" y="2240280"/>
            <a:ext cx="2430704" cy="2514600"/>
          </a:xfrm>
          <a:prstGeom prst="roundRect">
            <a:avLst>
              <a:gd name="adj" fmla="val 4514"/>
            </a:avLst>
          </a:prstGeom>
          <a:solidFill>
            <a:srgbClr val="F3F8F3"/>
          </a:solidFill>
          <a:ln w="9525">
            <a:solidFill>
              <a:srgbClr val="D6DCD7"/>
            </a:solidFill>
            <a:prstDash val="solid"/>
          </a:ln>
        </p:spPr>
      </p:sp>
      <p:sp>
        <p:nvSpPr>
          <p:cNvPr id="14" name="Text 12"/>
          <p:cNvSpPr txBox="1"/>
          <p:nvPr/>
        </p:nvSpPr>
        <p:spPr>
          <a:xfrm>
            <a:off x="3802304" y="2514600"/>
            <a:ext cx="1973504" cy="274320"/>
          </a:xfrm>
          <a:prstGeom prst="rect">
            <a:avLst/>
          </a:prstGeom>
          <a:noFill/>
          <a:ln/>
        </p:spPr>
        <p:txBody>
          <a:bodyPr wrap="square" lIns="0" tIns="0" rIns="0" bIns="0" rtlCol="0" anchor="ctr"/>
          <a:lstStyle/>
          <a:p>
            <a:pPr indent="0" marL="0">
              <a:buNone/>
            </a:pPr>
            <a:r>
              <a:rPr lang="en-US" sz="1050" b="1" spc="200" kern="0" dirty="0">
                <a:solidFill>
                  <a:srgbClr val="1F6B4F"/>
                </a:solidFill>
                <a:latin typeface="Arial" pitchFamily="34" charset="0"/>
                <a:ea typeface="Arial" pitchFamily="34" charset="-122"/>
                <a:cs typeface="Arial" pitchFamily="34" charset="-120"/>
              </a:rPr>
              <a:t>FINANCIAL DATA</a:t>
            </a:r>
            <a:endParaRPr lang="en-US" sz="1050" dirty="0"/>
          </a:p>
        </p:txBody>
      </p:sp>
      <p:sp>
        <p:nvSpPr>
          <p:cNvPr id="15" name="Text 13"/>
          <p:cNvSpPr txBox="1"/>
          <p:nvPr/>
        </p:nvSpPr>
        <p:spPr>
          <a:xfrm>
            <a:off x="3802304" y="2880360"/>
            <a:ext cx="1973504" cy="411480"/>
          </a:xfrm>
          <a:prstGeom prst="rect">
            <a:avLst/>
          </a:prstGeom>
          <a:noFill/>
          <a:ln/>
        </p:spPr>
        <p:txBody>
          <a:bodyPr wrap="square" lIns="0" tIns="0" rIns="0" bIns="0" rtlCol="0" anchor="ctr"/>
          <a:lstStyle/>
          <a:p>
            <a:pPr indent="0" marL="0">
              <a:buNone/>
            </a:pPr>
            <a:r>
              <a:rPr lang="en-US" sz="1700" b="1" dirty="0">
                <a:solidFill>
                  <a:srgbClr val="161C19"/>
                </a:solidFill>
                <a:latin typeface="Arial" pitchFamily="34" charset="0"/>
                <a:ea typeface="Arial" pitchFamily="34" charset="-122"/>
                <a:cs typeface="Arial" pitchFamily="34" charset="-120"/>
              </a:rPr>
              <a:t>Kaiyaan Faisal</a:t>
            </a:r>
            <a:endParaRPr lang="en-US" sz="1700" dirty="0"/>
          </a:p>
        </p:txBody>
      </p:sp>
      <p:sp>
        <p:nvSpPr>
          <p:cNvPr id="16" name="Text 14"/>
          <p:cNvSpPr txBox="1"/>
          <p:nvPr/>
        </p:nvSpPr>
        <p:spPr>
          <a:xfrm>
            <a:off x="3802304" y="3429000"/>
            <a:ext cx="1882064" cy="1097280"/>
          </a:xfrm>
          <a:prstGeom prst="rect">
            <a:avLst/>
          </a:prstGeom>
          <a:noFill/>
          <a:ln/>
        </p:spPr>
        <p:txBody>
          <a:bodyPr wrap="square" lIns="0" tIns="0" rIns="0" bIns="0" rtlCol="0" anchor="t"/>
          <a:lstStyle/>
          <a:p>
            <a:pPr indent="0" marL="0">
              <a:buNone/>
            </a:pPr>
            <a:r>
              <a:rPr lang="en-US" sz="1300" dirty="0">
                <a:solidFill>
                  <a:srgbClr val="4E5955"/>
                </a:solidFill>
                <a:latin typeface="Arial" pitchFamily="34" charset="0"/>
                <a:ea typeface="Arial" pitchFamily="34" charset="-122"/>
                <a:cs typeface="Arial" pitchFamily="34" charset="-120"/>
              </a:rPr>
              <a:t>Finds, collects and prepares the data the model learns from.</a:t>
            </a:r>
            <a:endParaRPr lang="en-US" sz="1300" dirty="0"/>
          </a:p>
        </p:txBody>
      </p:sp>
      <p:sp>
        <p:nvSpPr>
          <p:cNvPr id="17" name="Shape 15"/>
          <p:cNvSpPr/>
          <p:nvPr/>
        </p:nvSpPr>
        <p:spPr>
          <a:xfrm>
            <a:off x="6233008" y="2240280"/>
            <a:ext cx="2430704" cy="2514600"/>
          </a:xfrm>
          <a:prstGeom prst="roundRect">
            <a:avLst>
              <a:gd name="adj" fmla="val 4514"/>
            </a:avLst>
          </a:prstGeom>
          <a:solidFill>
            <a:srgbClr val="F3F8F3"/>
          </a:solidFill>
          <a:ln w="9525">
            <a:solidFill>
              <a:srgbClr val="D6DCD7"/>
            </a:solidFill>
            <a:prstDash val="solid"/>
          </a:ln>
        </p:spPr>
      </p:sp>
      <p:sp>
        <p:nvSpPr>
          <p:cNvPr id="18" name="Text 16"/>
          <p:cNvSpPr txBox="1"/>
          <p:nvPr/>
        </p:nvSpPr>
        <p:spPr>
          <a:xfrm>
            <a:off x="6507328" y="2514600"/>
            <a:ext cx="1973504" cy="274320"/>
          </a:xfrm>
          <a:prstGeom prst="rect">
            <a:avLst/>
          </a:prstGeom>
          <a:noFill/>
          <a:ln/>
        </p:spPr>
        <p:txBody>
          <a:bodyPr wrap="square" lIns="0" tIns="0" rIns="0" bIns="0" rtlCol="0" anchor="ctr"/>
          <a:lstStyle/>
          <a:p>
            <a:pPr indent="0" marL="0">
              <a:buNone/>
            </a:pPr>
            <a:r>
              <a:rPr lang="en-US" sz="1050" b="1" spc="200" kern="0" dirty="0">
                <a:solidFill>
                  <a:srgbClr val="1F6B4F"/>
                </a:solidFill>
                <a:latin typeface="Arial" pitchFamily="34" charset="0"/>
                <a:ea typeface="Arial" pitchFamily="34" charset="-122"/>
                <a:cs typeface="Arial" pitchFamily="34" charset="-120"/>
              </a:rPr>
              <a:t>FRONTEND DESIGN</a:t>
            </a:r>
            <a:endParaRPr lang="en-US" sz="1050" dirty="0"/>
          </a:p>
        </p:txBody>
      </p:sp>
      <p:sp>
        <p:nvSpPr>
          <p:cNvPr id="19" name="Text 17"/>
          <p:cNvSpPr txBox="1"/>
          <p:nvPr/>
        </p:nvSpPr>
        <p:spPr>
          <a:xfrm>
            <a:off x="6507328" y="2880360"/>
            <a:ext cx="1973504" cy="411480"/>
          </a:xfrm>
          <a:prstGeom prst="rect">
            <a:avLst/>
          </a:prstGeom>
          <a:noFill/>
          <a:ln/>
        </p:spPr>
        <p:txBody>
          <a:bodyPr wrap="square" lIns="0" tIns="0" rIns="0" bIns="0" rtlCol="0" anchor="ctr"/>
          <a:lstStyle/>
          <a:p>
            <a:pPr indent="0" marL="0">
              <a:buNone/>
            </a:pPr>
            <a:r>
              <a:rPr lang="en-US" sz="1700" b="1" dirty="0">
                <a:solidFill>
                  <a:srgbClr val="161C19"/>
                </a:solidFill>
                <a:latin typeface="Arial" pitchFamily="34" charset="0"/>
                <a:ea typeface="Arial" pitchFamily="34" charset="-122"/>
                <a:cs typeface="Arial" pitchFamily="34" charset="-120"/>
              </a:rPr>
              <a:t>Palash Desarda</a:t>
            </a:r>
            <a:endParaRPr lang="en-US" sz="1700" dirty="0"/>
          </a:p>
        </p:txBody>
      </p:sp>
      <p:sp>
        <p:nvSpPr>
          <p:cNvPr id="20" name="Text 18"/>
          <p:cNvSpPr txBox="1"/>
          <p:nvPr/>
        </p:nvSpPr>
        <p:spPr>
          <a:xfrm>
            <a:off x="6507328" y="3429000"/>
            <a:ext cx="1882064" cy="1097280"/>
          </a:xfrm>
          <a:prstGeom prst="rect">
            <a:avLst/>
          </a:prstGeom>
          <a:noFill/>
          <a:ln/>
        </p:spPr>
        <p:txBody>
          <a:bodyPr wrap="square" lIns="0" tIns="0" rIns="0" bIns="0" rtlCol="0" anchor="t"/>
          <a:lstStyle/>
          <a:p>
            <a:pPr indent="0" marL="0">
              <a:buNone/>
            </a:pPr>
            <a:r>
              <a:rPr lang="en-US" sz="1300" dirty="0">
                <a:solidFill>
                  <a:srgbClr val="4E5955"/>
                </a:solidFill>
                <a:latin typeface="Arial" pitchFamily="34" charset="0"/>
                <a:ea typeface="Arial" pitchFamily="34" charset="-122"/>
                <a:cs typeface="Arial" pitchFamily="34" charset="-120"/>
              </a:rPr>
              <a:t>Designs and builds the app: landing page, login and dashboard.</a:t>
            </a:r>
            <a:endParaRPr lang="en-US" sz="1300" dirty="0"/>
          </a:p>
        </p:txBody>
      </p:sp>
      <p:sp>
        <p:nvSpPr>
          <p:cNvPr id="21" name="Shape 19"/>
          <p:cNvSpPr/>
          <p:nvPr/>
        </p:nvSpPr>
        <p:spPr>
          <a:xfrm>
            <a:off x="8938031" y="2240280"/>
            <a:ext cx="2430704" cy="2514600"/>
          </a:xfrm>
          <a:prstGeom prst="roundRect">
            <a:avLst>
              <a:gd name="adj" fmla="val 4514"/>
            </a:avLst>
          </a:prstGeom>
          <a:solidFill>
            <a:srgbClr val="F3F8F3"/>
          </a:solidFill>
          <a:ln w="9525">
            <a:solidFill>
              <a:srgbClr val="D6DCD7"/>
            </a:solidFill>
            <a:prstDash val="solid"/>
          </a:ln>
        </p:spPr>
      </p:sp>
      <p:sp>
        <p:nvSpPr>
          <p:cNvPr id="22" name="Text 20"/>
          <p:cNvSpPr txBox="1"/>
          <p:nvPr/>
        </p:nvSpPr>
        <p:spPr>
          <a:xfrm>
            <a:off x="9212351" y="2514600"/>
            <a:ext cx="1973504" cy="274320"/>
          </a:xfrm>
          <a:prstGeom prst="rect">
            <a:avLst/>
          </a:prstGeom>
          <a:noFill/>
          <a:ln/>
        </p:spPr>
        <p:txBody>
          <a:bodyPr wrap="square" lIns="0" tIns="0" rIns="0" bIns="0" rtlCol="0" anchor="ctr"/>
          <a:lstStyle/>
          <a:p>
            <a:pPr indent="0" marL="0">
              <a:buNone/>
            </a:pPr>
            <a:r>
              <a:rPr lang="en-US" sz="1050" b="1" spc="200" kern="0" dirty="0">
                <a:solidFill>
                  <a:srgbClr val="1F6B4F"/>
                </a:solidFill>
                <a:latin typeface="Arial" pitchFamily="34" charset="0"/>
                <a:ea typeface="Arial" pitchFamily="34" charset="-122"/>
                <a:cs typeface="Arial" pitchFamily="34" charset="-120"/>
              </a:rPr>
              <a:t>BACKEND</a:t>
            </a:r>
            <a:endParaRPr lang="en-US" sz="1050" dirty="0"/>
          </a:p>
        </p:txBody>
      </p:sp>
      <p:sp>
        <p:nvSpPr>
          <p:cNvPr id="23" name="Text 21"/>
          <p:cNvSpPr txBox="1"/>
          <p:nvPr/>
        </p:nvSpPr>
        <p:spPr>
          <a:xfrm>
            <a:off x="9212351" y="2880360"/>
            <a:ext cx="1973504" cy="411480"/>
          </a:xfrm>
          <a:prstGeom prst="rect">
            <a:avLst/>
          </a:prstGeom>
          <a:noFill/>
          <a:ln/>
        </p:spPr>
        <p:txBody>
          <a:bodyPr wrap="square" lIns="0" tIns="0" rIns="0" bIns="0" rtlCol="0" anchor="ctr"/>
          <a:lstStyle/>
          <a:p>
            <a:pPr indent="0" marL="0">
              <a:buNone/>
            </a:pPr>
            <a:r>
              <a:rPr lang="en-US" sz="1700" b="1" dirty="0">
                <a:solidFill>
                  <a:srgbClr val="161C19"/>
                </a:solidFill>
                <a:latin typeface="Arial" pitchFamily="34" charset="0"/>
                <a:ea typeface="Arial" pitchFamily="34" charset="-122"/>
                <a:cs typeface="Arial" pitchFamily="34" charset="-120"/>
              </a:rPr>
              <a:t>Ethan de Guzman</a:t>
            </a:r>
            <a:endParaRPr lang="en-US" sz="1700" dirty="0"/>
          </a:p>
        </p:txBody>
      </p:sp>
      <p:sp>
        <p:nvSpPr>
          <p:cNvPr id="24" name="Text 22"/>
          <p:cNvSpPr txBox="1"/>
          <p:nvPr/>
        </p:nvSpPr>
        <p:spPr>
          <a:xfrm>
            <a:off x="9212351" y="3429000"/>
            <a:ext cx="1882064" cy="1097280"/>
          </a:xfrm>
          <a:prstGeom prst="rect">
            <a:avLst/>
          </a:prstGeom>
          <a:noFill/>
          <a:ln/>
        </p:spPr>
        <p:txBody>
          <a:bodyPr wrap="square" lIns="0" tIns="0" rIns="0" bIns="0" rtlCol="0" anchor="t"/>
          <a:lstStyle/>
          <a:p>
            <a:pPr indent="0" marL="0">
              <a:buNone/>
            </a:pPr>
            <a:r>
              <a:rPr lang="en-US" sz="1300" dirty="0">
                <a:solidFill>
                  <a:srgbClr val="4E5955"/>
                </a:solidFill>
                <a:latin typeface="Arial" pitchFamily="34" charset="0"/>
                <a:ea typeface="Arial" pitchFamily="34" charset="-122"/>
                <a:cs typeface="Arial" pitchFamily="34" charset="-120"/>
              </a:rPr>
              <a:t>Owns Supabase: authentication, database and the API.</a:t>
            </a:r>
            <a:endParaRPr lang="en-US" sz="1300" dirty="0"/>
          </a:p>
        </p:txBody>
      </p:sp>
      <p:sp>
        <p:nvSpPr>
          <p:cNvPr id="25" name="Text 23"/>
          <p:cNvSpPr txBox="1"/>
          <p:nvPr/>
        </p:nvSpPr>
        <p:spPr>
          <a:xfrm>
            <a:off x="822960" y="5257800"/>
            <a:ext cx="10545775" cy="457200"/>
          </a:xfrm>
          <a:prstGeom prst="rect">
            <a:avLst/>
          </a:prstGeom>
          <a:noFill/>
          <a:ln/>
        </p:spPr>
        <p:txBody>
          <a:bodyPr wrap="square" lIns="0" tIns="0" rIns="0" bIns="0" rtlCol="0" anchor="ctr"/>
          <a:lstStyle/>
          <a:p>
            <a:pPr algn="ctr" indent="0" marL="0">
              <a:buNone/>
            </a:pPr>
            <a:r>
              <a:rPr lang="en-US" sz="1700" b="1" dirty="0">
                <a:solidFill>
                  <a:srgbClr val="1F6B4F"/>
                </a:solidFill>
                <a:latin typeface="Arial" pitchFamily="34" charset="0"/>
                <a:ea typeface="Arial" pitchFamily="34" charset="-122"/>
                <a:cs typeface="Arial" pitchFamily="34" charset="-120"/>
              </a:rPr>
              <a:t>Everyone </a:t>
            </a:r>
            <a:pPr algn="ctr" indent="0" marL="0">
              <a:buNone/>
            </a:pPr>
            <a:r>
              <a:rPr lang="en-US" sz="1700" b="1" dirty="0">
                <a:solidFill>
                  <a:srgbClr val="2A3330"/>
                </a:solidFill>
                <a:latin typeface="Arial" pitchFamily="34" charset="0"/>
                <a:ea typeface="Arial" pitchFamily="34" charset="-122"/>
                <a:cs typeface="Arial" pitchFamily="34" charset="-120"/>
              </a:rPr>
              <a:t>shares ownership of the GitHub repository.</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10728655" y="502920"/>
            <a:ext cx="640080" cy="640080"/>
          </a:xfrm>
          <a:prstGeom prst="roundRect">
            <a:avLst>
              <a:gd name="adj" fmla="val 11000"/>
            </a:avLst>
          </a:prstGeom>
          <a:solidFill>
            <a:srgbClr val="161C1A"/>
          </a:solidFill>
          <a:ln w="12700">
            <a:solidFill>
              <a:srgbClr val="161C1A"/>
            </a:solidFill>
            <a:prstDash val="solid"/>
          </a:ln>
        </p:spPr>
      </p:sp>
      <p:sp>
        <p:nvSpPr>
          <p:cNvPr id="3" name="Shape 1"/>
          <p:cNvSpPr/>
          <p:nvPr/>
        </p:nvSpPr>
        <p:spPr>
          <a:xfrm>
            <a:off x="10860512" y="607253"/>
            <a:ext cx="375727" cy="42885"/>
          </a:xfrm>
          <a:prstGeom prst="rect">
            <a:avLst/>
          </a:prstGeom>
          <a:solidFill>
            <a:srgbClr val="3D9472"/>
          </a:solidFill>
          <a:ln w="12700">
            <a:solidFill>
              <a:srgbClr val="3D9472"/>
            </a:solidFill>
            <a:prstDash val="solid"/>
          </a:ln>
        </p:spPr>
      </p:sp>
      <p:sp>
        <p:nvSpPr>
          <p:cNvPr id="4" name="Shape 2"/>
          <p:cNvSpPr/>
          <p:nvPr/>
        </p:nvSpPr>
        <p:spPr>
          <a:xfrm>
            <a:off x="10860512" y="876727"/>
            <a:ext cx="90891" cy="147218"/>
          </a:xfrm>
          <a:prstGeom prst="rect">
            <a:avLst/>
          </a:prstGeom>
          <a:solidFill>
            <a:srgbClr val="7E857E"/>
          </a:solidFill>
          <a:ln w="12700">
            <a:solidFill>
              <a:srgbClr val="7E857E"/>
            </a:solidFill>
            <a:prstDash val="solid"/>
          </a:ln>
        </p:spPr>
      </p:sp>
      <p:sp>
        <p:nvSpPr>
          <p:cNvPr id="5" name="Shape 3"/>
          <p:cNvSpPr/>
          <p:nvPr/>
        </p:nvSpPr>
        <p:spPr>
          <a:xfrm>
            <a:off x="11007730" y="794796"/>
            <a:ext cx="89611" cy="229149"/>
          </a:xfrm>
          <a:prstGeom prst="rect">
            <a:avLst/>
          </a:prstGeom>
          <a:solidFill>
            <a:srgbClr val="AFBAB2"/>
          </a:solidFill>
          <a:ln w="12700">
            <a:solidFill>
              <a:srgbClr val="AFBAB2"/>
            </a:solidFill>
            <a:prstDash val="solid"/>
          </a:ln>
        </p:spPr>
      </p:sp>
      <p:sp>
        <p:nvSpPr>
          <p:cNvPr id="6" name="Shape 4"/>
          <p:cNvSpPr/>
          <p:nvPr/>
        </p:nvSpPr>
        <p:spPr>
          <a:xfrm>
            <a:off x="11153028" y="675742"/>
            <a:ext cx="89611" cy="348204"/>
          </a:xfrm>
          <a:prstGeom prst="rect">
            <a:avLst/>
          </a:prstGeom>
          <a:solidFill>
            <a:srgbClr val="E3EEE6"/>
          </a:solidFill>
          <a:ln w="12700">
            <a:solidFill>
              <a:srgbClr val="E3EEE6"/>
            </a:solidFill>
            <a:prstDash val="solid"/>
          </a:ln>
        </p:spPr>
      </p:sp>
      <p:sp>
        <p:nvSpPr>
          <p:cNvPr id="7" name="Text 5"/>
          <p:cNvSpPr txBox="1"/>
          <p:nvPr/>
        </p:nvSpPr>
        <p:spPr>
          <a:xfrm>
            <a:off x="822960" y="685800"/>
            <a:ext cx="7315200" cy="274320"/>
          </a:xfrm>
          <a:prstGeom prst="rect">
            <a:avLst/>
          </a:prstGeom>
          <a:noFill/>
          <a:ln/>
        </p:spPr>
        <p:txBody>
          <a:bodyPr wrap="square" lIns="0" tIns="0" rIns="0" bIns="0" rtlCol="0" anchor="ctr"/>
          <a:lstStyle/>
          <a:p>
            <a:pPr indent="0" marL="0">
              <a:buNone/>
            </a:pPr>
            <a:r>
              <a:rPr lang="en-US" sz="1200" b="1" spc="400" kern="0" dirty="0">
                <a:solidFill>
                  <a:srgbClr val="1F6B4F"/>
                </a:solidFill>
                <a:latin typeface="Arial" pitchFamily="34" charset="0"/>
                <a:ea typeface="Arial" pitchFamily="34" charset="-122"/>
                <a:cs typeface="Arial" pitchFamily="34" charset="-120"/>
              </a:rPr>
              <a:t>PROGRESS</a:t>
            </a:r>
            <a:endParaRPr lang="en-US" sz="1200" dirty="0"/>
          </a:p>
        </p:txBody>
      </p:sp>
      <p:sp>
        <p:nvSpPr>
          <p:cNvPr id="8" name="Text 6"/>
          <p:cNvSpPr txBox="1"/>
          <p:nvPr/>
        </p:nvSpPr>
        <p:spPr>
          <a:xfrm>
            <a:off x="822960" y="1005840"/>
            <a:ext cx="9448495" cy="731520"/>
          </a:xfrm>
          <a:prstGeom prst="rect">
            <a:avLst/>
          </a:prstGeom>
          <a:noFill/>
          <a:ln/>
        </p:spPr>
        <p:txBody>
          <a:bodyPr wrap="square" lIns="0" tIns="0" rIns="0" bIns="0" rtlCol="0" anchor="t"/>
          <a:lstStyle/>
          <a:p>
            <a:pPr indent="0" marL="0">
              <a:buNone/>
            </a:pPr>
            <a:r>
              <a:rPr lang="en-US" sz="3600" b="1" dirty="0">
                <a:solidFill>
                  <a:srgbClr val="161C19"/>
                </a:solidFill>
                <a:latin typeface="Arial" pitchFamily="34" charset="0"/>
                <a:ea typeface="Arial" pitchFamily="34" charset="-122"/>
                <a:cs typeface="Arial" pitchFamily="34" charset="-120"/>
              </a:rPr>
              <a:t>What we accomplished</a:t>
            </a:r>
            <a:endParaRPr lang="en-US" sz="3600" dirty="0"/>
          </a:p>
        </p:txBody>
      </p:sp>
      <p:sp>
        <p:nvSpPr>
          <p:cNvPr id="9" name="Shape 7"/>
          <p:cNvSpPr/>
          <p:nvPr/>
        </p:nvSpPr>
        <p:spPr>
          <a:xfrm>
            <a:off x="822960" y="2157984"/>
            <a:ext cx="292608" cy="292608"/>
          </a:xfrm>
          <a:prstGeom prst="ellipse">
            <a:avLst/>
          </a:prstGeom>
          <a:solidFill>
            <a:srgbClr val="E3EDE5"/>
          </a:solidFill>
          <a:ln w="12700">
            <a:solidFill>
              <a:srgbClr val="1F6B4F"/>
            </a:solidFill>
            <a:prstDash val="solid"/>
          </a:ln>
        </p:spPr>
      </p:sp>
      <p:sp>
        <p:nvSpPr>
          <p:cNvPr id="10" name="Text 8"/>
          <p:cNvSpPr txBox="1"/>
          <p:nvPr/>
        </p:nvSpPr>
        <p:spPr>
          <a:xfrm>
            <a:off x="822960" y="2157984"/>
            <a:ext cx="292608" cy="292608"/>
          </a:xfrm>
          <a:prstGeom prst="rect">
            <a:avLst/>
          </a:prstGeom>
          <a:noFill/>
          <a:ln/>
        </p:spPr>
        <p:txBody>
          <a:bodyPr wrap="square" lIns="0" tIns="0" rIns="0" bIns="0" rtlCol="0" anchor="ctr"/>
          <a:lstStyle/>
          <a:p>
            <a:pPr algn="ctr" indent="0" marL="0">
              <a:buNone/>
            </a:pPr>
            <a:r>
              <a:rPr lang="en-US" sz="1100" b="1" dirty="0">
                <a:solidFill>
                  <a:srgbClr val="1F6B4F"/>
                </a:solidFill>
                <a:latin typeface="Arial" pitchFamily="34" charset="0"/>
                <a:ea typeface="Arial" pitchFamily="34" charset="-122"/>
                <a:cs typeface="Arial" pitchFamily="34" charset="-120"/>
              </a:rPr>
              <a:t>✓</a:t>
            </a:r>
            <a:endParaRPr lang="en-US" sz="1100" dirty="0"/>
          </a:p>
        </p:txBody>
      </p:sp>
      <p:sp>
        <p:nvSpPr>
          <p:cNvPr id="11" name="Text 9"/>
          <p:cNvSpPr txBox="1"/>
          <p:nvPr/>
        </p:nvSpPr>
        <p:spPr>
          <a:xfrm>
            <a:off x="1325880" y="2103120"/>
            <a:ext cx="4572000" cy="530352"/>
          </a:xfrm>
          <a:prstGeom prst="rect">
            <a:avLst/>
          </a:prstGeom>
          <a:noFill/>
          <a:ln/>
        </p:spPr>
        <p:txBody>
          <a:bodyPr wrap="square" lIns="0" tIns="0" rIns="0" bIns="0" rtlCol="0" anchor="t"/>
          <a:lstStyle/>
          <a:p>
            <a:pPr indent="0" marL="0">
              <a:buNone/>
            </a:pPr>
            <a:r>
              <a:rPr lang="en-US" sz="1500" b="1" dirty="0">
                <a:solidFill>
                  <a:srgbClr val="161C19"/>
                </a:solidFill>
                <a:latin typeface="Arial" pitchFamily="34" charset="0"/>
                <a:ea typeface="Arial" pitchFamily="34" charset="-122"/>
                <a:cs typeface="Arial" pitchFamily="34" charset="-120"/>
              </a:rPr>
              <a:t>Landing page</a:t>
            </a:r>
            <a:endParaRPr lang="en-US" sz="1500" dirty="0"/>
          </a:p>
          <a:p>
            <a:pPr indent="0" marL="0">
              <a:buNone/>
            </a:pPr>
            <a:r>
              <a:rPr lang="en-US" sz="1250" dirty="0">
                <a:solidFill>
                  <a:srgbClr val="4E5955"/>
                </a:solidFill>
                <a:latin typeface="Arial" pitchFamily="34" charset="0"/>
                <a:ea typeface="Arial" pitchFamily="34" charset="-122"/>
                <a:cs typeface="Arial" pitchFamily="34" charset="-120"/>
              </a:rPr>
              <a:t>Explains the product and the model.</a:t>
            </a:r>
            <a:endParaRPr lang="en-US" sz="1500" dirty="0"/>
          </a:p>
        </p:txBody>
      </p:sp>
      <p:sp>
        <p:nvSpPr>
          <p:cNvPr id="12" name="Shape 10"/>
          <p:cNvSpPr/>
          <p:nvPr/>
        </p:nvSpPr>
        <p:spPr>
          <a:xfrm>
            <a:off x="822960" y="2798064"/>
            <a:ext cx="292608" cy="292608"/>
          </a:xfrm>
          <a:prstGeom prst="ellipse">
            <a:avLst/>
          </a:prstGeom>
          <a:solidFill>
            <a:srgbClr val="E3EDE5"/>
          </a:solidFill>
          <a:ln w="12700">
            <a:solidFill>
              <a:srgbClr val="1F6B4F"/>
            </a:solidFill>
            <a:prstDash val="solid"/>
          </a:ln>
        </p:spPr>
      </p:sp>
      <p:sp>
        <p:nvSpPr>
          <p:cNvPr id="13" name="Text 11"/>
          <p:cNvSpPr txBox="1"/>
          <p:nvPr/>
        </p:nvSpPr>
        <p:spPr>
          <a:xfrm>
            <a:off x="822960" y="2798064"/>
            <a:ext cx="292608" cy="292608"/>
          </a:xfrm>
          <a:prstGeom prst="rect">
            <a:avLst/>
          </a:prstGeom>
          <a:noFill/>
          <a:ln/>
        </p:spPr>
        <p:txBody>
          <a:bodyPr wrap="square" lIns="0" tIns="0" rIns="0" bIns="0" rtlCol="0" anchor="ctr"/>
          <a:lstStyle/>
          <a:p>
            <a:pPr algn="ctr" indent="0" marL="0">
              <a:buNone/>
            </a:pPr>
            <a:r>
              <a:rPr lang="en-US" sz="1100" b="1" dirty="0">
                <a:solidFill>
                  <a:srgbClr val="1F6B4F"/>
                </a:solidFill>
                <a:latin typeface="Arial" pitchFamily="34" charset="0"/>
                <a:ea typeface="Arial" pitchFamily="34" charset="-122"/>
                <a:cs typeface="Arial" pitchFamily="34" charset="-120"/>
              </a:rPr>
              <a:t>✓</a:t>
            </a:r>
            <a:endParaRPr lang="en-US" sz="1100" dirty="0"/>
          </a:p>
        </p:txBody>
      </p:sp>
      <p:sp>
        <p:nvSpPr>
          <p:cNvPr id="14" name="Text 12"/>
          <p:cNvSpPr txBox="1"/>
          <p:nvPr/>
        </p:nvSpPr>
        <p:spPr>
          <a:xfrm>
            <a:off x="1325880" y="2743200"/>
            <a:ext cx="4572000" cy="530352"/>
          </a:xfrm>
          <a:prstGeom prst="rect">
            <a:avLst/>
          </a:prstGeom>
          <a:noFill/>
          <a:ln/>
        </p:spPr>
        <p:txBody>
          <a:bodyPr wrap="square" lIns="0" tIns="0" rIns="0" bIns="0" rtlCol="0" anchor="t"/>
          <a:lstStyle/>
          <a:p>
            <a:pPr indent="0" marL="0">
              <a:buNone/>
            </a:pPr>
            <a:r>
              <a:rPr lang="en-US" sz="1500" b="1" dirty="0">
                <a:solidFill>
                  <a:srgbClr val="161C19"/>
                </a:solidFill>
                <a:latin typeface="Arial" pitchFamily="34" charset="0"/>
                <a:ea typeface="Arial" pitchFamily="34" charset="-122"/>
                <a:cs typeface="Arial" pitchFamily="34" charset="-120"/>
              </a:rPr>
              <a:t>Secure login</a:t>
            </a:r>
            <a:endParaRPr lang="en-US" sz="1500" dirty="0"/>
          </a:p>
          <a:p>
            <a:pPr indent="0" marL="0">
              <a:buNone/>
            </a:pPr>
            <a:r>
              <a:rPr lang="en-US" sz="1250" dirty="0">
                <a:solidFill>
                  <a:srgbClr val="4E5955"/>
                </a:solidFill>
                <a:latin typeface="Arial" pitchFamily="34" charset="0"/>
                <a:ea typeface="Arial" pitchFamily="34" charset="-122"/>
                <a:cs typeface="Arial" pitchFamily="34" charset="-120"/>
              </a:rPr>
              <a:t>Signup, sign in and reset on Supabase.</a:t>
            </a:r>
            <a:endParaRPr lang="en-US" sz="1500" dirty="0"/>
          </a:p>
        </p:txBody>
      </p:sp>
      <p:sp>
        <p:nvSpPr>
          <p:cNvPr id="15" name="Shape 13"/>
          <p:cNvSpPr/>
          <p:nvPr/>
        </p:nvSpPr>
        <p:spPr>
          <a:xfrm>
            <a:off x="822960" y="3438144"/>
            <a:ext cx="292608" cy="292608"/>
          </a:xfrm>
          <a:prstGeom prst="ellipse">
            <a:avLst/>
          </a:prstGeom>
          <a:solidFill>
            <a:srgbClr val="E3EDE5"/>
          </a:solidFill>
          <a:ln w="12700">
            <a:solidFill>
              <a:srgbClr val="1F6B4F"/>
            </a:solidFill>
            <a:prstDash val="solid"/>
          </a:ln>
        </p:spPr>
      </p:sp>
      <p:sp>
        <p:nvSpPr>
          <p:cNvPr id="16" name="Text 14"/>
          <p:cNvSpPr txBox="1"/>
          <p:nvPr/>
        </p:nvSpPr>
        <p:spPr>
          <a:xfrm>
            <a:off x="822960" y="3438144"/>
            <a:ext cx="292608" cy="292608"/>
          </a:xfrm>
          <a:prstGeom prst="rect">
            <a:avLst/>
          </a:prstGeom>
          <a:noFill/>
          <a:ln/>
        </p:spPr>
        <p:txBody>
          <a:bodyPr wrap="square" lIns="0" tIns="0" rIns="0" bIns="0" rtlCol="0" anchor="ctr"/>
          <a:lstStyle/>
          <a:p>
            <a:pPr algn="ctr" indent="0" marL="0">
              <a:buNone/>
            </a:pPr>
            <a:r>
              <a:rPr lang="en-US" sz="1100" b="1" dirty="0">
                <a:solidFill>
                  <a:srgbClr val="1F6B4F"/>
                </a:solidFill>
                <a:latin typeface="Arial" pitchFamily="34" charset="0"/>
                <a:ea typeface="Arial" pitchFamily="34" charset="-122"/>
                <a:cs typeface="Arial" pitchFamily="34" charset="-120"/>
              </a:rPr>
              <a:t>✓</a:t>
            </a:r>
            <a:endParaRPr lang="en-US" sz="1100" dirty="0"/>
          </a:p>
        </p:txBody>
      </p:sp>
      <p:sp>
        <p:nvSpPr>
          <p:cNvPr id="17" name="Text 15"/>
          <p:cNvSpPr txBox="1"/>
          <p:nvPr/>
        </p:nvSpPr>
        <p:spPr>
          <a:xfrm>
            <a:off x="1325880" y="3383280"/>
            <a:ext cx="4572000" cy="530352"/>
          </a:xfrm>
          <a:prstGeom prst="rect">
            <a:avLst/>
          </a:prstGeom>
          <a:noFill/>
          <a:ln/>
        </p:spPr>
        <p:txBody>
          <a:bodyPr wrap="square" lIns="0" tIns="0" rIns="0" bIns="0" rtlCol="0" anchor="t"/>
          <a:lstStyle/>
          <a:p>
            <a:pPr indent="0" marL="0">
              <a:buNone/>
            </a:pPr>
            <a:r>
              <a:rPr lang="en-US" sz="1500" b="1" dirty="0">
                <a:solidFill>
                  <a:srgbClr val="161C19"/>
                </a:solidFill>
                <a:latin typeface="Arial" pitchFamily="34" charset="0"/>
                <a:ea typeface="Arial" pitchFamily="34" charset="-122"/>
                <a:cs typeface="Arial" pitchFamily="34" charset="-120"/>
              </a:rPr>
              <a:t>Database schema</a:t>
            </a:r>
            <a:endParaRPr lang="en-US" sz="1500" dirty="0"/>
          </a:p>
          <a:p>
            <a:pPr indent="0" marL="0">
              <a:buNone/>
            </a:pPr>
            <a:r>
              <a:rPr lang="en-US" sz="1250" dirty="0">
                <a:solidFill>
                  <a:srgbClr val="4E5955"/>
                </a:solidFill>
                <a:latin typeface="Arial" pitchFamily="34" charset="0"/>
                <a:ea typeface="Arial" pitchFamily="34" charset="-122"/>
                <a:cs typeface="Arial" pitchFamily="34" charset="-120"/>
              </a:rPr>
              <a:t>Profiles and businesses, row-level security.</a:t>
            </a:r>
            <a:endParaRPr lang="en-US" sz="1500" dirty="0"/>
          </a:p>
        </p:txBody>
      </p:sp>
      <p:sp>
        <p:nvSpPr>
          <p:cNvPr id="18" name="Shape 16"/>
          <p:cNvSpPr/>
          <p:nvPr/>
        </p:nvSpPr>
        <p:spPr>
          <a:xfrm>
            <a:off x="822960" y="4078224"/>
            <a:ext cx="292608" cy="292608"/>
          </a:xfrm>
          <a:prstGeom prst="ellipse">
            <a:avLst/>
          </a:prstGeom>
          <a:solidFill>
            <a:srgbClr val="E3EDE5"/>
          </a:solidFill>
          <a:ln w="12700">
            <a:solidFill>
              <a:srgbClr val="1F6B4F"/>
            </a:solidFill>
            <a:prstDash val="solid"/>
          </a:ln>
        </p:spPr>
      </p:sp>
      <p:sp>
        <p:nvSpPr>
          <p:cNvPr id="19" name="Text 17"/>
          <p:cNvSpPr txBox="1"/>
          <p:nvPr/>
        </p:nvSpPr>
        <p:spPr>
          <a:xfrm>
            <a:off x="822960" y="4078224"/>
            <a:ext cx="292608" cy="292608"/>
          </a:xfrm>
          <a:prstGeom prst="rect">
            <a:avLst/>
          </a:prstGeom>
          <a:noFill/>
          <a:ln/>
        </p:spPr>
        <p:txBody>
          <a:bodyPr wrap="square" lIns="0" tIns="0" rIns="0" bIns="0" rtlCol="0" anchor="ctr"/>
          <a:lstStyle/>
          <a:p>
            <a:pPr algn="ctr" indent="0" marL="0">
              <a:buNone/>
            </a:pPr>
            <a:r>
              <a:rPr lang="en-US" sz="1100" b="1" dirty="0">
                <a:solidFill>
                  <a:srgbClr val="1F6B4F"/>
                </a:solidFill>
                <a:latin typeface="Arial" pitchFamily="34" charset="0"/>
                <a:ea typeface="Arial" pitchFamily="34" charset="-122"/>
                <a:cs typeface="Arial" pitchFamily="34" charset="-120"/>
              </a:rPr>
              <a:t>✓</a:t>
            </a:r>
            <a:endParaRPr lang="en-US" sz="1100" dirty="0"/>
          </a:p>
        </p:txBody>
      </p:sp>
      <p:sp>
        <p:nvSpPr>
          <p:cNvPr id="20" name="Text 18"/>
          <p:cNvSpPr txBox="1"/>
          <p:nvPr/>
        </p:nvSpPr>
        <p:spPr>
          <a:xfrm>
            <a:off x="1325880" y="4023360"/>
            <a:ext cx="4572000" cy="530352"/>
          </a:xfrm>
          <a:prstGeom prst="rect">
            <a:avLst/>
          </a:prstGeom>
          <a:noFill/>
          <a:ln/>
        </p:spPr>
        <p:txBody>
          <a:bodyPr wrap="square" lIns="0" tIns="0" rIns="0" bIns="0" rtlCol="0" anchor="t"/>
          <a:lstStyle/>
          <a:p>
            <a:pPr indent="0" marL="0">
              <a:buNone/>
            </a:pPr>
            <a:r>
              <a:rPr lang="en-US" sz="1500" b="1" dirty="0">
                <a:solidFill>
                  <a:srgbClr val="161C19"/>
                </a:solidFill>
                <a:latin typeface="Arial" pitchFamily="34" charset="0"/>
                <a:ea typeface="Arial" pitchFamily="34" charset="-122"/>
                <a:cs typeface="Arial" pitchFamily="34" charset="-120"/>
              </a:rPr>
              <a:t>Working dashboard</a:t>
            </a:r>
            <a:endParaRPr lang="en-US" sz="1500" dirty="0"/>
          </a:p>
          <a:p>
            <a:pPr indent="0" marL="0">
              <a:buNone/>
            </a:pPr>
            <a:r>
              <a:rPr lang="en-US" sz="1250" dirty="0">
                <a:solidFill>
                  <a:srgbClr val="4E5955"/>
                </a:solidFill>
                <a:latin typeface="Arial" pitchFamily="34" charset="0"/>
                <a:ea typeface="Arial" pitchFamily="34" charset="-122"/>
                <a:cs typeface="Arial" pitchFamily="34" charset="-120"/>
              </a:rPr>
              <a:t>Overview, forecasts, opportunities, data, model.</a:t>
            </a:r>
            <a:endParaRPr lang="en-US" sz="1500" dirty="0"/>
          </a:p>
        </p:txBody>
      </p:sp>
      <p:sp>
        <p:nvSpPr>
          <p:cNvPr id="21" name="Shape 19"/>
          <p:cNvSpPr/>
          <p:nvPr/>
        </p:nvSpPr>
        <p:spPr>
          <a:xfrm>
            <a:off x="822960" y="4718304"/>
            <a:ext cx="292608" cy="292608"/>
          </a:xfrm>
          <a:prstGeom prst="ellipse">
            <a:avLst/>
          </a:prstGeom>
          <a:solidFill>
            <a:srgbClr val="E3EDE5"/>
          </a:solidFill>
          <a:ln w="12700">
            <a:solidFill>
              <a:srgbClr val="1F6B4F"/>
            </a:solidFill>
            <a:prstDash val="solid"/>
          </a:ln>
        </p:spPr>
      </p:sp>
      <p:sp>
        <p:nvSpPr>
          <p:cNvPr id="22" name="Text 20"/>
          <p:cNvSpPr txBox="1"/>
          <p:nvPr/>
        </p:nvSpPr>
        <p:spPr>
          <a:xfrm>
            <a:off x="822960" y="4718304"/>
            <a:ext cx="292608" cy="292608"/>
          </a:xfrm>
          <a:prstGeom prst="rect">
            <a:avLst/>
          </a:prstGeom>
          <a:noFill/>
          <a:ln/>
        </p:spPr>
        <p:txBody>
          <a:bodyPr wrap="square" lIns="0" tIns="0" rIns="0" bIns="0" rtlCol="0" anchor="ctr"/>
          <a:lstStyle/>
          <a:p>
            <a:pPr algn="ctr" indent="0" marL="0">
              <a:buNone/>
            </a:pPr>
            <a:r>
              <a:rPr lang="en-US" sz="1100" b="1" dirty="0">
                <a:solidFill>
                  <a:srgbClr val="1F6B4F"/>
                </a:solidFill>
                <a:latin typeface="Arial" pitchFamily="34" charset="0"/>
                <a:ea typeface="Arial" pitchFamily="34" charset="-122"/>
                <a:cs typeface="Arial" pitchFamily="34" charset="-120"/>
              </a:rPr>
              <a:t>✓</a:t>
            </a:r>
            <a:endParaRPr lang="en-US" sz="1100" dirty="0"/>
          </a:p>
        </p:txBody>
      </p:sp>
      <p:sp>
        <p:nvSpPr>
          <p:cNvPr id="23" name="Text 21"/>
          <p:cNvSpPr txBox="1"/>
          <p:nvPr/>
        </p:nvSpPr>
        <p:spPr>
          <a:xfrm>
            <a:off x="1325880" y="4663440"/>
            <a:ext cx="4572000" cy="530352"/>
          </a:xfrm>
          <a:prstGeom prst="rect">
            <a:avLst/>
          </a:prstGeom>
          <a:noFill/>
          <a:ln/>
        </p:spPr>
        <p:txBody>
          <a:bodyPr wrap="square" lIns="0" tIns="0" rIns="0" bIns="0" rtlCol="0" anchor="t"/>
          <a:lstStyle/>
          <a:p>
            <a:pPr indent="0" marL="0">
              <a:buNone/>
            </a:pPr>
            <a:r>
              <a:rPr lang="en-US" sz="1500" b="1" dirty="0">
                <a:solidFill>
                  <a:srgbClr val="161C19"/>
                </a:solidFill>
                <a:latin typeface="Arial" pitchFamily="34" charset="0"/>
                <a:ea typeface="Arial" pitchFamily="34" charset="-122"/>
                <a:cs typeface="Arial" pitchFamily="34" charset="-120"/>
              </a:rPr>
              <a:t>Light and dark mode</a:t>
            </a:r>
            <a:endParaRPr lang="en-US" sz="1500" dirty="0"/>
          </a:p>
          <a:p>
            <a:pPr indent="0" marL="0">
              <a:buNone/>
            </a:pPr>
            <a:r>
              <a:rPr lang="en-US" sz="1250" dirty="0">
                <a:solidFill>
                  <a:srgbClr val="4E5955"/>
                </a:solidFill>
                <a:latin typeface="Arial" pitchFamily="34" charset="0"/>
                <a:ea typeface="Arial" pitchFamily="34" charset="-122"/>
                <a:cs typeface="Arial" pitchFamily="34" charset="-120"/>
              </a:rPr>
              <a:t>Responsive down to phones.</a:t>
            </a:r>
            <a:endParaRPr lang="en-US" sz="1500" dirty="0"/>
          </a:p>
        </p:txBody>
      </p:sp>
      <p:sp>
        <p:nvSpPr>
          <p:cNvPr id="24" name="Shape 22"/>
          <p:cNvSpPr/>
          <p:nvPr/>
        </p:nvSpPr>
        <p:spPr>
          <a:xfrm>
            <a:off x="822960" y="5358384"/>
            <a:ext cx="292608" cy="292608"/>
          </a:xfrm>
          <a:prstGeom prst="ellipse">
            <a:avLst/>
          </a:prstGeom>
          <a:solidFill>
            <a:srgbClr val="E3EDE5"/>
          </a:solidFill>
          <a:ln w="12700">
            <a:solidFill>
              <a:srgbClr val="1F6B4F"/>
            </a:solidFill>
            <a:prstDash val="solid"/>
          </a:ln>
        </p:spPr>
      </p:sp>
      <p:sp>
        <p:nvSpPr>
          <p:cNvPr id="25" name="Text 23"/>
          <p:cNvSpPr txBox="1"/>
          <p:nvPr/>
        </p:nvSpPr>
        <p:spPr>
          <a:xfrm>
            <a:off x="822960" y="5358384"/>
            <a:ext cx="292608" cy="292608"/>
          </a:xfrm>
          <a:prstGeom prst="rect">
            <a:avLst/>
          </a:prstGeom>
          <a:noFill/>
          <a:ln/>
        </p:spPr>
        <p:txBody>
          <a:bodyPr wrap="square" lIns="0" tIns="0" rIns="0" bIns="0" rtlCol="0" anchor="ctr"/>
          <a:lstStyle/>
          <a:p>
            <a:pPr algn="ctr" indent="0" marL="0">
              <a:buNone/>
            </a:pPr>
            <a:r>
              <a:rPr lang="en-US" sz="1100" b="1" dirty="0">
                <a:solidFill>
                  <a:srgbClr val="1F6B4F"/>
                </a:solidFill>
                <a:latin typeface="Arial" pitchFamily="34" charset="0"/>
                <a:ea typeface="Arial" pitchFamily="34" charset="-122"/>
                <a:cs typeface="Arial" pitchFamily="34" charset="-120"/>
              </a:rPr>
              <a:t>✓</a:t>
            </a:r>
            <a:endParaRPr lang="en-US" sz="1100" dirty="0"/>
          </a:p>
        </p:txBody>
      </p:sp>
      <p:sp>
        <p:nvSpPr>
          <p:cNvPr id="26" name="Text 24"/>
          <p:cNvSpPr txBox="1"/>
          <p:nvPr/>
        </p:nvSpPr>
        <p:spPr>
          <a:xfrm>
            <a:off x="1325880" y="5303520"/>
            <a:ext cx="4572000" cy="530352"/>
          </a:xfrm>
          <a:prstGeom prst="rect">
            <a:avLst/>
          </a:prstGeom>
          <a:noFill/>
          <a:ln/>
        </p:spPr>
        <p:txBody>
          <a:bodyPr wrap="square" lIns="0" tIns="0" rIns="0" bIns="0" rtlCol="0" anchor="t"/>
          <a:lstStyle/>
          <a:p>
            <a:pPr indent="0" marL="0">
              <a:buNone/>
            </a:pPr>
            <a:r>
              <a:rPr lang="en-US" sz="1500" b="1" dirty="0">
                <a:solidFill>
                  <a:srgbClr val="161C19"/>
                </a:solidFill>
                <a:latin typeface="Arial" pitchFamily="34" charset="0"/>
                <a:ea typeface="Arial" pitchFamily="34" charset="-122"/>
                <a:cs typeface="Arial" pitchFamily="34" charset="-120"/>
              </a:rPr>
              <a:t>Team workflow</a:t>
            </a:r>
            <a:endParaRPr lang="en-US" sz="1500" dirty="0"/>
          </a:p>
          <a:p>
            <a:pPr indent="0" marL="0">
              <a:buNone/>
            </a:pPr>
            <a:r>
              <a:rPr lang="en-US" sz="1250" dirty="0">
                <a:solidFill>
                  <a:srgbClr val="4E5955"/>
                </a:solidFill>
                <a:latin typeface="Arial" pitchFamily="34" charset="0"/>
                <a:ea typeface="Arial" pitchFamily="34" charset="-122"/>
                <a:cs typeface="Arial" pitchFamily="34" charset="-120"/>
              </a:rPr>
              <a:t>GitHub repo with a clean, reviewable history.</a:t>
            </a:r>
            <a:endParaRPr lang="en-US" sz="1500" dirty="0"/>
          </a:p>
        </p:txBody>
      </p:sp>
      <p:sp>
        <p:nvSpPr>
          <p:cNvPr id="27" name="Shape 25"/>
          <p:cNvSpPr/>
          <p:nvPr/>
        </p:nvSpPr>
        <p:spPr>
          <a:xfrm>
            <a:off x="6400800" y="1965960"/>
            <a:ext cx="4965192" cy="4114800"/>
          </a:xfrm>
          <a:prstGeom prst="roundRect">
            <a:avLst>
              <a:gd name="adj" fmla="val 2667"/>
            </a:avLst>
          </a:prstGeom>
          <a:solidFill>
            <a:srgbClr val="F3F8F3"/>
          </a:solidFill>
          <a:ln w="9525">
            <a:solidFill>
              <a:srgbClr val="D6DCD7"/>
            </a:solidFill>
            <a:prstDash val="solid"/>
          </a:ln>
        </p:spPr>
      </p:sp>
      <p:sp>
        <p:nvSpPr>
          <p:cNvPr id="28" name="Text 26"/>
          <p:cNvSpPr txBox="1"/>
          <p:nvPr/>
        </p:nvSpPr>
        <p:spPr>
          <a:xfrm>
            <a:off x="6720840" y="2221992"/>
            <a:ext cx="4114800" cy="256032"/>
          </a:xfrm>
          <a:prstGeom prst="rect">
            <a:avLst/>
          </a:prstGeom>
          <a:noFill/>
          <a:ln/>
        </p:spPr>
        <p:txBody>
          <a:bodyPr wrap="square" lIns="0" tIns="0" rIns="0" bIns="0" rtlCol="0" anchor="ctr"/>
          <a:lstStyle/>
          <a:p>
            <a:pPr indent="0" marL="0">
              <a:buNone/>
            </a:pPr>
            <a:r>
              <a:rPr lang="en-US" sz="1000" b="1" spc="300" kern="0" dirty="0">
                <a:solidFill>
                  <a:srgbClr val="6B7671"/>
                </a:solidFill>
                <a:latin typeface="Arial" pitchFamily="34" charset="0"/>
                <a:ea typeface="Arial" pitchFamily="34" charset="-122"/>
                <a:cs typeface="Arial" pitchFamily="34" charset="-120"/>
              </a:rPr>
              <a:t>BELLA'S CAFE  |  SAMPLE DATA</a:t>
            </a:r>
            <a:endParaRPr lang="en-US" sz="1000" dirty="0"/>
          </a:p>
        </p:txBody>
      </p:sp>
      <p:sp>
        <p:nvSpPr>
          <p:cNvPr id="29" name="Text 27"/>
          <p:cNvSpPr txBox="1"/>
          <p:nvPr/>
        </p:nvSpPr>
        <p:spPr>
          <a:xfrm>
            <a:off x="6720840" y="2587752"/>
            <a:ext cx="1371600" cy="228600"/>
          </a:xfrm>
          <a:prstGeom prst="rect">
            <a:avLst/>
          </a:prstGeom>
          <a:noFill/>
          <a:ln/>
        </p:spPr>
        <p:txBody>
          <a:bodyPr wrap="square" lIns="0" tIns="0" rIns="0" bIns="0" rtlCol="0" anchor="ctr"/>
          <a:lstStyle/>
          <a:p>
            <a:pPr indent="0" marL="0">
              <a:buNone/>
            </a:pPr>
            <a:r>
              <a:rPr lang="en-US" sz="1100" dirty="0">
                <a:solidFill>
                  <a:srgbClr val="4E5955"/>
                </a:solidFill>
                <a:latin typeface="Arial" pitchFamily="34" charset="0"/>
                <a:ea typeface="Arial" pitchFamily="34" charset="-122"/>
                <a:cs typeface="Arial" pitchFamily="34" charset="-120"/>
              </a:rPr>
              <a:t>Revenue</a:t>
            </a:r>
            <a:endParaRPr lang="en-US" sz="1100" dirty="0"/>
          </a:p>
        </p:txBody>
      </p:sp>
      <p:sp>
        <p:nvSpPr>
          <p:cNvPr id="30" name="Text 28"/>
          <p:cNvSpPr txBox="1"/>
          <p:nvPr/>
        </p:nvSpPr>
        <p:spPr>
          <a:xfrm>
            <a:off x="6720840" y="2816352"/>
            <a:ext cx="1371600" cy="384048"/>
          </a:xfrm>
          <a:prstGeom prst="rect">
            <a:avLst/>
          </a:prstGeom>
          <a:noFill/>
          <a:ln/>
        </p:spPr>
        <p:txBody>
          <a:bodyPr wrap="square" lIns="0" tIns="0" rIns="0" bIns="0" rtlCol="0" anchor="ctr"/>
          <a:lstStyle/>
          <a:p>
            <a:pPr indent="0" marL="0">
              <a:buNone/>
            </a:pPr>
            <a:r>
              <a:rPr lang="en-US" sz="2000" b="1" dirty="0">
                <a:solidFill>
                  <a:srgbClr val="161C19"/>
                </a:solidFill>
                <a:latin typeface="Arial" pitchFamily="34" charset="0"/>
                <a:ea typeface="Arial" pitchFamily="34" charset="-122"/>
                <a:cs typeface="Arial" pitchFamily="34" charset="-120"/>
              </a:rPr>
              <a:t>$50.6k</a:t>
            </a:r>
            <a:endParaRPr lang="en-US" sz="2000" dirty="0"/>
          </a:p>
        </p:txBody>
      </p:sp>
      <p:sp>
        <p:nvSpPr>
          <p:cNvPr id="31" name="Text 29"/>
          <p:cNvSpPr txBox="1"/>
          <p:nvPr/>
        </p:nvSpPr>
        <p:spPr>
          <a:xfrm>
            <a:off x="6720840" y="3209544"/>
            <a:ext cx="1371600" cy="228600"/>
          </a:xfrm>
          <a:prstGeom prst="rect">
            <a:avLst/>
          </a:prstGeom>
          <a:noFill/>
          <a:ln/>
        </p:spPr>
        <p:txBody>
          <a:bodyPr wrap="square" lIns="0" tIns="0" rIns="0" bIns="0" rtlCol="0" anchor="ctr"/>
          <a:lstStyle/>
          <a:p>
            <a:pPr indent="0" marL="0">
              <a:buNone/>
            </a:pPr>
            <a:r>
              <a:rPr lang="en-US" sz="1100" b="1" dirty="0">
                <a:solidFill>
                  <a:srgbClr val="1F6B4F"/>
                </a:solidFill>
                <a:latin typeface="Arial" pitchFamily="34" charset="0"/>
                <a:ea typeface="Arial" pitchFamily="34" charset="-122"/>
                <a:cs typeface="Arial" pitchFamily="34" charset="-120"/>
              </a:rPr>
              <a:t>+8.4%</a:t>
            </a:r>
            <a:endParaRPr lang="en-US" sz="1100" dirty="0"/>
          </a:p>
        </p:txBody>
      </p:sp>
      <p:sp>
        <p:nvSpPr>
          <p:cNvPr id="32" name="Text 30"/>
          <p:cNvSpPr txBox="1"/>
          <p:nvPr/>
        </p:nvSpPr>
        <p:spPr>
          <a:xfrm>
            <a:off x="8183880" y="2587752"/>
            <a:ext cx="1371600" cy="228600"/>
          </a:xfrm>
          <a:prstGeom prst="rect">
            <a:avLst/>
          </a:prstGeom>
          <a:noFill/>
          <a:ln/>
        </p:spPr>
        <p:txBody>
          <a:bodyPr wrap="square" lIns="0" tIns="0" rIns="0" bIns="0" rtlCol="0" anchor="ctr"/>
          <a:lstStyle/>
          <a:p>
            <a:pPr indent="0" marL="0">
              <a:buNone/>
            </a:pPr>
            <a:r>
              <a:rPr lang="en-US" sz="1100" dirty="0">
                <a:solidFill>
                  <a:srgbClr val="4E5955"/>
                </a:solidFill>
                <a:latin typeface="Arial" pitchFamily="34" charset="0"/>
                <a:ea typeface="Arial" pitchFamily="34" charset="-122"/>
                <a:cs typeface="Arial" pitchFamily="34" charset="-120"/>
              </a:rPr>
              <a:t>Expenses</a:t>
            </a:r>
            <a:endParaRPr lang="en-US" sz="1100" dirty="0"/>
          </a:p>
        </p:txBody>
      </p:sp>
      <p:sp>
        <p:nvSpPr>
          <p:cNvPr id="33" name="Text 31"/>
          <p:cNvSpPr txBox="1"/>
          <p:nvPr/>
        </p:nvSpPr>
        <p:spPr>
          <a:xfrm>
            <a:off x="8183880" y="2816352"/>
            <a:ext cx="1371600" cy="384048"/>
          </a:xfrm>
          <a:prstGeom prst="rect">
            <a:avLst/>
          </a:prstGeom>
          <a:noFill/>
          <a:ln/>
        </p:spPr>
        <p:txBody>
          <a:bodyPr wrap="square" lIns="0" tIns="0" rIns="0" bIns="0" rtlCol="0" anchor="ctr"/>
          <a:lstStyle/>
          <a:p>
            <a:pPr indent="0" marL="0">
              <a:buNone/>
            </a:pPr>
            <a:r>
              <a:rPr lang="en-US" sz="2000" b="1" dirty="0">
                <a:solidFill>
                  <a:srgbClr val="161C19"/>
                </a:solidFill>
                <a:latin typeface="Arial" pitchFamily="34" charset="0"/>
                <a:ea typeface="Arial" pitchFamily="34" charset="-122"/>
                <a:cs typeface="Arial" pitchFamily="34" charset="-120"/>
              </a:rPr>
              <a:t>$32.1k</a:t>
            </a:r>
            <a:endParaRPr lang="en-US" sz="2000" dirty="0"/>
          </a:p>
        </p:txBody>
      </p:sp>
      <p:sp>
        <p:nvSpPr>
          <p:cNvPr id="34" name="Text 32"/>
          <p:cNvSpPr txBox="1"/>
          <p:nvPr/>
        </p:nvSpPr>
        <p:spPr>
          <a:xfrm>
            <a:off x="8183880" y="3209544"/>
            <a:ext cx="1371600" cy="228600"/>
          </a:xfrm>
          <a:prstGeom prst="rect">
            <a:avLst/>
          </a:prstGeom>
          <a:noFill/>
          <a:ln/>
        </p:spPr>
        <p:txBody>
          <a:bodyPr wrap="square" lIns="0" tIns="0" rIns="0" bIns="0" rtlCol="0" anchor="ctr"/>
          <a:lstStyle/>
          <a:p>
            <a:pPr indent="0" marL="0">
              <a:buNone/>
            </a:pPr>
            <a:r>
              <a:rPr lang="en-US" sz="1100" b="1" dirty="0">
                <a:solidFill>
                  <a:srgbClr val="B83325"/>
                </a:solidFill>
                <a:latin typeface="Arial" pitchFamily="34" charset="0"/>
                <a:ea typeface="Arial" pitchFamily="34" charset="-122"/>
                <a:cs typeface="Arial" pitchFamily="34" charset="-120"/>
              </a:rPr>
              <a:t>+3.1%</a:t>
            </a:r>
            <a:endParaRPr lang="en-US" sz="1100" dirty="0"/>
          </a:p>
        </p:txBody>
      </p:sp>
      <p:sp>
        <p:nvSpPr>
          <p:cNvPr id="35" name="Text 33"/>
          <p:cNvSpPr txBox="1"/>
          <p:nvPr/>
        </p:nvSpPr>
        <p:spPr>
          <a:xfrm>
            <a:off x="9646920" y="2587752"/>
            <a:ext cx="1371600" cy="228600"/>
          </a:xfrm>
          <a:prstGeom prst="rect">
            <a:avLst/>
          </a:prstGeom>
          <a:noFill/>
          <a:ln/>
        </p:spPr>
        <p:txBody>
          <a:bodyPr wrap="square" lIns="0" tIns="0" rIns="0" bIns="0" rtlCol="0" anchor="ctr"/>
          <a:lstStyle/>
          <a:p>
            <a:pPr indent="0" marL="0">
              <a:buNone/>
            </a:pPr>
            <a:r>
              <a:rPr lang="en-US" sz="1100" dirty="0">
                <a:solidFill>
                  <a:srgbClr val="4E5955"/>
                </a:solidFill>
                <a:latin typeface="Arial" pitchFamily="34" charset="0"/>
                <a:ea typeface="Arial" pitchFamily="34" charset="-122"/>
                <a:cs typeface="Arial" pitchFamily="34" charset="-120"/>
              </a:rPr>
              <a:t>Cash flow</a:t>
            </a:r>
            <a:endParaRPr lang="en-US" sz="1100" dirty="0"/>
          </a:p>
        </p:txBody>
      </p:sp>
      <p:sp>
        <p:nvSpPr>
          <p:cNvPr id="36" name="Text 34"/>
          <p:cNvSpPr txBox="1"/>
          <p:nvPr/>
        </p:nvSpPr>
        <p:spPr>
          <a:xfrm>
            <a:off x="9646920" y="2816352"/>
            <a:ext cx="1371600" cy="384048"/>
          </a:xfrm>
          <a:prstGeom prst="rect">
            <a:avLst/>
          </a:prstGeom>
          <a:noFill/>
          <a:ln/>
        </p:spPr>
        <p:txBody>
          <a:bodyPr wrap="square" lIns="0" tIns="0" rIns="0" bIns="0" rtlCol="0" anchor="ctr"/>
          <a:lstStyle/>
          <a:p>
            <a:pPr indent="0" marL="0">
              <a:buNone/>
            </a:pPr>
            <a:r>
              <a:rPr lang="en-US" sz="2000" b="1" dirty="0">
                <a:solidFill>
                  <a:srgbClr val="161C19"/>
                </a:solidFill>
                <a:latin typeface="Arial" pitchFamily="34" charset="0"/>
                <a:ea typeface="Arial" pitchFamily="34" charset="-122"/>
                <a:cs typeface="Arial" pitchFamily="34" charset="-120"/>
              </a:rPr>
              <a:t>$14.6k</a:t>
            </a:r>
            <a:endParaRPr lang="en-US" sz="2000" dirty="0"/>
          </a:p>
        </p:txBody>
      </p:sp>
      <p:sp>
        <p:nvSpPr>
          <p:cNvPr id="37" name="Text 35"/>
          <p:cNvSpPr txBox="1"/>
          <p:nvPr/>
        </p:nvSpPr>
        <p:spPr>
          <a:xfrm>
            <a:off x="9646920" y="3209544"/>
            <a:ext cx="1371600" cy="228600"/>
          </a:xfrm>
          <a:prstGeom prst="rect">
            <a:avLst/>
          </a:prstGeom>
          <a:noFill/>
          <a:ln/>
        </p:spPr>
        <p:txBody>
          <a:bodyPr wrap="square" lIns="0" tIns="0" rIns="0" bIns="0" rtlCol="0" anchor="ctr"/>
          <a:lstStyle/>
          <a:p>
            <a:pPr indent="0" marL="0">
              <a:buNone/>
            </a:pPr>
            <a:r>
              <a:rPr lang="en-US" sz="1100" b="1" dirty="0">
                <a:solidFill>
                  <a:srgbClr val="1F6B4F"/>
                </a:solidFill>
                <a:latin typeface="Arial" pitchFamily="34" charset="0"/>
                <a:ea typeface="Arial" pitchFamily="34" charset="-122"/>
                <a:cs typeface="Arial" pitchFamily="34" charset="-120"/>
              </a:rPr>
              <a:t>+11.2%</a:t>
            </a:r>
            <a:endParaRPr lang="en-US" sz="1100" dirty="0"/>
          </a:p>
        </p:txBody>
      </p:sp>
      <p:graphicFrame>
        <p:nvGraphicFramePr>
          <p:cNvPr id="38" name="Chart 0" descr=""/>
          <p:cNvGraphicFramePr/>
          <p:nvPr/>
        </p:nvGraphicFramePr>
        <p:xfrm>
          <a:off x="6583680" y="3520440"/>
          <a:ext cx="4599432" cy="1965960"/>
        </p:xfrm>
        <a:graphic xmlns:a="http://schemas.openxmlformats.org/drawingml/2006/main">
          <a:graphicData uri="http://schemas.openxmlformats.org/drawingml/2006/chart">
            <c:chart xmlns:c="http://schemas.openxmlformats.org/drawingml/2006/chart" r:id="rId1"/>
          </a:graphicData>
        </a:graphic>
      </p:graphicFrame>
      <p:sp>
        <p:nvSpPr>
          <p:cNvPr id="39" name="Shape 36"/>
          <p:cNvSpPr/>
          <p:nvPr/>
        </p:nvSpPr>
        <p:spPr>
          <a:xfrm>
            <a:off x="6720840" y="5532120"/>
            <a:ext cx="4325112" cy="365760"/>
          </a:xfrm>
          <a:prstGeom prst="roundRect">
            <a:avLst>
              <a:gd name="adj" fmla="val 30000"/>
            </a:avLst>
          </a:prstGeom>
          <a:solidFill>
            <a:srgbClr val="E3EDE5"/>
          </a:solidFill>
          <a:ln w="9525">
            <a:solidFill>
              <a:srgbClr val="2E8A67"/>
            </a:solidFill>
            <a:prstDash val="solid"/>
          </a:ln>
        </p:spPr>
      </p:sp>
      <p:sp>
        <p:nvSpPr>
          <p:cNvPr id="40" name="Text 37"/>
          <p:cNvSpPr txBox="1"/>
          <p:nvPr/>
        </p:nvSpPr>
        <p:spPr>
          <a:xfrm>
            <a:off x="6858000" y="5532120"/>
            <a:ext cx="4050792" cy="365760"/>
          </a:xfrm>
          <a:prstGeom prst="rect">
            <a:avLst/>
          </a:prstGeom>
          <a:noFill/>
          <a:ln/>
        </p:spPr>
        <p:txBody>
          <a:bodyPr wrap="square" lIns="0" tIns="0" rIns="0" bIns="0" rtlCol="0" anchor="ctr"/>
          <a:lstStyle/>
          <a:p>
            <a:pPr indent="0" marL="0">
              <a:buNone/>
            </a:pPr>
            <a:r>
              <a:rPr lang="en-US" sz="1100" b="1" dirty="0">
                <a:solidFill>
                  <a:srgbClr val="1F6B4F"/>
                </a:solidFill>
                <a:latin typeface="Arial" pitchFamily="34" charset="0"/>
                <a:ea typeface="Arial" pitchFamily="34" charset="-122"/>
                <a:cs typeface="Arial" pitchFamily="34" charset="-120"/>
              </a:rPr>
              <a:t>Opportunity: </a:t>
            </a:r>
            <a:pPr indent="0" marL="0">
              <a:buNone/>
            </a:pPr>
            <a:r>
              <a:rPr lang="en-US" sz="1100" dirty="0">
                <a:solidFill>
                  <a:srgbClr val="2A3330"/>
                </a:solidFill>
                <a:latin typeface="Arial" pitchFamily="34" charset="0"/>
                <a:ea typeface="Arial" pitchFamily="34" charset="-122"/>
                <a:cs typeface="Arial" pitchFamily="34" charset="-120"/>
              </a:rPr>
              <a:t>weekday sales are 18% below potential.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10728655" y="502920"/>
            <a:ext cx="640080" cy="640080"/>
          </a:xfrm>
          <a:prstGeom prst="roundRect">
            <a:avLst>
              <a:gd name="adj" fmla="val 11000"/>
            </a:avLst>
          </a:prstGeom>
          <a:solidFill>
            <a:srgbClr val="161C1A"/>
          </a:solidFill>
          <a:ln w="12700">
            <a:solidFill>
              <a:srgbClr val="161C1A"/>
            </a:solidFill>
            <a:prstDash val="solid"/>
          </a:ln>
        </p:spPr>
      </p:sp>
      <p:sp>
        <p:nvSpPr>
          <p:cNvPr id="3" name="Shape 1"/>
          <p:cNvSpPr/>
          <p:nvPr/>
        </p:nvSpPr>
        <p:spPr>
          <a:xfrm>
            <a:off x="10860512" y="607253"/>
            <a:ext cx="375727" cy="42885"/>
          </a:xfrm>
          <a:prstGeom prst="rect">
            <a:avLst/>
          </a:prstGeom>
          <a:solidFill>
            <a:srgbClr val="3D9472"/>
          </a:solidFill>
          <a:ln w="12700">
            <a:solidFill>
              <a:srgbClr val="3D9472"/>
            </a:solidFill>
            <a:prstDash val="solid"/>
          </a:ln>
        </p:spPr>
      </p:sp>
      <p:sp>
        <p:nvSpPr>
          <p:cNvPr id="4" name="Shape 2"/>
          <p:cNvSpPr/>
          <p:nvPr/>
        </p:nvSpPr>
        <p:spPr>
          <a:xfrm>
            <a:off x="10860512" y="876727"/>
            <a:ext cx="90891" cy="147218"/>
          </a:xfrm>
          <a:prstGeom prst="rect">
            <a:avLst/>
          </a:prstGeom>
          <a:solidFill>
            <a:srgbClr val="7E857E"/>
          </a:solidFill>
          <a:ln w="12700">
            <a:solidFill>
              <a:srgbClr val="7E857E"/>
            </a:solidFill>
            <a:prstDash val="solid"/>
          </a:ln>
        </p:spPr>
      </p:sp>
      <p:sp>
        <p:nvSpPr>
          <p:cNvPr id="5" name="Shape 3"/>
          <p:cNvSpPr/>
          <p:nvPr/>
        </p:nvSpPr>
        <p:spPr>
          <a:xfrm>
            <a:off x="11007730" y="794796"/>
            <a:ext cx="89611" cy="229149"/>
          </a:xfrm>
          <a:prstGeom prst="rect">
            <a:avLst/>
          </a:prstGeom>
          <a:solidFill>
            <a:srgbClr val="AFBAB2"/>
          </a:solidFill>
          <a:ln w="12700">
            <a:solidFill>
              <a:srgbClr val="AFBAB2"/>
            </a:solidFill>
            <a:prstDash val="solid"/>
          </a:ln>
        </p:spPr>
      </p:sp>
      <p:sp>
        <p:nvSpPr>
          <p:cNvPr id="6" name="Shape 4"/>
          <p:cNvSpPr/>
          <p:nvPr/>
        </p:nvSpPr>
        <p:spPr>
          <a:xfrm>
            <a:off x="11153028" y="675742"/>
            <a:ext cx="89611" cy="348204"/>
          </a:xfrm>
          <a:prstGeom prst="rect">
            <a:avLst/>
          </a:prstGeom>
          <a:solidFill>
            <a:srgbClr val="E3EEE6"/>
          </a:solidFill>
          <a:ln w="12700">
            <a:solidFill>
              <a:srgbClr val="E3EEE6"/>
            </a:solidFill>
            <a:prstDash val="solid"/>
          </a:ln>
        </p:spPr>
      </p:sp>
      <p:sp>
        <p:nvSpPr>
          <p:cNvPr id="7" name="Text 5"/>
          <p:cNvSpPr txBox="1"/>
          <p:nvPr/>
        </p:nvSpPr>
        <p:spPr>
          <a:xfrm>
            <a:off x="822960" y="685800"/>
            <a:ext cx="7315200" cy="274320"/>
          </a:xfrm>
          <a:prstGeom prst="rect">
            <a:avLst/>
          </a:prstGeom>
          <a:noFill/>
          <a:ln/>
        </p:spPr>
        <p:txBody>
          <a:bodyPr wrap="square" lIns="0" tIns="0" rIns="0" bIns="0" rtlCol="0" anchor="ctr"/>
          <a:lstStyle/>
          <a:p>
            <a:pPr indent="0" marL="0">
              <a:buNone/>
            </a:pPr>
            <a:r>
              <a:rPr lang="en-US" sz="1200" b="1" spc="400" kern="0" dirty="0">
                <a:solidFill>
                  <a:srgbClr val="1F6B4F"/>
                </a:solidFill>
                <a:latin typeface="Arial" pitchFamily="34" charset="0"/>
                <a:ea typeface="Arial" pitchFamily="34" charset="-122"/>
                <a:cs typeface="Arial" pitchFamily="34" charset="-120"/>
              </a:rPr>
              <a:t>WHAT IS LEFT</a:t>
            </a:r>
            <a:endParaRPr lang="en-US" sz="1200" dirty="0"/>
          </a:p>
        </p:txBody>
      </p:sp>
      <p:sp>
        <p:nvSpPr>
          <p:cNvPr id="8" name="Text 6"/>
          <p:cNvSpPr txBox="1"/>
          <p:nvPr/>
        </p:nvSpPr>
        <p:spPr>
          <a:xfrm>
            <a:off x="822960" y="1005840"/>
            <a:ext cx="9448495" cy="731520"/>
          </a:xfrm>
          <a:prstGeom prst="rect">
            <a:avLst/>
          </a:prstGeom>
          <a:noFill/>
          <a:ln/>
        </p:spPr>
        <p:txBody>
          <a:bodyPr wrap="square" lIns="0" tIns="0" rIns="0" bIns="0" rtlCol="0" anchor="t"/>
          <a:lstStyle/>
          <a:p>
            <a:pPr indent="0" marL="0">
              <a:buNone/>
            </a:pPr>
            <a:r>
              <a:rPr lang="en-US" sz="3600" b="1" dirty="0">
                <a:solidFill>
                  <a:srgbClr val="161C19"/>
                </a:solidFill>
                <a:latin typeface="Arial" pitchFamily="34" charset="0"/>
                <a:ea typeface="Arial" pitchFamily="34" charset="-122"/>
                <a:cs typeface="Arial" pitchFamily="34" charset="-120"/>
              </a:rPr>
              <a:t>From sample data to a real model</a:t>
            </a:r>
            <a:endParaRPr lang="en-US" sz="3600" dirty="0"/>
          </a:p>
        </p:txBody>
      </p:sp>
      <p:sp>
        <p:nvSpPr>
          <p:cNvPr id="9" name="Shape 7"/>
          <p:cNvSpPr/>
          <p:nvPr/>
        </p:nvSpPr>
        <p:spPr>
          <a:xfrm>
            <a:off x="822960" y="2240280"/>
            <a:ext cx="1743395" cy="2331720"/>
          </a:xfrm>
          <a:prstGeom prst="roundRect">
            <a:avLst>
              <a:gd name="adj" fmla="val 6294"/>
            </a:avLst>
          </a:prstGeom>
          <a:solidFill>
            <a:srgbClr val="F3F8F3"/>
          </a:solidFill>
          <a:ln w="9525">
            <a:solidFill>
              <a:srgbClr val="D6DCD7"/>
            </a:solidFill>
            <a:prstDash val="solid"/>
          </a:ln>
        </p:spPr>
      </p:sp>
      <p:sp>
        <p:nvSpPr>
          <p:cNvPr id="10" name="Text 8"/>
          <p:cNvSpPr txBox="1"/>
          <p:nvPr/>
        </p:nvSpPr>
        <p:spPr>
          <a:xfrm>
            <a:off x="1051560" y="2468880"/>
            <a:ext cx="1286195" cy="365760"/>
          </a:xfrm>
          <a:prstGeom prst="rect">
            <a:avLst/>
          </a:prstGeom>
          <a:noFill/>
          <a:ln/>
        </p:spPr>
        <p:txBody>
          <a:bodyPr wrap="square" lIns="0" tIns="0" rIns="0" bIns="0" rtlCol="0" anchor="ctr"/>
          <a:lstStyle/>
          <a:p>
            <a:pPr indent="0" marL="0">
              <a:buNone/>
            </a:pPr>
            <a:r>
              <a:rPr lang="en-US" sz="1600" b="1" dirty="0">
                <a:solidFill>
                  <a:srgbClr val="161C19"/>
                </a:solidFill>
                <a:latin typeface="Arial" pitchFamily="34" charset="0"/>
                <a:ea typeface="Arial" pitchFamily="34" charset="-122"/>
                <a:cs typeface="Arial" pitchFamily="34" charset="-120"/>
              </a:rPr>
              <a:t>COLLECT</a:t>
            </a:r>
            <a:endParaRPr lang="en-US" sz="1600" dirty="0"/>
          </a:p>
        </p:txBody>
      </p:sp>
      <p:sp>
        <p:nvSpPr>
          <p:cNvPr id="11" name="Text 9"/>
          <p:cNvSpPr txBox="1"/>
          <p:nvPr/>
        </p:nvSpPr>
        <p:spPr>
          <a:xfrm>
            <a:off x="1051560" y="2852928"/>
            <a:ext cx="1286195" cy="274320"/>
          </a:xfrm>
          <a:prstGeom prst="rect">
            <a:avLst/>
          </a:prstGeom>
          <a:noFill/>
          <a:ln/>
        </p:spPr>
        <p:txBody>
          <a:bodyPr wrap="square" lIns="0" tIns="0" rIns="0" bIns="0" rtlCol="0" anchor="ctr"/>
          <a:lstStyle/>
          <a:p>
            <a:pPr indent="0" marL="0">
              <a:buNone/>
            </a:pPr>
            <a:r>
              <a:rPr lang="en-US" sz="1200" b="1" dirty="0">
                <a:solidFill>
                  <a:srgbClr val="1F6B4F"/>
                </a:solidFill>
                <a:latin typeface="Arial" pitchFamily="34" charset="0"/>
                <a:ea typeface="Arial" pitchFamily="34" charset="-122"/>
                <a:cs typeface="Arial" pitchFamily="34" charset="-120"/>
              </a:rPr>
              <a:t>Kaiyaan</a:t>
            </a:r>
            <a:endParaRPr lang="en-US" sz="1200" dirty="0"/>
          </a:p>
        </p:txBody>
      </p:sp>
      <p:sp>
        <p:nvSpPr>
          <p:cNvPr id="12" name="Text 10"/>
          <p:cNvSpPr txBox="1"/>
          <p:nvPr/>
        </p:nvSpPr>
        <p:spPr>
          <a:xfrm>
            <a:off x="1051560" y="3246120"/>
            <a:ext cx="1286195" cy="1280160"/>
          </a:xfrm>
          <a:prstGeom prst="rect">
            <a:avLst/>
          </a:prstGeom>
          <a:noFill/>
          <a:ln/>
        </p:spPr>
        <p:txBody>
          <a:bodyPr wrap="square" lIns="0" tIns="0" rIns="0" bIns="0" rtlCol="0" anchor="t"/>
          <a:lstStyle/>
          <a:p>
            <a:pPr indent="0" marL="0">
              <a:buNone/>
            </a:pPr>
            <a:r>
              <a:rPr lang="en-US" sz="1200" dirty="0">
                <a:solidFill>
                  <a:srgbClr val="4E5955"/>
                </a:solidFill>
                <a:latin typeface="Arial" pitchFamily="34" charset="0"/>
                <a:ea typeface="Arial" pitchFamily="34" charset="-122"/>
                <a:cs typeface="Arial" pitchFamily="34" charset="-120"/>
              </a:rPr>
              <a:t>Gather real financial and operating data for small businesses.</a:t>
            </a:r>
            <a:endParaRPr lang="en-US" sz="1200" dirty="0"/>
          </a:p>
        </p:txBody>
      </p:sp>
      <p:sp>
        <p:nvSpPr>
          <p:cNvPr id="13" name="Shape 11"/>
          <p:cNvSpPr/>
          <p:nvPr/>
        </p:nvSpPr>
        <p:spPr>
          <a:xfrm>
            <a:off x="2639507" y="3401568"/>
            <a:ext cx="310896" cy="0"/>
          </a:xfrm>
          <a:prstGeom prst="line">
            <a:avLst/>
          </a:prstGeom>
          <a:noFill/>
          <a:ln w="19050">
            <a:solidFill>
              <a:srgbClr val="1F6B4F"/>
            </a:solidFill>
            <a:prstDash val="solid"/>
            <a:tailEnd type="triangle"/>
          </a:ln>
        </p:spPr>
      </p:sp>
      <p:sp>
        <p:nvSpPr>
          <p:cNvPr id="14" name="Shape 12"/>
          <p:cNvSpPr/>
          <p:nvPr/>
        </p:nvSpPr>
        <p:spPr>
          <a:xfrm>
            <a:off x="3023555" y="2240280"/>
            <a:ext cx="1743395" cy="2331720"/>
          </a:xfrm>
          <a:prstGeom prst="roundRect">
            <a:avLst>
              <a:gd name="adj" fmla="val 6294"/>
            </a:avLst>
          </a:prstGeom>
          <a:solidFill>
            <a:srgbClr val="F3F8F3"/>
          </a:solidFill>
          <a:ln w="9525">
            <a:solidFill>
              <a:srgbClr val="D6DCD7"/>
            </a:solidFill>
            <a:prstDash val="solid"/>
          </a:ln>
        </p:spPr>
      </p:sp>
      <p:sp>
        <p:nvSpPr>
          <p:cNvPr id="15" name="Text 13"/>
          <p:cNvSpPr txBox="1"/>
          <p:nvPr/>
        </p:nvSpPr>
        <p:spPr>
          <a:xfrm>
            <a:off x="3252155" y="2468880"/>
            <a:ext cx="1286195" cy="365760"/>
          </a:xfrm>
          <a:prstGeom prst="rect">
            <a:avLst/>
          </a:prstGeom>
          <a:noFill/>
          <a:ln/>
        </p:spPr>
        <p:txBody>
          <a:bodyPr wrap="square" lIns="0" tIns="0" rIns="0" bIns="0" rtlCol="0" anchor="ctr"/>
          <a:lstStyle/>
          <a:p>
            <a:pPr indent="0" marL="0">
              <a:buNone/>
            </a:pPr>
            <a:r>
              <a:rPr lang="en-US" sz="1600" b="1" dirty="0">
                <a:solidFill>
                  <a:srgbClr val="161C19"/>
                </a:solidFill>
                <a:latin typeface="Arial" pitchFamily="34" charset="0"/>
                <a:ea typeface="Arial" pitchFamily="34" charset="-122"/>
                <a:cs typeface="Arial" pitchFamily="34" charset="-120"/>
              </a:rPr>
              <a:t>CLEAN</a:t>
            </a:r>
            <a:endParaRPr lang="en-US" sz="1600" dirty="0"/>
          </a:p>
        </p:txBody>
      </p:sp>
      <p:sp>
        <p:nvSpPr>
          <p:cNvPr id="16" name="Text 14"/>
          <p:cNvSpPr txBox="1"/>
          <p:nvPr/>
        </p:nvSpPr>
        <p:spPr>
          <a:xfrm>
            <a:off x="3252155" y="2852928"/>
            <a:ext cx="1286195" cy="274320"/>
          </a:xfrm>
          <a:prstGeom prst="rect">
            <a:avLst/>
          </a:prstGeom>
          <a:noFill/>
          <a:ln/>
        </p:spPr>
        <p:txBody>
          <a:bodyPr wrap="square" lIns="0" tIns="0" rIns="0" bIns="0" rtlCol="0" anchor="ctr"/>
          <a:lstStyle/>
          <a:p>
            <a:pPr indent="0" marL="0">
              <a:buNone/>
            </a:pPr>
            <a:r>
              <a:rPr lang="en-US" sz="1200" b="1" dirty="0">
                <a:solidFill>
                  <a:srgbClr val="1F6B4F"/>
                </a:solidFill>
                <a:latin typeface="Arial" pitchFamily="34" charset="0"/>
                <a:ea typeface="Arial" pitchFamily="34" charset="-122"/>
                <a:cs typeface="Arial" pitchFamily="34" charset="-120"/>
              </a:rPr>
              <a:t>Kaiyaan</a:t>
            </a:r>
            <a:endParaRPr lang="en-US" sz="1200" dirty="0"/>
          </a:p>
        </p:txBody>
      </p:sp>
      <p:sp>
        <p:nvSpPr>
          <p:cNvPr id="17" name="Text 15"/>
          <p:cNvSpPr txBox="1"/>
          <p:nvPr/>
        </p:nvSpPr>
        <p:spPr>
          <a:xfrm>
            <a:off x="3252155" y="3246120"/>
            <a:ext cx="1286195" cy="1280160"/>
          </a:xfrm>
          <a:prstGeom prst="rect">
            <a:avLst/>
          </a:prstGeom>
          <a:noFill/>
          <a:ln/>
        </p:spPr>
        <p:txBody>
          <a:bodyPr wrap="square" lIns="0" tIns="0" rIns="0" bIns="0" rtlCol="0" anchor="t"/>
          <a:lstStyle/>
          <a:p>
            <a:pPr indent="0" marL="0">
              <a:buNone/>
            </a:pPr>
            <a:r>
              <a:rPr lang="en-US" sz="1200" dirty="0">
                <a:solidFill>
                  <a:srgbClr val="4E5955"/>
                </a:solidFill>
                <a:latin typeface="Arial" pitchFamily="34" charset="0"/>
                <a:ea typeface="Arial" pitchFamily="34" charset="-122"/>
                <a:cs typeface="Arial" pitchFamily="34" charset="-120"/>
              </a:rPr>
              <a:t>Standardize formats, handle gaps and outliers, check quality.</a:t>
            </a:r>
            <a:endParaRPr lang="en-US" sz="1200" dirty="0"/>
          </a:p>
        </p:txBody>
      </p:sp>
      <p:sp>
        <p:nvSpPr>
          <p:cNvPr id="18" name="Shape 16"/>
          <p:cNvSpPr/>
          <p:nvPr/>
        </p:nvSpPr>
        <p:spPr>
          <a:xfrm>
            <a:off x="4840102" y="3401568"/>
            <a:ext cx="310896" cy="0"/>
          </a:xfrm>
          <a:prstGeom prst="line">
            <a:avLst/>
          </a:prstGeom>
          <a:noFill/>
          <a:ln w="19050">
            <a:solidFill>
              <a:srgbClr val="1F6B4F"/>
            </a:solidFill>
            <a:prstDash val="solid"/>
            <a:tailEnd type="triangle"/>
          </a:ln>
        </p:spPr>
      </p:sp>
      <p:sp>
        <p:nvSpPr>
          <p:cNvPr id="19" name="Shape 17"/>
          <p:cNvSpPr/>
          <p:nvPr/>
        </p:nvSpPr>
        <p:spPr>
          <a:xfrm>
            <a:off x="5224150" y="2240280"/>
            <a:ext cx="1743395" cy="2331720"/>
          </a:xfrm>
          <a:prstGeom prst="roundRect">
            <a:avLst>
              <a:gd name="adj" fmla="val 6294"/>
            </a:avLst>
          </a:prstGeom>
          <a:solidFill>
            <a:srgbClr val="E3EDE5"/>
          </a:solidFill>
          <a:ln w="19050">
            <a:solidFill>
              <a:srgbClr val="1F6B4F"/>
            </a:solidFill>
            <a:prstDash val="solid"/>
          </a:ln>
        </p:spPr>
      </p:sp>
      <p:sp>
        <p:nvSpPr>
          <p:cNvPr id="20" name="Text 18"/>
          <p:cNvSpPr txBox="1"/>
          <p:nvPr/>
        </p:nvSpPr>
        <p:spPr>
          <a:xfrm>
            <a:off x="5452750" y="2468880"/>
            <a:ext cx="1286195" cy="365760"/>
          </a:xfrm>
          <a:prstGeom prst="rect">
            <a:avLst/>
          </a:prstGeom>
          <a:noFill/>
          <a:ln/>
        </p:spPr>
        <p:txBody>
          <a:bodyPr wrap="square" lIns="0" tIns="0" rIns="0" bIns="0" rtlCol="0" anchor="ctr"/>
          <a:lstStyle/>
          <a:p>
            <a:pPr indent="0" marL="0">
              <a:buNone/>
            </a:pPr>
            <a:r>
              <a:rPr lang="en-US" sz="1600" b="1" dirty="0">
                <a:solidFill>
                  <a:srgbClr val="161C19"/>
                </a:solidFill>
                <a:latin typeface="Arial" pitchFamily="34" charset="0"/>
                <a:ea typeface="Arial" pitchFamily="34" charset="-122"/>
                <a:cs typeface="Arial" pitchFamily="34" charset="-120"/>
              </a:rPr>
              <a:t>TRAIN</a:t>
            </a:r>
            <a:endParaRPr lang="en-US" sz="1600" dirty="0"/>
          </a:p>
        </p:txBody>
      </p:sp>
      <p:sp>
        <p:nvSpPr>
          <p:cNvPr id="21" name="Text 19"/>
          <p:cNvSpPr txBox="1"/>
          <p:nvPr/>
        </p:nvSpPr>
        <p:spPr>
          <a:xfrm>
            <a:off x="5452750" y="2852928"/>
            <a:ext cx="1286195" cy="274320"/>
          </a:xfrm>
          <a:prstGeom prst="rect">
            <a:avLst/>
          </a:prstGeom>
          <a:noFill/>
          <a:ln/>
        </p:spPr>
        <p:txBody>
          <a:bodyPr wrap="square" lIns="0" tIns="0" rIns="0" bIns="0" rtlCol="0" anchor="ctr"/>
          <a:lstStyle/>
          <a:p>
            <a:pPr indent="0" marL="0">
              <a:buNone/>
            </a:pPr>
            <a:r>
              <a:rPr lang="en-US" sz="1200" b="1" dirty="0">
                <a:solidFill>
                  <a:srgbClr val="1F6B4F"/>
                </a:solidFill>
                <a:latin typeface="Arial" pitchFamily="34" charset="0"/>
                <a:ea typeface="Arial" pitchFamily="34" charset="-122"/>
                <a:cs typeface="Arial" pitchFamily="34" charset="-120"/>
              </a:rPr>
              <a:t>Aaryaman</a:t>
            </a:r>
            <a:endParaRPr lang="en-US" sz="1200" dirty="0"/>
          </a:p>
        </p:txBody>
      </p:sp>
      <p:sp>
        <p:nvSpPr>
          <p:cNvPr id="22" name="Text 20"/>
          <p:cNvSpPr txBox="1"/>
          <p:nvPr/>
        </p:nvSpPr>
        <p:spPr>
          <a:xfrm>
            <a:off x="5452750" y="3246120"/>
            <a:ext cx="1286195" cy="1280160"/>
          </a:xfrm>
          <a:prstGeom prst="rect">
            <a:avLst/>
          </a:prstGeom>
          <a:noFill/>
          <a:ln/>
        </p:spPr>
        <p:txBody>
          <a:bodyPr wrap="square" lIns="0" tIns="0" rIns="0" bIns="0" rtlCol="0" anchor="t"/>
          <a:lstStyle/>
          <a:p>
            <a:pPr indent="0" marL="0">
              <a:buNone/>
            </a:pPr>
            <a:r>
              <a:rPr lang="en-US" sz="1200" dirty="0">
                <a:solidFill>
                  <a:srgbClr val="4E5955"/>
                </a:solidFill>
                <a:latin typeface="Arial" pitchFamily="34" charset="0"/>
                <a:ea typeface="Arial" pitchFamily="34" charset="-122"/>
                <a:cs typeface="Arial" pitchFamily="34" charset="-120"/>
              </a:rPr>
              <a:t>Train and evaluate the forecasting network on 12 to 24 months of history.</a:t>
            </a:r>
            <a:endParaRPr lang="en-US" sz="1200" dirty="0"/>
          </a:p>
        </p:txBody>
      </p:sp>
      <p:sp>
        <p:nvSpPr>
          <p:cNvPr id="23" name="Shape 21"/>
          <p:cNvSpPr/>
          <p:nvPr/>
        </p:nvSpPr>
        <p:spPr>
          <a:xfrm>
            <a:off x="7040697" y="3401568"/>
            <a:ext cx="310896" cy="0"/>
          </a:xfrm>
          <a:prstGeom prst="line">
            <a:avLst/>
          </a:prstGeom>
          <a:noFill/>
          <a:ln w="19050">
            <a:solidFill>
              <a:srgbClr val="1F6B4F"/>
            </a:solidFill>
            <a:prstDash val="solid"/>
            <a:tailEnd type="triangle"/>
          </a:ln>
        </p:spPr>
      </p:sp>
      <p:sp>
        <p:nvSpPr>
          <p:cNvPr id="24" name="Shape 22"/>
          <p:cNvSpPr/>
          <p:nvPr/>
        </p:nvSpPr>
        <p:spPr>
          <a:xfrm>
            <a:off x="7424745" y="2240280"/>
            <a:ext cx="1743395" cy="2331720"/>
          </a:xfrm>
          <a:prstGeom prst="roundRect">
            <a:avLst>
              <a:gd name="adj" fmla="val 6294"/>
            </a:avLst>
          </a:prstGeom>
          <a:solidFill>
            <a:srgbClr val="F3F8F3"/>
          </a:solidFill>
          <a:ln w="9525">
            <a:solidFill>
              <a:srgbClr val="D6DCD7"/>
            </a:solidFill>
            <a:prstDash val="solid"/>
          </a:ln>
        </p:spPr>
      </p:sp>
      <p:sp>
        <p:nvSpPr>
          <p:cNvPr id="25" name="Text 23"/>
          <p:cNvSpPr txBox="1"/>
          <p:nvPr/>
        </p:nvSpPr>
        <p:spPr>
          <a:xfrm>
            <a:off x="7653345" y="2468880"/>
            <a:ext cx="1286195" cy="365760"/>
          </a:xfrm>
          <a:prstGeom prst="rect">
            <a:avLst/>
          </a:prstGeom>
          <a:noFill/>
          <a:ln/>
        </p:spPr>
        <p:txBody>
          <a:bodyPr wrap="square" lIns="0" tIns="0" rIns="0" bIns="0" rtlCol="0" anchor="ctr"/>
          <a:lstStyle/>
          <a:p>
            <a:pPr indent="0" marL="0">
              <a:buNone/>
            </a:pPr>
            <a:r>
              <a:rPr lang="en-US" sz="1600" b="1" dirty="0">
                <a:solidFill>
                  <a:srgbClr val="161C19"/>
                </a:solidFill>
                <a:latin typeface="Arial" pitchFamily="34" charset="0"/>
                <a:ea typeface="Arial" pitchFamily="34" charset="-122"/>
                <a:cs typeface="Arial" pitchFamily="34" charset="-120"/>
              </a:rPr>
              <a:t>CONNECT</a:t>
            </a:r>
            <a:endParaRPr lang="en-US" sz="1600" dirty="0"/>
          </a:p>
        </p:txBody>
      </p:sp>
      <p:sp>
        <p:nvSpPr>
          <p:cNvPr id="26" name="Text 24"/>
          <p:cNvSpPr txBox="1"/>
          <p:nvPr/>
        </p:nvSpPr>
        <p:spPr>
          <a:xfrm>
            <a:off x="7653345" y="2852928"/>
            <a:ext cx="1286195" cy="274320"/>
          </a:xfrm>
          <a:prstGeom prst="rect">
            <a:avLst/>
          </a:prstGeom>
          <a:noFill/>
          <a:ln/>
        </p:spPr>
        <p:txBody>
          <a:bodyPr wrap="square" lIns="0" tIns="0" rIns="0" bIns="0" rtlCol="0" anchor="ctr"/>
          <a:lstStyle/>
          <a:p>
            <a:pPr indent="0" marL="0">
              <a:buNone/>
            </a:pPr>
            <a:r>
              <a:rPr lang="en-US" sz="1200" b="1" dirty="0">
                <a:solidFill>
                  <a:srgbClr val="1F6B4F"/>
                </a:solidFill>
                <a:latin typeface="Arial" pitchFamily="34" charset="0"/>
                <a:ea typeface="Arial" pitchFamily="34" charset="-122"/>
                <a:cs typeface="Arial" pitchFamily="34" charset="-120"/>
              </a:rPr>
              <a:t>Ethan and Palash</a:t>
            </a:r>
            <a:endParaRPr lang="en-US" sz="1200" dirty="0"/>
          </a:p>
        </p:txBody>
      </p:sp>
      <p:sp>
        <p:nvSpPr>
          <p:cNvPr id="27" name="Text 25"/>
          <p:cNvSpPr txBox="1"/>
          <p:nvPr/>
        </p:nvSpPr>
        <p:spPr>
          <a:xfrm>
            <a:off x="7653345" y="3246120"/>
            <a:ext cx="1286195" cy="1280160"/>
          </a:xfrm>
          <a:prstGeom prst="rect">
            <a:avLst/>
          </a:prstGeom>
          <a:noFill/>
          <a:ln/>
        </p:spPr>
        <p:txBody>
          <a:bodyPr wrap="square" lIns="0" tIns="0" rIns="0" bIns="0" rtlCol="0" anchor="t"/>
          <a:lstStyle/>
          <a:p>
            <a:pPr indent="0" marL="0">
              <a:buNone/>
            </a:pPr>
            <a:r>
              <a:rPr lang="en-US" sz="1200" dirty="0">
                <a:solidFill>
                  <a:srgbClr val="4E5955"/>
                </a:solidFill>
                <a:latin typeface="Arial" pitchFamily="34" charset="0"/>
                <a:ea typeface="Arial" pitchFamily="34" charset="-122"/>
                <a:cs typeface="Arial" pitchFamily="34" charset="-120"/>
              </a:rPr>
              <a:t>Upload pipeline, API and database, then wire the dashboard to real output.</a:t>
            </a:r>
            <a:endParaRPr lang="en-US" sz="1200" dirty="0"/>
          </a:p>
        </p:txBody>
      </p:sp>
      <p:sp>
        <p:nvSpPr>
          <p:cNvPr id="28" name="Shape 26"/>
          <p:cNvSpPr/>
          <p:nvPr/>
        </p:nvSpPr>
        <p:spPr>
          <a:xfrm>
            <a:off x="9241292" y="3401568"/>
            <a:ext cx="310896" cy="0"/>
          </a:xfrm>
          <a:prstGeom prst="line">
            <a:avLst/>
          </a:prstGeom>
          <a:noFill/>
          <a:ln w="19050">
            <a:solidFill>
              <a:srgbClr val="1F6B4F"/>
            </a:solidFill>
            <a:prstDash val="solid"/>
            <a:tailEnd type="triangle"/>
          </a:ln>
        </p:spPr>
      </p:sp>
      <p:sp>
        <p:nvSpPr>
          <p:cNvPr id="29" name="Shape 27"/>
          <p:cNvSpPr/>
          <p:nvPr/>
        </p:nvSpPr>
        <p:spPr>
          <a:xfrm>
            <a:off x="9625340" y="2240280"/>
            <a:ext cx="1743395" cy="2331720"/>
          </a:xfrm>
          <a:prstGeom prst="roundRect">
            <a:avLst>
              <a:gd name="adj" fmla="val 6294"/>
            </a:avLst>
          </a:prstGeom>
          <a:solidFill>
            <a:srgbClr val="F3F8F3"/>
          </a:solidFill>
          <a:ln w="9525">
            <a:solidFill>
              <a:srgbClr val="D6DCD7"/>
            </a:solidFill>
            <a:prstDash val="solid"/>
          </a:ln>
        </p:spPr>
      </p:sp>
      <p:sp>
        <p:nvSpPr>
          <p:cNvPr id="30" name="Text 28"/>
          <p:cNvSpPr txBox="1"/>
          <p:nvPr/>
        </p:nvSpPr>
        <p:spPr>
          <a:xfrm>
            <a:off x="9853940" y="2468880"/>
            <a:ext cx="1286195" cy="365760"/>
          </a:xfrm>
          <a:prstGeom prst="rect">
            <a:avLst/>
          </a:prstGeom>
          <a:noFill/>
          <a:ln/>
        </p:spPr>
        <p:txBody>
          <a:bodyPr wrap="square" lIns="0" tIns="0" rIns="0" bIns="0" rtlCol="0" anchor="ctr"/>
          <a:lstStyle/>
          <a:p>
            <a:pPr indent="0" marL="0">
              <a:buNone/>
            </a:pPr>
            <a:r>
              <a:rPr lang="en-US" sz="1600" b="1" dirty="0">
                <a:solidFill>
                  <a:srgbClr val="161C19"/>
                </a:solidFill>
                <a:latin typeface="Arial" pitchFamily="34" charset="0"/>
                <a:ea typeface="Arial" pitchFamily="34" charset="-122"/>
                <a:cs typeface="Arial" pitchFamily="34" charset="-120"/>
              </a:rPr>
              <a:t>TEST</a:t>
            </a:r>
            <a:endParaRPr lang="en-US" sz="1600" dirty="0"/>
          </a:p>
        </p:txBody>
      </p:sp>
      <p:sp>
        <p:nvSpPr>
          <p:cNvPr id="31" name="Text 29"/>
          <p:cNvSpPr txBox="1"/>
          <p:nvPr/>
        </p:nvSpPr>
        <p:spPr>
          <a:xfrm>
            <a:off x="9853940" y="2852928"/>
            <a:ext cx="1286195" cy="274320"/>
          </a:xfrm>
          <a:prstGeom prst="rect">
            <a:avLst/>
          </a:prstGeom>
          <a:noFill/>
          <a:ln/>
        </p:spPr>
        <p:txBody>
          <a:bodyPr wrap="square" lIns="0" tIns="0" rIns="0" bIns="0" rtlCol="0" anchor="ctr"/>
          <a:lstStyle/>
          <a:p>
            <a:pPr indent="0" marL="0">
              <a:buNone/>
            </a:pPr>
            <a:r>
              <a:rPr lang="en-US" sz="1200" b="1" dirty="0">
                <a:solidFill>
                  <a:srgbClr val="1F6B4F"/>
                </a:solidFill>
                <a:latin typeface="Arial" pitchFamily="34" charset="0"/>
                <a:ea typeface="Arial" pitchFamily="34" charset="-122"/>
                <a:cs typeface="Arial" pitchFamily="34" charset="-120"/>
              </a:rPr>
              <a:t>Everyone</a:t>
            </a:r>
            <a:endParaRPr lang="en-US" sz="1200" dirty="0"/>
          </a:p>
        </p:txBody>
      </p:sp>
      <p:sp>
        <p:nvSpPr>
          <p:cNvPr id="32" name="Text 30"/>
          <p:cNvSpPr txBox="1"/>
          <p:nvPr/>
        </p:nvSpPr>
        <p:spPr>
          <a:xfrm>
            <a:off x="9853940" y="3246120"/>
            <a:ext cx="1286195" cy="1280160"/>
          </a:xfrm>
          <a:prstGeom prst="rect">
            <a:avLst/>
          </a:prstGeom>
          <a:noFill/>
          <a:ln/>
        </p:spPr>
        <p:txBody>
          <a:bodyPr wrap="square" lIns="0" tIns="0" rIns="0" bIns="0" rtlCol="0" anchor="t"/>
          <a:lstStyle/>
          <a:p>
            <a:pPr indent="0" marL="0">
              <a:buNone/>
            </a:pPr>
            <a:r>
              <a:rPr lang="en-US" sz="1200" dirty="0">
                <a:solidFill>
                  <a:srgbClr val="4E5955"/>
                </a:solidFill>
                <a:latin typeface="Arial" pitchFamily="34" charset="0"/>
                <a:ea typeface="Arial" pitchFamily="34" charset="-122"/>
                <a:cs typeface="Arial" pitchFamily="34" charset="-120"/>
              </a:rPr>
              <a:t>Accuracy checks, security and privacy review, polish.</a:t>
            </a:r>
            <a:endParaRPr lang="en-US" sz="1200" dirty="0"/>
          </a:p>
        </p:txBody>
      </p:sp>
      <p:sp>
        <p:nvSpPr>
          <p:cNvPr id="33" name="Text 31"/>
          <p:cNvSpPr txBox="1"/>
          <p:nvPr/>
        </p:nvSpPr>
        <p:spPr>
          <a:xfrm>
            <a:off x="822960" y="5074920"/>
            <a:ext cx="10545775" cy="457200"/>
          </a:xfrm>
          <a:prstGeom prst="rect">
            <a:avLst/>
          </a:prstGeom>
          <a:noFill/>
          <a:ln/>
        </p:spPr>
        <p:txBody>
          <a:bodyPr wrap="square" lIns="0" tIns="0" rIns="0" bIns="0" rtlCol="0" anchor="ctr"/>
          <a:lstStyle/>
          <a:p>
            <a:pPr algn="ctr" indent="0" marL="0">
              <a:buNone/>
            </a:pPr>
            <a:r>
              <a:rPr lang="en-US" sz="1600" b="1" dirty="0">
                <a:solidFill>
                  <a:srgbClr val="2A3330"/>
                </a:solidFill>
                <a:latin typeface="Arial" pitchFamily="34" charset="0"/>
                <a:ea typeface="Arial" pitchFamily="34" charset="-122"/>
                <a:cs typeface="Arial" pitchFamily="34" charset="-120"/>
              </a:rPr>
              <a:t>The model is the core of the product. Everything before it gives it clean, real data to learn from.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10728655" y="502920"/>
            <a:ext cx="640080" cy="640080"/>
          </a:xfrm>
          <a:prstGeom prst="roundRect">
            <a:avLst>
              <a:gd name="adj" fmla="val 11000"/>
            </a:avLst>
          </a:prstGeom>
          <a:solidFill>
            <a:srgbClr val="161C1A"/>
          </a:solidFill>
          <a:ln w="12700">
            <a:solidFill>
              <a:srgbClr val="161C1A"/>
            </a:solidFill>
            <a:prstDash val="solid"/>
          </a:ln>
        </p:spPr>
      </p:sp>
      <p:sp>
        <p:nvSpPr>
          <p:cNvPr id="3" name="Shape 1"/>
          <p:cNvSpPr/>
          <p:nvPr/>
        </p:nvSpPr>
        <p:spPr>
          <a:xfrm>
            <a:off x="10860512" y="607253"/>
            <a:ext cx="375727" cy="42885"/>
          </a:xfrm>
          <a:prstGeom prst="rect">
            <a:avLst/>
          </a:prstGeom>
          <a:solidFill>
            <a:srgbClr val="3D9472"/>
          </a:solidFill>
          <a:ln w="12700">
            <a:solidFill>
              <a:srgbClr val="3D9472"/>
            </a:solidFill>
            <a:prstDash val="solid"/>
          </a:ln>
        </p:spPr>
      </p:sp>
      <p:sp>
        <p:nvSpPr>
          <p:cNvPr id="4" name="Shape 2"/>
          <p:cNvSpPr/>
          <p:nvPr/>
        </p:nvSpPr>
        <p:spPr>
          <a:xfrm>
            <a:off x="10860512" y="876727"/>
            <a:ext cx="90891" cy="147218"/>
          </a:xfrm>
          <a:prstGeom prst="rect">
            <a:avLst/>
          </a:prstGeom>
          <a:solidFill>
            <a:srgbClr val="7E857E"/>
          </a:solidFill>
          <a:ln w="12700">
            <a:solidFill>
              <a:srgbClr val="7E857E"/>
            </a:solidFill>
            <a:prstDash val="solid"/>
          </a:ln>
        </p:spPr>
      </p:sp>
      <p:sp>
        <p:nvSpPr>
          <p:cNvPr id="5" name="Shape 3"/>
          <p:cNvSpPr/>
          <p:nvPr/>
        </p:nvSpPr>
        <p:spPr>
          <a:xfrm>
            <a:off x="11007730" y="794796"/>
            <a:ext cx="89611" cy="229149"/>
          </a:xfrm>
          <a:prstGeom prst="rect">
            <a:avLst/>
          </a:prstGeom>
          <a:solidFill>
            <a:srgbClr val="AFBAB2"/>
          </a:solidFill>
          <a:ln w="12700">
            <a:solidFill>
              <a:srgbClr val="AFBAB2"/>
            </a:solidFill>
            <a:prstDash val="solid"/>
          </a:ln>
        </p:spPr>
      </p:sp>
      <p:sp>
        <p:nvSpPr>
          <p:cNvPr id="6" name="Shape 4"/>
          <p:cNvSpPr/>
          <p:nvPr/>
        </p:nvSpPr>
        <p:spPr>
          <a:xfrm>
            <a:off x="11153028" y="675742"/>
            <a:ext cx="89611" cy="348204"/>
          </a:xfrm>
          <a:prstGeom prst="rect">
            <a:avLst/>
          </a:prstGeom>
          <a:solidFill>
            <a:srgbClr val="E3EEE6"/>
          </a:solidFill>
          <a:ln w="12700">
            <a:solidFill>
              <a:srgbClr val="E3EEE6"/>
            </a:solidFill>
            <a:prstDash val="solid"/>
          </a:ln>
        </p:spPr>
      </p:sp>
      <p:sp>
        <p:nvSpPr>
          <p:cNvPr id="7" name="Text 5"/>
          <p:cNvSpPr txBox="1"/>
          <p:nvPr/>
        </p:nvSpPr>
        <p:spPr>
          <a:xfrm>
            <a:off x="822960" y="685800"/>
            <a:ext cx="7315200" cy="274320"/>
          </a:xfrm>
          <a:prstGeom prst="rect">
            <a:avLst/>
          </a:prstGeom>
          <a:noFill/>
          <a:ln/>
        </p:spPr>
        <p:txBody>
          <a:bodyPr wrap="square" lIns="0" tIns="0" rIns="0" bIns="0" rtlCol="0" anchor="ctr"/>
          <a:lstStyle/>
          <a:p>
            <a:pPr indent="0" marL="0">
              <a:buNone/>
            </a:pPr>
            <a:r>
              <a:rPr lang="en-US" sz="1200" b="1" spc="400" kern="0" dirty="0">
                <a:solidFill>
                  <a:srgbClr val="1F6B4F"/>
                </a:solidFill>
                <a:latin typeface="Arial" pitchFamily="34" charset="0"/>
                <a:ea typeface="Arial" pitchFamily="34" charset="-122"/>
                <a:cs typeface="Arial" pitchFamily="34" charset="-120"/>
              </a:rPr>
              <a:t>TIMELINE</a:t>
            </a:r>
            <a:endParaRPr lang="en-US" sz="1200" dirty="0"/>
          </a:p>
        </p:txBody>
      </p:sp>
      <p:sp>
        <p:nvSpPr>
          <p:cNvPr id="8" name="Text 6"/>
          <p:cNvSpPr txBox="1"/>
          <p:nvPr/>
        </p:nvSpPr>
        <p:spPr>
          <a:xfrm>
            <a:off x="822960" y="1005840"/>
            <a:ext cx="9448495" cy="731520"/>
          </a:xfrm>
          <a:prstGeom prst="rect">
            <a:avLst/>
          </a:prstGeom>
          <a:noFill/>
          <a:ln/>
        </p:spPr>
        <p:txBody>
          <a:bodyPr wrap="square" lIns="0" tIns="0" rIns="0" bIns="0" rtlCol="0" anchor="t"/>
          <a:lstStyle/>
          <a:p>
            <a:pPr indent="0" marL="0">
              <a:buNone/>
            </a:pPr>
            <a:r>
              <a:rPr lang="en-US" sz="3600" b="1" dirty="0">
                <a:solidFill>
                  <a:srgbClr val="161C19"/>
                </a:solidFill>
                <a:latin typeface="Arial" pitchFamily="34" charset="0"/>
                <a:ea typeface="Arial" pitchFamily="34" charset="-122"/>
                <a:cs typeface="Arial" pitchFamily="34" charset="-120"/>
              </a:rPr>
              <a:t>Our plan from here</a:t>
            </a:r>
            <a:endParaRPr lang="en-US" sz="3600" dirty="0"/>
          </a:p>
        </p:txBody>
      </p:sp>
      <p:sp>
        <p:nvSpPr>
          <p:cNvPr id="9" name="Text 7"/>
          <p:cNvSpPr txBox="1"/>
          <p:nvPr/>
        </p:nvSpPr>
        <p:spPr>
          <a:xfrm>
            <a:off x="822960" y="1783080"/>
            <a:ext cx="7315200" cy="320040"/>
          </a:xfrm>
          <a:prstGeom prst="rect">
            <a:avLst/>
          </a:prstGeom>
          <a:noFill/>
          <a:ln/>
        </p:spPr>
        <p:txBody>
          <a:bodyPr wrap="square" lIns="0" tIns="0" rIns="0" bIns="0" rtlCol="0" anchor="ctr"/>
          <a:lstStyle/>
          <a:p>
            <a:pPr indent="0" marL="0">
              <a:buNone/>
            </a:pPr>
            <a:r>
              <a:rPr lang="en-US" sz="1500" dirty="0">
                <a:solidFill>
                  <a:srgbClr val="4E5955"/>
                </a:solidFill>
                <a:latin typeface="Arial" pitchFamily="34" charset="0"/>
                <a:ea typeface="Arial" pitchFamily="34" charset="-122"/>
                <a:cs typeface="Arial" pitchFamily="34" charset="-120"/>
              </a:rPr>
              <a:t>Proposed schedule, October through January</a:t>
            </a:r>
            <a:endParaRPr lang="en-US" sz="1500" dirty="0"/>
          </a:p>
        </p:txBody>
      </p:sp>
      <p:sp>
        <p:nvSpPr>
          <p:cNvPr id="10" name="Shape 8"/>
          <p:cNvSpPr/>
          <p:nvPr/>
        </p:nvSpPr>
        <p:spPr>
          <a:xfrm>
            <a:off x="1877538" y="3200400"/>
            <a:ext cx="8436620" cy="0"/>
          </a:xfrm>
          <a:prstGeom prst="line">
            <a:avLst/>
          </a:prstGeom>
          <a:noFill/>
          <a:ln w="25400">
            <a:solidFill>
              <a:srgbClr val="D6DCD7"/>
            </a:solidFill>
            <a:prstDash val="solid"/>
          </a:ln>
        </p:spPr>
      </p:sp>
      <p:sp>
        <p:nvSpPr>
          <p:cNvPr id="11" name="Text 9"/>
          <p:cNvSpPr txBox="1"/>
          <p:nvPr/>
        </p:nvSpPr>
        <p:spPr>
          <a:xfrm>
            <a:off x="914400" y="2560320"/>
            <a:ext cx="1926275" cy="274320"/>
          </a:xfrm>
          <a:prstGeom prst="rect">
            <a:avLst/>
          </a:prstGeom>
          <a:noFill/>
          <a:ln/>
        </p:spPr>
        <p:txBody>
          <a:bodyPr wrap="square" lIns="0" tIns="0" rIns="0" bIns="0" rtlCol="0" anchor="ctr"/>
          <a:lstStyle/>
          <a:p>
            <a:pPr algn="ctr" indent="0" marL="0">
              <a:buNone/>
            </a:pPr>
            <a:r>
              <a:rPr lang="en-US" sz="1100" b="1" spc="300" kern="0" dirty="0">
                <a:solidFill>
                  <a:srgbClr val="1F6B4F"/>
                </a:solidFill>
                <a:latin typeface="Arial" pitchFamily="34" charset="0"/>
                <a:ea typeface="Arial" pitchFamily="34" charset="-122"/>
                <a:cs typeface="Arial" pitchFamily="34" charset="-120"/>
              </a:rPr>
              <a:t>OCTOBER</a:t>
            </a:r>
            <a:endParaRPr lang="en-US" sz="1100" dirty="0"/>
          </a:p>
        </p:txBody>
      </p:sp>
      <p:sp>
        <p:nvSpPr>
          <p:cNvPr id="12" name="Shape 10"/>
          <p:cNvSpPr/>
          <p:nvPr/>
        </p:nvSpPr>
        <p:spPr>
          <a:xfrm>
            <a:off x="1722090" y="3044952"/>
            <a:ext cx="310896" cy="310896"/>
          </a:xfrm>
          <a:prstGeom prst="ellipse">
            <a:avLst/>
          </a:prstGeom>
          <a:solidFill>
            <a:srgbClr val="FFFFFF"/>
          </a:solidFill>
          <a:ln w="25400">
            <a:solidFill>
              <a:srgbClr val="1F6B4F"/>
            </a:solidFill>
            <a:prstDash val="solid"/>
          </a:ln>
        </p:spPr>
      </p:sp>
      <p:sp>
        <p:nvSpPr>
          <p:cNvPr id="13" name="Text 11"/>
          <p:cNvSpPr txBox="1"/>
          <p:nvPr/>
        </p:nvSpPr>
        <p:spPr>
          <a:xfrm>
            <a:off x="914400" y="3703320"/>
            <a:ext cx="1926275" cy="365760"/>
          </a:xfrm>
          <a:prstGeom prst="rect">
            <a:avLst/>
          </a:prstGeom>
          <a:noFill/>
          <a:ln/>
        </p:spPr>
        <p:txBody>
          <a:bodyPr wrap="square" lIns="0" tIns="0" rIns="0" bIns="0" rtlCol="0" anchor="ctr"/>
          <a:lstStyle/>
          <a:p>
            <a:pPr algn="ctr" indent="0" marL="0">
              <a:buNone/>
            </a:pPr>
            <a:r>
              <a:rPr lang="en-US" sz="1600" b="1" dirty="0">
                <a:solidFill>
                  <a:srgbClr val="161C19"/>
                </a:solidFill>
                <a:latin typeface="Arial" pitchFamily="34" charset="0"/>
                <a:ea typeface="Arial" pitchFamily="34" charset="-122"/>
                <a:cs typeface="Arial" pitchFamily="34" charset="-120"/>
              </a:rPr>
              <a:t>Data and design</a:t>
            </a:r>
            <a:endParaRPr lang="en-US" sz="1600" dirty="0"/>
          </a:p>
        </p:txBody>
      </p:sp>
      <p:sp>
        <p:nvSpPr>
          <p:cNvPr id="14" name="Text 12"/>
          <p:cNvSpPr txBox="1"/>
          <p:nvPr/>
        </p:nvSpPr>
        <p:spPr>
          <a:xfrm>
            <a:off x="960120" y="4160520"/>
            <a:ext cx="1834835" cy="914400"/>
          </a:xfrm>
          <a:prstGeom prst="rect">
            <a:avLst/>
          </a:prstGeom>
          <a:noFill/>
          <a:ln/>
        </p:spPr>
        <p:txBody>
          <a:bodyPr wrap="square" lIns="0" tIns="0" rIns="0" bIns="0" rtlCol="0" anchor="t"/>
          <a:lstStyle/>
          <a:p>
            <a:pPr algn="ctr" indent="0" marL="0">
              <a:spcAft>
                <a:spcPts val="600"/>
              </a:spcAft>
              <a:buNone/>
            </a:pPr>
            <a:r>
              <a:rPr lang="en-US" sz="1250" dirty="0">
                <a:solidFill>
                  <a:srgbClr val="4E5955"/>
                </a:solidFill>
                <a:latin typeface="Arial" pitchFamily="34" charset="0"/>
                <a:ea typeface="Arial" pitchFamily="34" charset="-122"/>
                <a:cs typeface="Arial" pitchFamily="34" charset="-120"/>
              </a:rPr>
              <a:t>Source financial datasets</a:t>
            </a:r>
            <a:endParaRPr lang="en-US" sz="1250" dirty="0"/>
          </a:p>
          <a:p>
            <a:pPr algn="ctr" indent="0" marL="0">
              <a:spcAft>
                <a:spcPts val="600"/>
              </a:spcAft>
              <a:buNone/>
            </a:pPr>
            <a:r>
              <a:rPr lang="en-US" sz="1250" dirty="0">
                <a:solidFill>
                  <a:srgbClr val="4E5955"/>
                </a:solidFill>
                <a:latin typeface="Arial" pitchFamily="34" charset="0"/>
                <a:ea typeface="Arial" pitchFamily="34" charset="-122"/>
                <a:cs typeface="Arial" pitchFamily="34" charset="-120"/>
              </a:rPr>
              <a:t>Design the full schema</a:t>
            </a:r>
            <a:endParaRPr lang="en-US" sz="1250" dirty="0"/>
          </a:p>
        </p:txBody>
      </p:sp>
      <p:sp>
        <p:nvSpPr>
          <p:cNvPr id="15" name="Text 13"/>
          <p:cNvSpPr txBox="1"/>
          <p:nvPr/>
        </p:nvSpPr>
        <p:spPr>
          <a:xfrm>
            <a:off x="3023555" y="2560320"/>
            <a:ext cx="1926275" cy="274320"/>
          </a:xfrm>
          <a:prstGeom prst="rect">
            <a:avLst/>
          </a:prstGeom>
          <a:noFill/>
          <a:ln/>
        </p:spPr>
        <p:txBody>
          <a:bodyPr wrap="square" lIns="0" tIns="0" rIns="0" bIns="0" rtlCol="0" anchor="ctr"/>
          <a:lstStyle/>
          <a:p>
            <a:pPr algn="ctr" indent="0" marL="0">
              <a:buNone/>
            </a:pPr>
            <a:r>
              <a:rPr lang="en-US" sz="1100" b="1" spc="300" kern="0" dirty="0">
                <a:solidFill>
                  <a:srgbClr val="1F6B4F"/>
                </a:solidFill>
                <a:latin typeface="Arial" pitchFamily="34" charset="0"/>
                <a:ea typeface="Arial" pitchFamily="34" charset="-122"/>
                <a:cs typeface="Arial" pitchFamily="34" charset="-120"/>
              </a:rPr>
              <a:t>NOVEMBER</a:t>
            </a:r>
            <a:endParaRPr lang="en-US" sz="1100" dirty="0"/>
          </a:p>
        </p:txBody>
      </p:sp>
      <p:sp>
        <p:nvSpPr>
          <p:cNvPr id="16" name="Shape 14"/>
          <p:cNvSpPr/>
          <p:nvPr/>
        </p:nvSpPr>
        <p:spPr>
          <a:xfrm>
            <a:off x="3831245" y="3044952"/>
            <a:ext cx="310896" cy="310896"/>
          </a:xfrm>
          <a:prstGeom prst="ellipse">
            <a:avLst/>
          </a:prstGeom>
          <a:solidFill>
            <a:srgbClr val="FFFFFF"/>
          </a:solidFill>
          <a:ln w="25400">
            <a:solidFill>
              <a:srgbClr val="1F6B4F"/>
            </a:solidFill>
            <a:prstDash val="solid"/>
          </a:ln>
        </p:spPr>
      </p:sp>
      <p:sp>
        <p:nvSpPr>
          <p:cNvPr id="17" name="Text 15"/>
          <p:cNvSpPr txBox="1"/>
          <p:nvPr/>
        </p:nvSpPr>
        <p:spPr>
          <a:xfrm>
            <a:off x="3023555" y="3703320"/>
            <a:ext cx="1926275" cy="365760"/>
          </a:xfrm>
          <a:prstGeom prst="rect">
            <a:avLst/>
          </a:prstGeom>
          <a:noFill/>
          <a:ln/>
        </p:spPr>
        <p:txBody>
          <a:bodyPr wrap="square" lIns="0" tIns="0" rIns="0" bIns="0" rtlCol="0" anchor="ctr"/>
          <a:lstStyle/>
          <a:p>
            <a:pPr algn="ctr" indent="0" marL="0">
              <a:buNone/>
            </a:pPr>
            <a:r>
              <a:rPr lang="en-US" sz="1600" b="1" dirty="0">
                <a:solidFill>
                  <a:srgbClr val="161C19"/>
                </a:solidFill>
                <a:latin typeface="Arial" pitchFamily="34" charset="0"/>
                <a:ea typeface="Arial" pitchFamily="34" charset="-122"/>
                <a:cs typeface="Arial" pitchFamily="34" charset="-120"/>
              </a:rPr>
              <a:t>Cleaning</a:t>
            </a:r>
            <a:endParaRPr lang="en-US" sz="1600" dirty="0"/>
          </a:p>
        </p:txBody>
      </p:sp>
      <p:sp>
        <p:nvSpPr>
          <p:cNvPr id="18" name="Text 16"/>
          <p:cNvSpPr txBox="1"/>
          <p:nvPr/>
        </p:nvSpPr>
        <p:spPr>
          <a:xfrm>
            <a:off x="3069275" y="4160520"/>
            <a:ext cx="1834835" cy="914400"/>
          </a:xfrm>
          <a:prstGeom prst="rect">
            <a:avLst/>
          </a:prstGeom>
          <a:noFill/>
          <a:ln/>
        </p:spPr>
        <p:txBody>
          <a:bodyPr wrap="square" lIns="0" tIns="0" rIns="0" bIns="0" rtlCol="0" anchor="t"/>
          <a:lstStyle/>
          <a:p>
            <a:pPr algn="ctr" indent="0" marL="0">
              <a:spcAft>
                <a:spcPts val="600"/>
              </a:spcAft>
              <a:buNone/>
            </a:pPr>
            <a:r>
              <a:rPr lang="en-US" sz="1250" dirty="0">
                <a:solidFill>
                  <a:srgbClr val="4E5955"/>
                </a:solidFill>
                <a:latin typeface="Arial" pitchFamily="34" charset="0"/>
                <a:ea typeface="Arial" pitchFamily="34" charset="-122"/>
                <a:cs typeface="Arial" pitchFamily="34" charset="-120"/>
              </a:rPr>
              <a:t>Clean and validate data</a:t>
            </a:r>
            <a:endParaRPr lang="en-US" sz="1250" dirty="0"/>
          </a:p>
          <a:p>
            <a:pPr algn="ctr" indent="0" marL="0">
              <a:spcAft>
                <a:spcPts val="600"/>
              </a:spcAft>
              <a:buNone/>
            </a:pPr>
            <a:r>
              <a:rPr lang="en-US" sz="1250" dirty="0">
                <a:solidFill>
                  <a:srgbClr val="4E5955"/>
                </a:solidFill>
                <a:latin typeface="Arial" pitchFamily="34" charset="0"/>
                <a:ea typeface="Arial" pitchFamily="34" charset="-122"/>
                <a:cs typeface="Arial" pitchFamily="34" charset="-120"/>
              </a:rPr>
              <a:t>Build a first baseline</a:t>
            </a:r>
            <a:endParaRPr lang="en-US" sz="1250" dirty="0"/>
          </a:p>
        </p:txBody>
      </p:sp>
      <p:sp>
        <p:nvSpPr>
          <p:cNvPr id="19" name="Text 17"/>
          <p:cNvSpPr txBox="1"/>
          <p:nvPr/>
        </p:nvSpPr>
        <p:spPr>
          <a:xfrm>
            <a:off x="5132710" y="2560320"/>
            <a:ext cx="1926275" cy="274320"/>
          </a:xfrm>
          <a:prstGeom prst="rect">
            <a:avLst/>
          </a:prstGeom>
          <a:noFill/>
          <a:ln/>
        </p:spPr>
        <p:txBody>
          <a:bodyPr wrap="square" lIns="0" tIns="0" rIns="0" bIns="0" rtlCol="0" anchor="ctr"/>
          <a:lstStyle/>
          <a:p>
            <a:pPr algn="ctr" indent="0" marL="0">
              <a:buNone/>
            </a:pPr>
            <a:r>
              <a:rPr lang="en-US" sz="1100" b="1" spc="300" kern="0" dirty="0">
                <a:solidFill>
                  <a:srgbClr val="1F6B4F"/>
                </a:solidFill>
                <a:latin typeface="Arial" pitchFamily="34" charset="0"/>
                <a:ea typeface="Arial" pitchFamily="34" charset="-122"/>
                <a:cs typeface="Arial" pitchFamily="34" charset="-120"/>
              </a:rPr>
              <a:t>DECEMBER</a:t>
            </a:r>
            <a:endParaRPr lang="en-US" sz="1100" dirty="0"/>
          </a:p>
        </p:txBody>
      </p:sp>
      <p:sp>
        <p:nvSpPr>
          <p:cNvPr id="20" name="Shape 18"/>
          <p:cNvSpPr/>
          <p:nvPr/>
        </p:nvSpPr>
        <p:spPr>
          <a:xfrm>
            <a:off x="5940400" y="3044952"/>
            <a:ext cx="310896" cy="310896"/>
          </a:xfrm>
          <a:prstGeom prst="ellipse">
            <a:avLst/>
          </a:prstGeom>
          <a:solidFill>
            <a:srgbClr val="FFFFFF"/>
          </a:solidFill>
          <a:ln w="25400">
            <a:solidFill>
              <a:srgbClr val="1F6B4F"/>
            </a:solidFill>
            <a:prstDash val="solid"/>
          </a:ln>
        </p:spPr>
      </p:sp>
      <p:sp>
        <p:nvSpPr>
          <p:cNvPr id="21" name="Text 19"/>
          <p:cNvSpPr txBox="1"/>
          <p:nvPr/>
        </p:nvSpPr>
        <p:spPr>
          <a:xfrm>
            <a:off x="5132710" y="3703320"/>
            <a:ext cx="1926275" cy="365760"/>
          </a:xfrm>
          <a:prstGeom prst="rect">
            <a:avLst/>
          </a:prstGeom>
          <a:noFill/>
          <a:ln/>
        </p:spPr>
        <p:txBody>
          <a:bodyPr wrap="square" lIns="0" tIns="0" rIns="0" bIns="0" rtlCol="0" anchor="ctr"/>
          <a:lstStyle/>
          <a:p>
            <a:pPr algn="ctr" indent="0" marL="0">
              <a:buNone/>
            </a:pPr>
            <a:r>
              <a:rPr lang="en-US" sz="1600" b="1" dirty="0">
                <a:solidFill>
                  <a:srgbClr val="161C19"/>
                </a:solidFill>
                <a:latin typeface="Arial" pitchFamily="34" charset="0"/>
                <a:ea typeface="Arial" pitchFamily="34" charset="-122"/>
                <a:cs typeface="Arial" pitchFamily="34" charset="-120"/>
              </a:rPr>
              <a:t>Training</a:t>
            </a:r>
            <a:endParaRPr lang="en-US" sz="1600" dirty="0"/>
          </a:p>
        </p:txBody>
      </p:sp>
      <p:sp>
        <p:nvSpPr>
          <p:cNvPr id="22" name="Text 20"/>
          <p:cNvSpPr txBox="1"/>
          <p:nvPr/>
        </p:nvSpPr>
        <p:spPr>
          <a:xfrm>
            <a:off x="5178430" y="4160520"/>
            <a:ext cx="1834835" cy="914400"/>
          </a:xfrm>
          <a:prstGeom prst="rect">
            <a:avLst/>
          </a:prstGeom>
          <a:noFill/>
          <a:ln/>
        </p:spPr>
        <p:txBody>
          <a:bodyPr wrap="square" lIns="0" tIns="0" rIns="0" bIns="0" rtlCol="0" anchor="t"/>
          <a:lstStyle/>
          <a:p>
            <a:pPr algn="ctr" indent="0" marL="0">
              <a:spcAft>
                <a:spcPts val="600"/>
              </a:spcAft>
              <a:buNone/>
            </a:pPr>
            <a:r>
              <a:rPr lang="en-US" sz="1250" dirty="0">
                <a:solidFill>
                  <a:srgbClr val="4E5955"/>
                </a:solidFill>
                <a:latin typeface="Arial" pitchFamily="34" charset="0"/>
                <a:ea typeface="Arial" pitchFamily="34" charset="-122"/>
                <a:cs typeface="Arial" pitchFamily="34" charset="-120"/>
              </a:rPr>
              <a:t>Train the model</a:t>
            </a:r>
            <a:endParaRPr lang="en-US" sz="1250" dirty="0"/>
          </a:p>
          <a:p>
            <a:pPr algn="ctr" indent="0" marL="0">
              <a:spcAft>
                <a:spcPts val="600"/>
              </a:spcAft>
              <a:buNone/>
            </a:pPr>
            <a:r>
              <a:rPr lang="en-US" sz="1250" dirty="0">
                <a:solidFill>
                  <a:srgbClr val="4E5955"/>
                </a:solidFill>
                <a:latin typeface="Arial" pitchFamily="34" charset="0"/>
                <a:ea typeface="Arial" pitchFamily="34" charset="-122"/>
                <a:cs typeface="Arial" pitchFamily="34" charset="-120"/>
              </a:rPr>
              <a:t>Evaluate accuracy</a:t>
            </a:r>
            <a:endParaRPr lang="en-US" sz="1250" dirty="0"/>
          </a:p>
        </p:txBody>
      </p:sp>
      <p:sp>
        <p:nvSpPr>
          <p:cNvPr id="23" name="Text 21"/>
          <p:cNvSpPr txBox="1"/>
          <p:nvPr/>
        </p:nvSpPr>
        <p:spPr>
          <a:xfrm>
            <a:off x="7241865" y="2560320"/>
            <a:ext cx="1926275" cy="274320"/>
          </a:xfrm>
          <a:prstGeom prst="rect">
            <a:avLst/>
          </a:prstGeom>
          <a:noFill/>
          <a:ln/>
        </p:spPr>
        <p:txBody>
          <a:bodyPr wrap="square" lIns="0" tIns="0" rIns="0" bIns="0" rtlCol="0" anchor="ctr"/>
          <a:lstStyle/>
          <a:p>
            <a:pPr algn="ctr" indent="0" marL="0">
              <a:buNone/>
            </a:pPr>
            <a:r>
              <a:rPr lang="en-US" sz="1100" b="1" spc="300" kern="0" dirty="0">
                <a:solidFill>
                  <a:srgbClr val="1F6B4F"/>
                </a:solidFill>
                <a:latin typeface="Arial" pitchFamily="34" charset="0"/>
                <a:ea typeface="Arial" pitchFamily="34" charset="-122"/>
                <a:cs typeface="Arial" pitchFamily="34" charset="-120"/>
              </a:rPr>
              <a:t>EARLY JANUARY</a:t>
            </a:r>
            <a:endParaRPr lang="en-US" sz="1100" dirty="0"/>
          </a:p>
        </p:txBody>
      </p:sp>
      <p:sp>
        <p:nvSpPr>
          <p:cNvPr id="24" name="Shape 22"/>
          <p:cNvSpPr/>
          <p:nvPr/>
        </p:nvSpPr>
        <p:spPr>
          <a:xfrm>
            <a:off x="8049555" y="3044952"/>
            <a:ext cx="310896" cy="310896"/>
          </a:xfrm>
          <a:prstGeom prst="ellipse">
            <a:avLst/>
          </a:prstGeom>
          <a:solidFill>
            <a:srgbClr val="FFFFFF"/>
          </a:solidFill>
          <a:ln w="25400">
            <a:solidFill>
              <a:srgbClr val="1F6B4F"/>
            </a:solidFill>
            <a:prstDash val="solid"/>
          </a:ln>
        </p:spPr>
      </p:sp>
      <p:sp>
        <p:nvSpPr>
          <p:cNvPr id="25" name="Text 23"/>
          <p:cNvSpPr txBox="1"/>
          <p:nvPr/>
        </p:nvSpPr>
        <p:spPr>
          <a:xfrm>
            <a:off x="7241865" y="3703320"/>
            <a:ext cx="1926275" cy="365760"/>
          </a:xfrm>
          <a:prstGeom prst="rect">
            <a:avLst/>
          </a:prstGeom>
          <a:noFill/>
          <a:ln/>
        </p:spPr>
        <p:txBody>
          <a:bodyPr wrap="square" lIns="0" tIns="0" rIns="0" bIns="0" rtlCol="0" anchor="ctr"/>
          <a:lstStyle/>
          <a:p>
            <a:pPr algn="ctr" indent="0" marL="0">
              <a:buNone/>
            </a:pPr>
            <a:r>
              <a:rPr lang="en-US" sz="1600" b="1" dirty="0">
                <a:solidFill>
                  <a:srgbClr val="161C19"/>
                </a:solidFill>
                <a:latin typeface="Arial" pitchFamily="34" charset="0"/>
                <a:ea typeface="Arial" pitchFamily="34" charset="-122"/>
                <a:cs typeface="Arial" pitchFamily="34" charset="-120"/>
              </a:rPr>
              <a:t>Integration</a:t>
            </a:r>
            <a:endParaRPr lang="en-US" sz="1600" dirty="0"/>
          </a:p>
        </p:txBody>
      </p:sp>
      <p:sp>
        <p:nvSpPr>
          <p:cNvPr id="26" name="Text 24"/>
          <p:cNvSpPr txBox="1"/>
          <p:nvPr/>
        </p:nvSpPr>
        <p:spPr>
          <a:xfrm>
            <a:off x="7287585" y="4160520"/>
            <a:ext cx="1834835" cy="914400"/>
          </a:xfrm>
          <a:prstGeom prst="rect">
            <a:avLst/>
          </a:prstGeom>
          <a:noFill/>
          <a:ln/>
        </p:spPr>
        <p:txBody>
          <a:bodyPr wrap="square" lIns="0" tIns="0" rIns="0" bIns="0" rtlCol="0" anchor="t"/>
          <a:lstStyle/>
          <a:p>
            <a:pPr algn="ctr" indent="0" marL="0">
              <a:spcAft>
                <a:spcPts val="600"/>
              </a:spcAft>
              <a:buNone/>
            </a:pPr>
            <a:r>
              <a:rPr lang="en-US" sz="1250" dirty="0">
                <a:solidFill>
                  <a:srgbClr val="4E5955"/>
                </a:solidFill>
                <a:latin typeface="Arial" pitchFamily="34" charset="0"/>
                <a:ea typeface="Arial" pitchFamily="34" charset="-122"/>
                <a:cs typeface="Arial" pitchFamily="34" charset="-120"/>
              </a:rPr>
              <a:t>Upload pipeline and API</a:t>
            </a:r>
            <a:endParaRPr lang="en-US" sz="1250" dirty="0"/>
          </a:p>
          <a:p>
            <a:pPr algn="ctr" indent="0" marL="0">
              <a:spcAft>
                <a:spcPts val="600"/>
              </a:spcAft>
              <a:buNone/>
            </a:pPr>
            <a:r>
              <a:rPr lang="en-US" sz="1250" dirty="0">
                <a:solidFill>
                  <a:srgbClr val="4E5955"/>
                </a:solidFill>
                <a:latin typeface="Arial" pitchFamily="34" charset="0"/>
                <a:ea typeface="Arial" pitchFamily="34" charset="-122"/>
                <a:cs typeface="Arial" pitchFamily="34" charset="-120"/>
              </a:rPr>
              <a:t>Dashboard on real data</a:t>
            </a:r>
            <a:endParaRPr lang="en-US" sz="1250" dirty="0"/>
          </a:p>
        </p:txBody>
      </p:sp>
      <p:sp>
        <p:nvSpPr>
          <p:cNvPr id="27" name="Text 25"/>
          <p:cNvSpPr txBox="1"/>
          <p:nvPr/>
        </p:nvSpPr>
        <p:spPr>
          <a:xfrm>
            <a:off x="9351020" y="2560320"/>
            <a:ext cx="1926275" cy="274320"/>
          </a:xfrm>
          <a:prstGeom prst="rect">
            <a:avLst/>
          </a:prstGeom>
          <a:noFill/>
          <a:ln/>
        </p:spPr>
        <p:txBody>
          <a:bodyPr wrap="square" lIns="0" tIns="0" rIns="0" bIns="0" rtlCol="0" anchor="ctr"/>
          <a:lstStyle/>
          <a:p>
            <a:pPr algn="ctr" indent="0" marL="0">
              <a:buNone/>
            </a:pPr>
            <a:r>
              <a:rPr lang="en-US" sz="1100" b="1" spc="300" kern="0" dirty="0">
                <a:solidFill>
                  <a:srgbClr val="1F6B4F"/>
                </a:solidFill>
                <a:latin typeface="Arial" pitchFamily="34" charset="0"/>
                <a:ea typeface="Arial" pitchFamily="34" charset="-122"/>
                <a:cs typeface="Arial" pitchFamily="34" charset="-120"/>
              </a:rPr>
              <a:t>LATE JANUARY</a:t>
            </a:r>
            <a:endParaRPr lang="en-US" sz="1100" dirty="0"/>
          </a:p>
        </p:txBody>
      </p:sp>
      <p:sp>
        <p:nvSpPr>
          <p:cNvPr id="28" name="Shape 26"/>
          <p:cNvSpPr/>
          <p:nvPr/>
        </p:nvSpPr>
        <p:spPr>
          <a:xfrm>
            <a:off x="10158710" y="3044952"/>
            <a:ext cx="310896" cy="310896"/>
          </a:xfrm>
          <a:prstGeom prst="ellipse">
            <a:avLst/>
          </a:prstGeom>
          <a:solidFill>
            <a:srgbClr val="1F6B4F"/>
          </a:solidFill>
          <a:ln w="25400">
            <a:solidFill>
              <a:srgbClr val="1F6B4F"/>
            </a:solidFill>
            <a:prstDash val="solid"/>
          </a:ln>
        </p:spPr>
      </p:sp>
      <p:sp>
        <p:nvSpPr>
          <p:cNvPr id="29" name="Text 27"/>
          <p:cNvSpPr txBox="1"/>
          <p:nvPr/>
        </p:nvSpPr>
        <p:spPr>
          <a:xfrm>
            <a:off x="9351020" y="3703320"/>
            <a:ext cx="1926275" cy="365760"/>
          </a:xfrm>
          <a:prstGeom prst="rect">
            <a:avLst/>
          </a:prstGeom>
          <a:noFill/>
          <a:ln/>
        </p:spPr>
        <p:txBody>
          <a:bodyPr wrap="square" lIns="0" tIns="0" rIns="0" bIns="0" rtlCol="0" anchor="ctr"/>
          <a:lstStyle/>
          <a:p>
            <a:pPr algn="ctr" indent="0" marL="0">
              <a:buNone/>
            </a:pPr>
            <a:r>
              <a:rPr lang="en-US" sz="1600" b="1" dirty="0">
                <a:solidFill>
                  <a:srgbClr val="161C19"/>
                </a:solidFill>
                <a:latin typeface="Arial" pitchFamily="34" charset="0"/>
                <a:ea typeface="Arial" pitchFamily="34" charset="-122"/>
                <a:cs typeface="Arial" pitchFamily="34" charset="-120"/>
              </a:rPr>
              <a:t>Test and present</a:t>
            </a:r>
            <a:endParaRPr lang="en-US" sz="1600" dirty="0"/>
          </a:p>
        </p:txBody>
      </p:sp>
      <p:sp>
        <p:nvSpPr>
          <p:cNvPr id="30" name="Text 28"/>
          <p:cNvSpPr txBox="1"/>
          <p:nvPr/>
        </p:nvSpPr>
        <p:spPr>
          <a:xfrm>
            <a:off x="9396740" y="4160520"/>
            <a:ext cx="1834835" cy="914400"/>
          </a:xfrm>
          <a:prstGeom prst="rect">
            <a:avLst/>
          </a:prstGeom>
          <a:noFill/>
          <a:ln/>
        </p:spPr>
        <p:txBody>
          <a:bodyPr wrap="square" lIns="0" tIns="0" rIns="0" bIns="0" rtlCol="0" anchor="t"/>
          <a:lstStyle/>
          <a:p>
            <a:pPr algn="ctr" indent="0" marL="0">
              <a:spcAft>
                <a:spcPts val="600"/>
              </a:spcAft>
              <a:buNone/>
            </a:pPr>
            <a:r>
              <a:rPr lang="en-US" sz="1250" dirty="0">
                <a:solidFill>
                  <a:srgbClr val="4E5955"/>
                </a:solidFill>
                <a:latin typeface="Arial" pitchFamily="34" charset="0"/>
                <a:ea typeface="Arial" pitchFamily="34" charset="-122"/>
                <a:cs typeface="Arial" pitchFamily="34" charset="-120"/>
              </a:rPr>
              <a:t>Security review</a:t>
            </a:r>
            <a:endParaRPr lang="en-US" sz="1250" dirty="0"/>
          </a:p>
          <a:p>
            <a:pPr algn="ctr" indent="0" marL="0">
              <a:spcAft>
                <a:spcPts val="600"/>
              </a:spcAft>
              <a:buNone/>
            </a:pPr>
            <a:r>
              <a:rPr lang="en-US" sz="1250" dirty="0">
                <a:solidFill>
                  <a:srgbClr val="4E5955"/>
                </a:solidFill>
                <a:latin typeface="Arial" pitchFamily="34" charset="0"/>
                <a:ea typeface="Arial" pitchFamily="34" charset="-122"/>
                <a:cs typeface="Arial" pitchFamily="34" charset="-120"/>
              </a:rPr>
              <a:t>Polish and final demo</a:t>
            </a:r>
            <a:endParaRPr lang="en-US" sz="1250" dirty="0"/>
          </a:p>
        </p:txBody>
      </p:sp>
      <p:sp>
        <p:nvSpPr>
          <p:cNvPr id="31" name="Text 29"/>
          <p:cNvSpPr txBox="1"/>
          <p:nvPr/>
        </p:nvSpPr>
        <p:spPr>
          <a:xfrm>
            <a:off x="822960" y="5440680"/>
            <a:ext cx="10545775" cy="457200"/>
          </a:xfrm>
          <a:prstGeom prst="rect">
            <a:avLst/>
          </a:prstGeom>
          <a:noFill/>
          <a:ln/>
        </p:spPr>
        <p:txBody>
          <a:bodyPr wrap="square" lIns="0" tIns="0" rIns="0" bIns="0" rtlCol="0" anchor="ctr"/>
          <a:lstStyle/>
          <a:p>
            <a:pPr algn="ctr" indent="0" marL="0">
              <a:buNone/>
            </a:pPr>
            <a:r>
              <a:rPr lang="en-US" sz="1600" b="1" dirty="0">
                <a:solidFill>
                  <a:srgbClr val="1F6B4F"/>
                </a:solidFill>
                <a:latin typeface="Arial" pitchFamily="34" charset="0"/>
                <a:ea typeface="Arial" pitchFamily="34" charset="-122"/>
                <a:cs typeface="Arial" pitchFamily="34" charset="-120"/>
              </a:rPr>
              <a:t>Always running: </a:t>
            </a:r>
            <a:pPr algn="ctr" indent="0" marL="0">
              <a:buNone/>
            </a:pPr>
            <a:r>
              <a:rPr lang="en-US" sz="1600" b="1" dirty="0">
                <a:solidFill>
                  <a:srgbClr val="2A3330"/>
                </a:solidFill>
                <a:latin typeface="Arial" pitchFamily="34" charset="0"/>
                <a:ea typeface="Arial" pitchFamily="34" charset="-122"/>
                <a:cs typeface="Arial" pitchFamily="34" charset="-120"/>
              </a:rPr>
              <a:t>weekly check-ins, GitHub reviews, and a sprint review along the way.</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10728655" y="502920"/>
            <a:ext cx="640080" cy="640080"/>
          </a:xfrm>
          <a:prstGeom prst="roundRect">
            <a:avLst>
              <a:gd name="adj" fmla="val 11000"/>
            </a:avLst>
          </a:prstGeom>
          <a:solidFill>
            <a:srgbClr val="161C1A"/>
          </a:solidFill>
          <a:ln w="12700">
            <a:solidFill>
              <a:srgbClr val="161C1A"/>
            </a:solidFill>
            <a:prstDash val="solid"/>
          </a:ln>
        </p:spPr>
      </p:sp>
      <p:sp>
        <p:nvSpPr>
          <p:cNvPr id="3" name="Shape 1"/>
          <p:cNvSpPr/>
          <p:nvPr/>
        </p:nvSpPr>
        <p:spPr>
          <a:xfrm>
            <a:off x="10860512" y="607253"/>
            <a:ext cx="375727" cy="42885"/>
          </a:xfrm>
          <a:prstGeom prst="rect">
            <a:avLst/>
          </a:prstGeom>
          <a:solidFill>
            <a:srgbClr val="3D9472"/>
          </a:solidFill>
          <a:ln w="12700">
            <a:solidFill>
              <a:srgbClr val="3D9472"/>
            </a:solidFill>
            <a:prstDash val="solid"/>
          </a:ln>
        </p:spPr>
      </p:sp>
      <p:sp>
        <p:nvSpPr>
          <p:cNvPr id="4" name="Shape 2"/>
          <p:cNvSpPr/>
          <p:nvPr/>
        </p:nvSpPr>
        <p:spPr>
          <a:xfrm>
            <a:off x="10860512" y="876727"/>
            <a:ext cx="90891" cy="147218"/>
          </a:xfrm>
          <a:prstGeom prst="rect">
            <a:avLst/>
          </a:prstGeom>
          <a:solidFill>
            <a:srgbClr val="7E857E"/>
          </a:solidFill>
          <a:ln w="12700">
            <a:solidFill>
              <a:srgbClr val="7E857E"/>
            </a:solidFill>
            <a:prstDash val="solid"/>
          </a:ln>
        </p:spPr>
      </p:sp>
      <p:sp>
        <p:nvSpPr>
          <p:cNvPr id="5" name="Shape 3"/>
          <p:cNvSpPr/>
          <p:nvPr/>
        </p:nvSpPr>
        <p:spPr>
          <a:xfrm>
            <a:off x="11007730" y="794796"/>
            <a:ext cx="89611" cy="229149"/>
          </a:xfrm>
          <a:prstGeom prst="rect">
            <a:avLst/>
          </a:prstGeom>
          <a:solidFill>
            <a:srgbClr val="AFBAB2"/>
          </a:solidFill>
          <a:ln w="12700">
            <a:solidFill>
              <a:srgbClr val="AFBAB2"/>
            </a:solidFill>
            <a:prstDash val="solid"/>
          </a:ln>
        </p:spPr>
      </p:sp>
      <p:sp>
        <p:nvSpPr>
          <p:cNvPr id="6" name="Shape 4"/>
          <p:cNvSpPr/>
          <p:nvPr/>
        </p:nvSpPr>
        <p:spPr>
          <a:xfrm>
            <a:off x="11153028" y="675742"/>
            <a:ext cx="89611" cy="348204"/>
          </a:xfrm>
          <a:prstGeom prst="rect">
            <a:avLst/>
          </a:prstGeom>
          <a:solidFill>
            <a:srgbClr val="E3EEE6"/>
          </a:solidFill>
          <a:ln w="12700">
            <a:solidFill>
              <a:srgbClr val="E3EEE6"/>
            </a:solidFill>
            <a:prstDash val="solid"/>
          </a:ln>
        </p:spPr>
      </p:sp>
      <p:sp>
        <p:nvSpPr>
          <p:cNvPr id="7" name="Text 5"/>
          <p:cNvSpPr txBox="1"/>
          <p:nvPr/>
        </p:nvSpPr>
        <p:spPr>
          <a:xfrm>
            <a:off x="822960" y="685800"/>
            <a:ext cx="7315200" cy="274320"/>
          </a:xfrm>
          <a:prstGeom prst="rect">
            <a:avLst/>
          </a:prstGeom>
          <a:noFill/>
          <a:ln/>
        </p:spPr>
        <p:txBody>
          <a:bodyPr wrap="square" lIns="0" tIns="0" rIns="0" bIns="0" rtlCol="0" anchor="ctr"/>
          <a:lstStyle/>
          <a:p>
            <a:pPr indent="0" marL="0">
              <a:buNone/>
            </a:pPr>
            <a:r>
              <a:rPr lang="en-US" sz="1200" b="1" spc="400" kern="0" dirty="0">
                <a:solidFill>
                  <a:srgbClr val="1F6B4F"/>
                </a:solidFill>
                <a:latin typeface="Arial" pitchFamily="34" charset="0"/>
                <a:ea typeface="Arial" pitchFamily="34" charset="-122"/>
                <a:cs typeface="Arial" pitchFamily="34" charset="-120"/>
              </a:rPr>
              <a:t>LIVE DEMO</a:t>
            </a:r>
            <a:endParaRPr lang="en-US" sz="1200" dirty="0"/>
          </a:p>
        </p:txBody>
      </p:sp>
      <p:sp>
        <p:nvSpPr>
          <p:cNvPr id="8" name="Text 6"/>
          <p:cNvSpPr txBox="1"/>
          <p:nvPr/>
        </p:nvSpPr>
        <p:spPr>
          <a:xfrm>
            <a:off x="822960" y="1005840"/>
            <a:ext cx="9448495" cy="731520"/>
          </a:xfrm>
          <a:prstGeom prst="rect">
            <a:avLst/>
          </a:prstGeom>
          <a:noFill/>
          <a:ln/>
        </p:spPr>
        <p:txBody>
          <a:bodyPr wrap="square" lIns="0" tIns="0" rIns="0" bIns="0" rtlCol="0" anchor="t"/>
          <a:lstStyle/>
          <a:p>
            <a:pPr indent="0" marL="0">
              <a:buNone/>
            </a:pPr>
            <a:r>
              <a:rPr lang="en-US" sz="3600" b="1" dirty="0">
                <a:solidFill>
                  <a:srgbClr val="161C19"/>
                </a:solidFill>
                <a:latin typeface="Arial" pitchFamily="34" charset="0"/>
                <a:ea typeface="Arial" pitchFamily="34" charset="-122"/>
                <a:cs typeface="Arial" pitchFamily="34" charset="-120"/>
              </a:rPr>
              <a:t>See Ascend in action</a:t>
            </a:r>
            <a:endParaRPr lang="en-US" sz="3600" dirty="0"/>
          </a:p>
        </p:txBody>
      </p:sp>
      <p:sp>
        <p:nvSpPr>
          <p:cNvPr id="9" name="Text 7"/>
          <p:cNvSpPr txBox="1"/>
          <p:nvPr/>
        </p:nvSpPr>
        <p:spPr>
          <a:xfrm>
            <a:off x="822960" y="1783080"/>
            <a:ext cx="7315200" cy="365760"/>
          </a:xfrm>
          <a:prstGeom prst="rect">
            <a:avLst/>
          </a:prstGeom>
          <a:noFill/>
          <a:ln/>
        </p:spPr>
        <p:txBody>
          <a:bodyPr wrap="square" lIns="0" tIns="0" rIns="0" bIns="0" rtlCol="0" anchor="ctr"/>
          <a:lstStyle/>
          <a:p>
            <a:pPr indent="0" marL="0">
              <a:buNone/>
            </a:pPr>
            <a:r>
              <a:rPr lang="en-US" sz="1600" dirty="0">
                <a:solidFill>
                  <a:srgbClr val="4E5955"/>
                </a:solidFill>
                <a:latin typeface="Arial" pitchFamily="34" charset="0"/>
                <a:ea typeface="Arial" pitchFamily="34" charset="-122"/>
                <a:cs typeface="Arial" pitchFamily="34" charset="-120"/>
              </a:rPr>
              <a:t>A quick walkthrough of the working app.</a:t>
            </a:r>
            <a:endParaRPr lang="en-US" sz="1600" dirty="0"/>
          </a:p>
        </p:txBody>
      </p:sp>
      <p:sp>
        <p:nvSpPr>
          <p:cNvPr id="10" name="Shape 8"/>
          <p:cNvSpPr/>
          <p:nvPr/>
        </p:nvSpPr>
        <p:spPr>
          <a:xfrm>
            <a:off x="822960" y="2651760"/>
            <a:ext cx="1904329" cy="2011680"/>
          </a:xfrm>
          <a:prstGeom prst="roundRect">
            <a:avLst>
              <a:gd name="adj" fmla="val 5762"/>
            </a:avLst>
          </a:prstGeom>
          <a:solidFill>
            <a:srgbClr val="F3F8F3"/>
          </a:solidFill>
          <a:ln w="9525">
            <a:solidFill>
              <a:srgbClr val="D6DCD7"/>
            </a:solidFill>
            <a:prstDash val="solid"/>
          </a:ln>
        </p:spPr>
      </p:sp>
      <p:sp>
        <p:nvSpPr>
          <p:cNvPr id="11" name="Text 9"/>
          <p:cNvSpPr txBox="1"/>
          <p:nvPr/>
        </p:nvSpPr>
        <p:spPr>
          <a:xfrm>
            <a:off x="1078992" y="2880360"/>
            <a:ext cx="914400" cy="274320"/>
          </a:xfrm>
          <a:prstGeom prst="rect">
            <a:avLst/>
          </a:prstGeom>
          <a:noFill/>
          <a:ln/>
        </p:spPr>
        <p:txBody>
          <a:bodyPr wrap="square" lIns="0" tIns="0" rIns="0" bIns="0" rtlCol="0" anchor="ctr"/>
          <a:lstStyle/>
          <a:p>
            <a:pPr indent="0" marL="0">
              <a:buNone/>
            </a:pPr>
            <a:r>
              <a:rPr lang="en-US" sz="1300" b="1" dirty="0">
                <a:solidFill>
                  <a:srgbClr val="1F6B4F"/>
                </a:solidFill>
                <a:latin typeface="Arial" pitchFamily="34" charset="0"/>
                <a:ea typeface="Arial" pitchFamily="34" charset="-122"/>
                <a:cs typeface="Arial" pitchFamily="34" charset="-120"/>
              </a:rPr>
              <a:t>01</a:t>
            </a:r>
            <a:endParaRPr lang="en-US" sz="1300" dirty="0"/>
          </a:p>
        </p:txBody>
      </p:sp>
      <p:sp>
        <p:nvSpPr>
          <p:cNvPr id="12" name="Text 10"/>
          <p:cNvSpPr txBox="1"/>
          <p:nvPr/>
        </p:nvSpPr>
        <p:spPr>
          <a:xfrm>
            <a:off x="1078992" y="3246120"/>
            <a:ext cx="1538569" cy="365760"/>
          </a:xfrm>
          <a:prstGeom prst="rect">
            <a:avLst/>
          </a:prstGeom>
          <a:noFill/>
          <a:ln/>
        </p:spPr>
        <p:txBody>
          <a:bodyPr wrap="square" lIns="0" tIns="0" rIns="0" bIns="0" rtlCol="0" anchor="ctr"/>
          <a:lstStyle/>
          <a:p>
            <a:pPr indent="0" marL="0">
              <a:buNone/>
            </a:pPr>
            <a:r>
              <a:rPr lang="en-US" sz="1300" b="1" dirty="0">
                <a:solidFill>
                  <a:srgbClr val="161C19"/>
                </a:solidFill>
                <a:latin typeface="Arial" pitchFamily="34" charset="0"/>
                <a:ea typeface="Arial" pitchFamily="34" charset="-122"/>
                <a:cs typeface="Arial" pitchFamily="34" charset="-120"/>
              </a:rPr>
              <a:t>SIGN IN</a:t>
            </a:r>
            <a:endParaRPr lang="en-US" sz="1300" dirty="0"/>
          </a:p>
        </p:txBody>
      </p:sp>
      <p:sp>
        <p:nvSpPr>
          <p:cNvPr id="13" name="Text 11"/>
          <p:cNvSpPr txBox="1"/>
          <p:nvPr/>
        </p:nvSpPr>
        <p:spPr>
          <a:xfrm>
            <a:off x="1078992" y="3703320"/>
            <a:ext cx="1447129" cy="868680"/>
          </a:xfrm>
          <a:prstGeom prst="rect">
            <a:avLst/>
          </a:prstGeom>
          <a:noFill/>
          <a:ln/>
        </p:spPr>
        <p:txBody>
          <a:bodyPr wrap="square" lIns="0" tIns="0" rIns="0" bIns="0" rtlCol="0" anchor="t"/>
          <a:lstStyle/>
          <a:p>
            <a:pPr indent="0" marL="0">
              <a:buNone/>
            </a:pPr>
            <a:r>
              <a:rPr lang="en-US" sz="1250" dirty="0">
                <a:solidFill>
                  <a:srgbClr val="4E5955"/>
                </a:solidFill>
                <a:latin typeface="Arial" pitchFamily="34" charset="0"/>
                <a:ea typeface="Arial" pitchFamily="34" charset="-122"/>
                <a:cs typeface="Arial" pitchFamily="34" charset="-120"/>
              </a:rPr>
              <a:t>Real login on Supabase, with protected routes.</a:t>
            </a:r>
            <a:endParaRPr lang="en-US" sz="1250" dirty="0"/>
          </a:p>
        </p:txBody>
      </p:sp>
      <p:sp>
        <p:nvSpPr>
          <p:cNvPr id="14" name="Shape 12"/>
          <p:cNvSpPr/>
          <p:nvPr/>
        </p:nvSpPr>
        <p:spPr>
          <a:xfrm>
            <a:off x="2983321" y="2651760"/>
            <a:ext cx="1904329" cy="2011680"/>
          </a:xfrm>
          <a:prstGeom prst="roundRect">
            <a:avLst>
              <a:gd name="adj" fmla="val 5762"/>
            </a:avLst>
          </a:prstGeom>
          <a:solidFill>
            <a:srgbClr val="F3F8F3"/>
          </a:solidFill>
          <a:ln w="9525">
            <a:solidFill>
              <a:srgbClr val="D6DCD7"/>
            </a:solidFill>
            <a:prstDash val="solid"/>
          </a:ln>
        </p:spPr>
      </p:sp>
      <p:sp>
        <p:nvSpPr>
          <p:cNvPr id="15" name="Text 13"/>
          <p:cNvSpPr txBox="1"/>
          <p:nvPr/>
        </p:nvSpPr>
        <p:spPr>
          <a:xfrm>
            <a:off x="3239353" y="2880360"/>
            <a:ext cx="914400" cy="274320"/>
          </a:xfrm>
          <a:prstGeom prst="rect">
            <a:avLst/>
          </a:prstGeom>
          <a:noFill/>
          <a:ln/>
        </p:spPr>
        <p:txBody>
          <a:bodyPr wrap="square" lIns="0" tIns="0" rIns="0" bIns="0" rtlCol="0" anchor="ctr"/>
          <a:lstStyle/>
          <a:p>
            <a:pPr indent="0" marL="0">
              <a:buNone/>
            </a:pPr>
            <a:r>
              <a:rPr lang="en-US" sz="1300" b="1" dirty="0">
                <a:solidFill>
                  <a:srgbClr val="1F6B4F"/>
                </a:solidFill>
                <a:latin typeface="Arial" pitchFamily="34" charset="0"/>
                <a:ea typeface="Arial" pitchFamily="34" charset="-122"/>
                <a:cs typeface="Arial" pitchFamily="34" charset="-120"/>
              </a:rPr>
              <a:t>02</a:t>
            </a:r>
            <a:endParaRPr lang="en-US" sz="1300" dirty="0"/>
          </a:p>
        </p:txBody>
      </p:sp>
      <p:sp>
        <p:nvSpPr>
          <p:cNvPr id="16" name="Text 14"/>
          <p:cNvSpPr txBox="1"/>
          <p:nvPr/>
        </p:nvSpPr>
        <p:spPr>
          <a:xfrm>
            <a:off x="3239353" y="3246120"/>
            <a:ext cx="1538569" cy="365760"/>
          </a:xfrm>
          <a:prstGeom prst="rect">
            <a:avLst/>
          </a:prstGeom>
          <a:noFill/>
          <a:ln/>
        </p:spPr>
        <p:txBody>
          <a:bodyPr wrap="square" lIns="0" tIns="0" rIns="0" bIns="0" rtlCol="0" anchor="ctr"/>
          <a:lstStyle/>
          <a:p>
            <a:pPr indent="0" marL="0">
              <a:buNone/>
            </a:pPr>
            <a:r>
              <a:rPr lang="en-US" sz="1300" b="1" dirty="0">
                <a:solidFill>
                  <a:srgbClr val="161C19"/>
                </a:solidFill>
                <a:latin typeface="Arial" pitchFamily="34" charset="0"/>
                <a:ea typeface="Arial" pitchFamily="34" charset="-122"/>
                <a:cs typeface="Arial" pitchFamily="34" charset="-120"/>
              </a:rPr>
              <a:t>OVERVIEW</a:t>
            </a:r>
            <a:endParaRPr lang="en-US" sz="1300" dirty="0"/>
          </a:p>
        </p:txBody>
      </p:sp>
      <p:sp>
        <p:nvSpPr>
          <p:cNvPr id="17" name="Text 15"/>
          <p:cNvSpPr txBox="1"/>
          <p:nvPr/>
        </p:nvSpPr>
        <p:spPr>
          <a:xfrm>
            <a:off x="3239353" y="3703320"/>
            <a:ext cx="1447129" cy="868680"/>
          </a:xfrm>
          <a:prstGeom prst="rect">
            <a:avLst/>
          </a:prstGeom>
          <a:noFill/>
          <a:ln/>
        </p:spPr>
        <p:txBody>
          <a:bodyPr wrap="square" lIns="0" tIns="0" rIns="0" bIns="0" rtlCol="0" anchor="t"/>
          <a:lstStyle/>
          <a:p>
            <a:pPr indent="0" marL="0">
              <a:buNone/>
            </a:pPr>
            <a:r>
              <a:rPr lang="en-US" sz="1250" dirty="0">
                <a:solidFill>
                  <a:srgbClr val="4E5955"/>
                </a:solidFill>
                <a:latin typeface="Arial" pitchFamily="34" charset="0"/>
                <a:ea typeface="Arial" pitchFamily="34" charset="-122"/>
                <a:cs typeface="Arial" pitchFamily="34" charset="-120"/>
              </a:rPr>
              <a:t>Health score, key numbers and the forecast.</a:t>
            </a:r>
            <a:endParaRPr lang="en-US" sz="1250" dirty="0"/>
          </a:p>
        </p:txBody>
      </p:sp>
      <p:sp>
        <p:nvSpPr>
          <p:cNvPr id="18" name="Shape 16"/>
          <p:cNvSpPr/>
          <p:nvPr/>
        </p:nvSpPr>
        <p:spPr>
          <a:xfrm>
            <a:off x="5143683" y="2651760"/>
            <a:ext cx="1904329" cy="2011680"/>
          </a:xfrm>
          <a:prstGeom prst="roundRect">
            <a:avLst>
              <a:gd name="adj" fmla="val 5762"/>
            </a:avLst>
          </a:prstGeom>
          <a:solidFill>
            <a:srgbClr val="F3F8F3"/>
          </a:solidFill>
          <a:ln w="9525">
            <a:solidFill>
              <a:srgbClr val="D6DCD7"/>
            </a:solidFill>
            <a:prstDash val="solid"/>
          </a:ln>
        </p:spPr>
      </p:sp>
      <p:sp>
        <p:nvSpPr>
          <p:cNvPr id="19" name="Text 17"/>
          <p:cNvSpPr txBox="1"/>
          <p:nvPr/>
        </p:nvSpPr>
        <p:spPr>
          <a:xfrm>
            <a:off x="5399715" y="2880360"/>
            <a:ext cx="914400" cy="274320"/>
          </a:xfrm>
          <a:prstGeom prst="rect">
            <a:avLst/>
          </a:prstGeom>
          <a:noFill/>
          <a:ln/>
        </p:spPr>
        <p:txBody>
          <a:bodyPr wrap="square" lIns="0" tIns="0" rIns="0" bIns="0" rtlCol="0" anchor="ctr"/>
          <a:lstStyle/>
          <a:p>
            <a:pPr indent="0" marL="0">
              <a:buNone/>
            </a:pPr>
            <a:r>
              <a:rPr lang="en-US" sz="1300" b="1" dirty="0">
                <a:solidFill>
                  <a:srgbClr val="1F6B4F"/>
                </a:solidFill>
                <a:latin typeface="Arial" pitchFamily="34" charset="0"/>
                <a:ea typeface="Arial" pitchFamily="34" charset="-122"/>
                <a:cs typeface="Arial" pitchFamily="34" charset="-120"/>
              </a:rPr>
              <a:t>03</a:t>
            </a:r>
            <a:endParaRPr lang="en-US" sz="1300" dirty="0"/>
          </a:p>
        </p:txBody>
      </p:sp>
      <p:sp>
        <p:nvSpPr>
          <p:cNvPr id="20" name="Text 18"/>
          <p:cNvSpPr txBox="1"/>
          <p:nvPr/>
        </p:nvSpPr>
        <p:spPr>
          <a:xfrm>
            <a:off x="5399715" y="3246120"/>
            <a:ext cx="1538569" cy="365760"/>
          </a:xfrm>
          <a:prstGeom prst="rect">
            <a:avLst/>
          </a:prstGeom>
          <a:noFill/>
          <a:ln/>
        </p:spPr>
        <p:txBody>
          <a:bodyPr wrap="square" lIns="0" tIns="0" rIns="0" bIns="0" rtlCol="0" anchor="ctr"/>
          <a:lstStyle/>
          <a:p>
            <a:pPr indent="0" marL="0">
              <a:buNone/>
            </a:pPr>
            <a:r>
              <a:rPr lang="en-US" sz="1300" b="1" dirty="0">
                <a:solidFill>
                  <a:srgbClr val="161C19"/>
                </a:solidFill>
                <a:latin typeface="Arial" pitchFamily="34" charset="0"/>
                <a:ea typeface="Arial" pitchFamily="34" charset="-122"/>
                <a:cs typeface="Arial" pitchFamily="34" charset="-120"/>
              </a:rPr>
              <a:t>FORECASTS</a:t>
            </a:r>
            <a:endParaRPr lang="en-US" sz="1300" dirty="0"/>
          </a:p>
        </p:txBody>
      </p:sp>
      <p:sp>
        <p:nvSpPr>
          <p:cNvPr id="21" name="Text 19"/>
          <p:cNvSpPr txBox="1"/>
          <p:nvPr/>
        </p:nvSpPr>
        <p:spPr>
          <a:xfrm>
            <a:off x="5399715" y="3703320"/>
            <a:ext cx="1447129" cy="868680"/>
          </a:xfrm>
          <a:prstGeom prst="rect">
            <a:avLst/>
          </a:prstGeom>
          <a:noFill/>
          <a:ln/>
        </p:spPr>
        <p:txBody>
          <a:bodyPr wrap="square" lIns="0" tIns="0" rIns="0" bIns="0" rtlCol="0" anchor="t"/>
          <a:lstStyle/>
          <a:p>
            <a:pPr indent="0" marL="0">
              <a:buNone/>
            </a:pPr>
            <a:r>
              <a:rPr lang="en-US" sz="1250" dirty="0">
                <a:solidFill>
                  <a:srgbClr val="4E5955"/>
                </a:solidFill>
                <a:latin typeface="Arial" pitchFamily="34" charset="0"/>
                <a:ea typeface="Arial" pitchFamily="34" charset="-122"/>
                <a:cs typeface="Arial" pitchFamily="34" charset="-120"/>
              </a:rPr>
              <a:t>Test a scenario with the demand slider.</a:t>
            </a:r>
            <a:endParaRPr lang="en-US" sz="1250" dirty="0"/>
          </a:p>
        </p:txBody>
      </p:sp>
      <p:sp>
        <p:nvSpPr>
          <p:cNvPr id="22" name="Shape 20"/>
          <p:cNvSpPr/>
          <p:nvPr/>
        </p:nvSpPr>
        <p:spPr>
          <a:xfrm>
            <a:off x="7304044" y="2651760"/>
            <a:ext cx="1904329" cy="2011680"/>
          </a:xfrm>
          <a:prstGeom prst="roundRect">
            <a:avLst>
              <a:gd name="adj" fmla="val 5762"/>
            </a:avLst>
          </a:prstGeom>
          <a:solidFill>
            <a:srgbClr val="F3F8F3"/>
          </a:solidFill>
          <a:ln w="9525">
            <a:solidFill>
              <a:srgbClr val="D6DCD7"/>
            </a:solidFill>
            <a:prstDash val="solid"/>
          </a:ln>
        </p:spPr>
      </p:sp>
      <p:sp>
        <p:nvSpPr>
          <p:cNvPr id="23" name="Text 21"/>
          <p:cNvSpPr txBox="1"/>
          <p:nvPr/>
        </p:nvSpPr>
        <p:spPr>
          <a:xfrm>
            <a:off x="7560076" y="2880360"/>
            <a:ext cx="914400" cy="274320"/>
          </a:xfrm>
          <a:prstGeom prst="rect">
            <a:avLst/>
          </a:prstGeom>
          <a:noFill/>
          <a:ln/>
        </p:spPr>
        <p:txBody>
          <a:bodyPr wrap="square" lIns="0" tIns="0" rIns="0" bIns="0" rtlCol="0" anchor="ctr"/>
          <a:lstStyle/>
          <a:p>
            <a:pPr indent="0" marL="0">
              <a:buNone/>
            </a:pPr>
            <a:r>
              <a:rPr lang="en-US" sz="1300" b="1" dirty="0">
                <a:solidFill>
                  <a:srgbClr val="1F6B4F"/>
                </a:solidFill>
                <a:latin typeface="Arial" pitchFamily="34" charset="0"/>
                <a:ea typeface="Arial" pitchFamily="34" charset="-122"/>
                <a:cs typeface="Arial" pitchFamily="34" charset="-120"/>
              </a:rPr>
              <a:t>04</a:t>
            </a:r>
            <a:endParaRPr lang="en-US" sz="1300" dirty="0"/>
          </a:p>
        </p:txBody>
      </p:sp>
      <p:sp>
        <p:nvSpPr>
          <p:cNvPr id="24" name="Text 22"/>
          <p:cNvSpPr txBox="1"/>
          <p:nvPr/>
        </p:nvSpPr>
        <p:spPr>
          <a:xfrm>
            <a:off x="7560076" y="3246120"/>
            <a:ext cx="1538569" cy="365760"/>
          </a:xfrm>
          <a:prstGeom prst="rect">
            <a:avLst/>
          </a:prstGeom>
          <a:noFill/>
          <a:ln/>
        </p:spPr>
        <p:txBody>
          <a:bodyPr wrap="square" lIns="0" tIns="0" rIns="0" bIns="0" rtlCol="0" anchor="ctr"/>
          <a:lstStyle/>
          <a:p>
            <a:pPr indent="0" marL="0">
              <a:buNone/>
            </a:pPr>
            <a:r>
              <a:rPr lang="en-US" sz="1300" b="1" dirty="0">
                <a:solidFill>
                  <a:srgbClr val="161C19"/>
                </a:solidFill>
                <a:latin typeface="Arial" pitchFamily="34" charset="0"/>
                <a:ea typeface="Arial" pitchFamily="34" charset="-122"/>
                <a:cs typeface="Arial" pitchFamily="34" charset="-120"/>
              </a:rPr>
              <a:t>OPPORTUNITIES</a:t>
            </a:r>
            <a:endParaRPr lang="en-US" sz="1300" dirty="0"/>
          </a:p>
        </p:txBody>
      </p:sp>
      <p:sp>
        <p:nvSpPr>
          <p:cNvPr id="25" name="Text 23"/>
          <p:cNvSpPr txBox="1"/>
          <p:nvPr/>
        </p:nvSpPr>
        <p:spPr>
          <a:xfrm>
            <a:off x="7560076" y="3703320"/>
            <a:ext cx="1447129" cy="868680"/>
          </a:xfrm>
          <a:prstGeom prst="rect">
            <a:avLst/>
          </a:prstGeom>
          <a:noFill/>
          <a:ln/>
        </p:spPr>
        <p:txBody>
          <a:bodyPr wrap="square" lIns="0" tIns="0" rIns="0" bIns="0" rtlCol="0" anchor="t"/>
          <a:lstStyle/>
          <a:p>
            <a:pPr indent="0" marL="0">
              <a:buNone/>
            </a:pPr>
            <a:r>
              <a:rPr lang="en-US" sz="1250" dirty="0">
                <a:solidFill>
                  <a:srgbClr val="4E5955"/>
                </a:solidFill>
                <a:latin typeface="Arial" pitchFamily="34" charset="0"/>
                <a:ea typeface="Arial" pitchFamily="34" charset="-122"/>
                <a:cs typeface="Arial" pitchFamily="34" charset="-120"/>
              </a:rPr>
              <a:t>Ranked actions, sized by impact.</a:t>
            </a:r>
            <a:endParaRPr lang="en-US" sz="1250" dirty="0"/>
          </a:p>
        </p:txBody>
      </p:sp>
      <p:sp>
        <p:nvSpPr>
          <p:cNvPr id="26" name="Shape 24"/>
          <p:cNvSpPr/>
          <p:nvPr/>
        </p:nvSpPr>
        <p:spPr>
          <a:xfrm>
            <a:off x="9464406" y="2651760"/>
            <a:ext cx="1904329" cy="2011680"/>
          </a:xfrm>
          <a:prstGeom prst="roundRect">
            <a:avLst>
              <a:gd name="adj" fmla="val 5762"/>
            </a:avLst>
          </a:prstGeom>
          <a:solidFill>
            <a:srgbClr val="F3F8F3"/>
          </a:solidFill>
          <a:ln w="9525">
            <a:solidFill>
              <a:srgbClr val="D6DCD7"/>
            </a:solidFill>
            <a:prstDash val="solid"/>
          </a:ln>
        </p:spPr>
      </p:sp>
      <p:sp>
        <p:nvSpPr>
          <p:cNvPr id="27" name="Text 25"/>
          <p:cNvSpPr txBox="1"/>
          <p:nvPr/>
        </p:nvSpPr>
        <p:spPr>
          <a:xfrm>
            <a:off x="9720438" y="2880360"/>
            <a:ext cx="914400" cy="274320"/>
          </a:xfrm>
          <a:prstGeom prst="rect">
            <a:avLst/>
          </a:prstGeom>
          <a:noFill/>
          <a:ln/>
        </p:spPr>
        <p:txBody>
          <a:bodyPr wrap="square" lIns="0" tIns="0" rIns="0" bIns="0" rtlCol="0" anchor="ctr"/>
          <a:lstStyle/>
          <a:p>
            <a:pPr indent="0" marL="0">
              <a:buNone/>
            </a:pPr>
            <a:r>
              <a:rPr lang="en-US" sz="1300" b="1" dirty="0">
                <a:solidFill>
                  <a:srgbClr val="1F6B4F"/>
                </a:solidFill>
                <a:latin typeface="Arial" pitchFamily="34" charset="0"/>
                <a:ea typeface="Arial" pitchFamily="34" charset="-122"/>
                <a:cs typeface="Arial" pitchFamily="34" charset="-120"/>
              </a:rPr>
              <a:t>05</a:t>
            </a:r>
            <a:endParaRPr lang="en-US" sz="1300" dirty="0"/>
          </a:p>
        </p:txBody>
      </p:sp>
      <p:sp>
        <p:nvSpPr>
          <p:cNvPr id="28" name="Text 26"/>
          <p:cNvSpPr txBox="1"/>
          <p:nvPr/>
        </p:nvSpPr>
        <p:spPr>
          <a:xfrm>
            <a:off x="9720438" y="3246120"/>
            <a:ext cx="1538569" cy="365760"/>
          </a:xfrm>
          <a:prstGeom prst="rect">
            <a:avLst/>
          </a:prstGeom>
          <a:noFill/>
          <a:ln/>
        </p:spPr>
        <p:txBody>
          <a:bodyPr wrap="square" lIns="0" tIns="0" rIns="0" bIns="0" rtlCol="0" anchor="ctr"/>
          <a:lstStyle/>
          <a:p>
            <a:pPr indent="0" marL="0">
              <a:buNone/>
            </a:pPr>
            <a:r>
              <a:rPr lang="en-US" sz="1300" b="1" dirty="0">
                <a:solidFill>
                  <a:srgbClr val="161C19"/>
                </a:solidFill>
                <a:latin typeface="Arial" pitchFamily="34" charset="0"/>
                <a:ea typeface="Arial" pitchFamily="34" charset="-122"/>
                <a:cs typeface="Arial" pitchFamily="34" charset="-120"/>
              </a:rPr>
              <a:t>DATA &amp; MODEL</a:t>
            </a:r>
            <a:endParaRPr lang="en-US" sz="1300" dirty="0"/>
          </a:p>
        </p:txBody>
      </p:sp>
      <p:sp>
        <p:nvSpPr>
          <p:cNvPr id="29" name="Text 27"/>
          <p:cNvSpPr txBox="1"/>
          <p:nvPr/>
        </p:nvSpPr>
        <p:spPr>
          <a:xfrm>
            <a:off x="9720438" y="3703320"/>
            <a:ext cx="1447129" cy="868680"/>
          </a:xfrm>
          <a:prstGeom prst="rect">
            <a:avLst/>
          </a:prstGeom>
          <a:noFill/>
          <a:ln/>
        </p:spPr>
        <p:txBody>
          <a:bodyPr wrap="square" lIns="0" tIns="0" rIns="0" bIns="0" rtlCol="0" anchor="t"/>
          <a:lstStyle/>
          <a:p>
            <a:pPr indent="0" marL="0">
              <a:buNone/>
            </a:pPr>
            <a:r>
              <a:rPr lang="en-US" sz="1250" dirty="0">
                <a:solidFill>
                  <a:srgbClr val="4E5955"/>
                </a:solidFill>
                <a:latin typeface="Arial" pitchFamily="34" charset="0"/>
                <a:ea typeface="Arial" pitchFamily="34" charset="-122"/>
                <a:cs typeface="Arial" pitchFamily="34" charset="-120"/>
              </a:rPr>
              <a:t>CSV upload and the model view.</a:t>
            </a:r>
            <a:endParaRPr lang="en-US" sz="1250" dirty="0"/>
          </a:p>
        </p:txBody>
      </p:sp>
      <p:sp>
        <p:nvSpPr>
          <p:cNvPr id="30" name="Text 28"/>
          <p:cNvSpPr txBox="1"/>
          <p:nvPr/>
        </p:nvSpPr>
        <p:spPr>
          <a:xfrm>
            <a:off x="822960" y="5257800"/>
            <a:ext cx="10545775" cy="457200"/>
          </a:xfrm>
          <a:prstGeom prst="rect">
            <a:avLst/>
          </a:prstGeom>
          <a:noFill/>
          <a:ln/>
        </p:spPr>
        <p:txBody>
          <a:bodyPr wrap="square" lIns="0" tIns="0" rIns="0" bIns="0" rtlCol="0" anchor="ctr"/>
          <a:lstStyle/>
          <a:p>
            <a:pPr algn="ctr" indent="0" marL="0">
              <a:buNone/>
            </a:pPr>
            <a:r>
              <a:rPr lang="en-US" sz="1600" b="1" dirty="0">
                <a:solidFill>
                  <a:srgbClr val="2A3330"/>
                </a:solidFill>
                <a:latin typeface="Arial" pitchFamily="34" charset="0"/>
                <a:ea typeface="Arial" pitchFamily="34" charset="-122"/>
                <a:cs typeface="Arial" pitchFamily="34" charset="-120"/>
              </a:rPr>
              <a:t>Everything on screen is sample data. The trained model replaces it next.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0728655" y="502920"/>
            <a:ext cx="640080" cy="640080"/>
          </a:xfrm>
          <a:prstGeom prst="roundRect">
            <a:avLst>
              <a:gd name="adj" fmla="val 11000"/>
            </a:avLst>
          </a:prstGeom>
          <a:solidFill>
            <a:srgbClr val="161C1A"/>
          </a:solidFill>
          <a:ln w="12700">
            <a:solidFill>
              <a:srgbClr val="161C1A"/>
            </a:solidFill>
            <a:prstDash val="solid"/>
          </a:ln>
        </p:spPr>
      </p:sp>
      <p:sp>
        <p:nvSpPr>
          <p:cNvPr id="3" name="Shape 1"/>
          <p:cNvSpPr/>
          <p:nvPr/>
        </p:nvSpPr>
        <p:spPr>
          <a:xfrm>
            <a:off x="10860512" y="607253"/>
            <a:ext cx="375727" cy="42885"/>
          </a:xfrm>
          <a:prstGeom prst="rect">
            <a:avLst/>
          </a:prstGeom>
          <a:solidFill>
            <a:srgbClr val="3D9472"/>
          </a:solidFill>
          <a:ln w="12700">
            <a:solidFill>
              <a:srgbClr val="3D9472"/>
            </a:solidFill>
            <a:prstDash val="solid"/>
          </a:ln>
        </p:spPr>
      </p:sp>
      <p:sp>
        <p:nvSpPr>
          <p:cNvPr id="4" name="Shape 2"/>
          <p:cNvSpPr/>
          <p:nvPr/>
        </p:nvSpPr>
        <p:spPr>
          <a:xfrm>
            <a:off x="10860512" y="876727"/>
            <a:ext cx="90891" cy="147218"/>
          </a:xfrm>
          <a:prstGeom prst="rect">
            <a:avLst/>
          </a:prstGeom>
          <a:solidFill>
            <a:srgbClr val="7E857E"/>
          </a:solidFill>
          <a:ln w="12700">
            <a:solidFill>
              <a:srgbClr val="7E857E"/>
            </a:solidFill>
            <a:prstDash val="solid"/>
          </a:ln>
        </p:spPr>
      </p:sp>
      <p:sp>
        <p:nvSpPr>
          <p:cNvPr id="5" name="Shape 3"/>
          <p:cNvSpPr/>
          <p:nvPr/>
        </p:nvSpPr>
        <p:spPr>
          <a:xfrm>
            <a:off x="11007730" y="794796"/>
            <a:ext cx="89611" cy="229149"/>
          </a:xfrm>
          <a:prstGeom prst="rect">
            <a:avLst/>
          </a:prstGeom>
          <a:solidFill>
            <a:srgbClr val="AFBAB2"/>
          </a:solidFill>
          <a:ln w="12700">
            <a:solidFill>
              <a:srgbClr val="AFBAB2"/>
            </a:solidFill>
            <a:prstDash val="solid"/>
          </a:ln>
        </p:spPr>
      </p:sp>
      <p:sp>
        <p:nvSpPr>
          <p:cNvPr id="6" name="Shape 4"/>
          <p:cNvSpPr/>
          <p:nvPr/>
        </p:nvSpPr>
        <p:spPr>
          <a:xfrm>
            <a:off x="11153028" y="675742"/>
            <a:ext cx="89611" cy="348204"/>
          </a:xfrm>
          <a:prstGeom prst="rect">
            <a:avLst/>
          </a:prstGeom>
          <a:solidFill>
            <a:srgbClr val="E3EEE6"/>
          </a:solidFill>
          <a:ln w="12700">
            <a:solidFill>
              <a:srgbClr val="E3EEE6"/>
            </a:solidFill>
            <a:prstDash val="solid"/>
          </a:ln>
        </p:spPr>
      </p:sp>
      <p:sp>
        <p:nvSpPr>
          <p:cNvPr id="7" name="Text 5"/>
          <p:cNvSpPr txBox="1"/>
          <p:nvPr/>
        </p:nvSpPr>
        <p:spPr>
          <a:xfrm>
            <a:off x="0" y="2468880"/>
            <a:ext cx="12191695" cy="1097280"/>
          </a:xfrm>
          <a:prstGeom prst="rect">
            <a:avLst/>
          </a:prstGeom>
          <a:noFill/>
          <a:ln/>
        </p:spPr>
        <p:txBody>
          <a:bodyPr wrap="square" lIns="0" tIns="0" rIns="0" bIns="0" rtlCol="0" anchor="ctr"/>
          <a:lstStyle/>
          <a:p>
            <a:pPr algn="ctr" indent="0" marL="0">
              <a:buNone/>
            </a:pPr>
            <a:r>
              <a:rPr lang="en-US" sz="5800" b="1" dirty="0">
                <a:solidFill>
                  <a:srgbClr val="161C19"/>
                </a:solidFill>
                <a:latin typeface="Arial" pitchFamily="34" charset="0"/>
                <a:ea typeface="Arial" pitchFamily="34" charset="-122"/>
                <a:cs typeface="Arial" pitchFamily="34" charset="-120"/>
              </a:rPr>
              <a:t>Questions?</a:t>
            </a:r>
            <a:endParaRPr lang="en-US" sz="5800" dirty="0"/>
          </a:p>
        </p:txBody>
      </p:sp>
      <p:sp>
        <p:nvSpPr>
          <p:cNvPr id="8" name="Text 6"/>
          <p:cNvSpPr txBox="1"/>
          <p:nvPr/>
        </p:nvSpPr>
        <p:spPr>
          <a:xfrm>
            <a:off x="0" y="3657600"/>
            <a:ext cx="12191695" cy="457200"/>
          </a:xfrm>
          <a:prstGeom prst="rect">
            <a:avLst/>
          </a:prstGeom>
          <a:noFill/>
          <a:ln/>
        </p:spPr>
        <p:txBody>
          <a:bodyPr wrap="square" lIns="0" tIns="0" rIns="0" bIns="0" rtlCol="0" anchor="ctr"/>
          <a:lstStyle/>
          <a:p>
            <a:pPr algn="ctr" indent="0" marL="0">
              <a:buNone/>
            </a:pPr>
            <a:r>
              <a:rPr lang="en-US" sz="1800" dirty="0">
                <a:solidFill>
                  <a:srgbClr val="4E5955"/>
                </a:solidFill>
                <a:latin typeface="Arial" pitchFamily="34" charset="0"/>
                <a:ea typeface="Arial" pitchFamily="34" charset="-122"/>
                <a:cs typeface="Arial" pitchFamily="34" charset="-120"/>
              </a:rPr>
              <a:t>We would love your feedback on the product, the plan and the model.</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10728655" y="502920"/>
            <a:ext cx="640080" cy="640080"/>
          </a:xfrm>
          <a:prstGeom prst="roundRect">
            <a:avLst>
              <a:gd name="adj" fmla="val 11000"/>
            </a:avLst>
          </a:prstGeom>
          <a:solidFill>
            <a:srgbClr val="161C1A"/>
          </a:solidFill>
          <a:ln w="12700">
            <a:solidFill>
              <a:srgbClr val="161C1A"/>
            </a:solidFill>
            <a:prstDash val="solid"/>
          </a:ln>
        </p:spPr>
      </p:sp>
      <p:sp>
        <p:nvSpPr>
          <p:cNvPr id="3" name="Shape 1"/>
          <p:cNvSpPr/>
          <p:nvPr/>
        </p:nvSpPr>
        <p:spPr>
          <a:xfrm>
            <a:off x="10860512" y="607253"/>
            <a:ext cx="375727" cy="42885"/>
          </a:xfrm>
          <a:prstGeom prst="rect">
            <a:avLst/>
          </a:prstGeom>
          <a:solidFill>
            <a:srgbClr val="3D9472"/>
          </a:solidFill>
          <a:ln w="12700">
            <a:solidFill>
              <a:srgbClr val="3D9472"/>
            </a:solidFill>
            <a:prstDash val="solid"/>
          </a:ln>
        </p:spPr>
      </p:sp>
      <p:sp>
        <p:nvSpPr>
          <p:cNvPr id="4" name="Shape 2"/>
          <p:cNvSpPr/>
          <p:nvPr/>
        </p:nvSpPr>
        <p:spPr>
          <a:xfrm>
            <a:off x="10860512" y="876727"/>
            <a:ext cx="90891" cy="147218"/>
          </a:xfrm>
          <a:prstGeom prst="rect">
            <a:avLst/>
          </a:prstGeom>
          <a:solidFill>
            <a:srgbClr val="7E857E"/>
          </a:solidFill>
          <a:ln w="12700">
            <a:solidFill>
              <a:srgbClr val="7E857E"/>
            </a:solidFill>
            <a:prstDash val="solid"/>
          </a:ln>
        </p:spPr>
      </p:sp>
      <p:sp>
        <p:nvSpPr>
          <p:cNvPr id="5" name="Shape 3"/>
          <p:cNvSpPr/>
          <p:nvPr/>
        </p:nvSpPr>
        <p:spPr>
          <a:xfrm>
            <a:off x="11007730" y="794796"/>
            <a:ext cx="89611" cy="229149"/>
          </a:xfrm>
          <a:prstGeom prst="rect">
            <a:avLst/>
          </a:prstGeom>
          <a:solidFill>
            <a:srgbClr val="AFBAB2"/>
          </a:solidFill>
          <a:ln w="12700">
            <a:solidFill>
              <a:srgbClr val="AFBAB2"/>
            </a:solidFill>
            <a:prstDash val="solid"/>
          </a:ln>
        </p:spPr>
      </p:sp>
      <p:sp>
        <p:nvSpPr>
          <p:cNvPr id="6" name="Shape 4"/>
          <p:cNvSpPr/>
          <p:nvPr/>
        </p:nvSpPr>
        <p:spPr>
          <a:xfrm>
            <a:off x="11153028" y="675742"/>
            <a:ext cx="89611" cy="348204"/>
          </a:xfrm>
          <a:prstGeom prst="rect">
            <a:avLst/>
          </a:prstGeom>
          <a:solidFill>
            <a:srgbClr val="E3EEE6"/>
          </a:solidFill>
          <a:ln w="12700">
            <a:solidFill>
              <a:srgbClr val="E3EEE6"/>
            </a:solidFill>
            <a:prstDash val="solid"/>
          </a:ln>
        </p:spPr>
      </p:sp>
      <p:sp>
        <p:nvSpPr>
          <p:cNvPr id="7" name="Text 5"/>
          <p:cNvSpPr txBox="1"/>
          <p:nvPr/>
        </p:nvSpPr>
        <p:spPr>
          <a:xfrm>
            <a:off x="0" y="2011680"/>
            <a:ext cx="12191695" cy="1005840"/>
          </a:xfrm>
          <a:prstGeom prst="rect">
            <a:avLst/>
          </a:prstGeom>
          <a:noFill/>
          <a:ln/>
        </p:spPr>
        <p:txBody>
          <a:bodyPr wrap="square" lIns="0" tIns="0" rIns="0" bIns="0" rtlCol="0" anchor="ctr"/>
          <a:lstStyle/>
          <a:p>
            <a:pPr algn="ctr" indent="0" marL="0">
              <a:buNone/>
            </a:pPr>
            <a:r>
              <a:rPr lang="en-US" sz="5400" b="1" dirty="0">
                <a:solidFill>
                  <a:srgbClr val="161C19"/>
                </a:solidFill>
                <a:latin typeface="Arial" pitchFamily="34" charset="0"/>
                <a:ea typeface="Arial" pitchFamily="34" charset="-122"/>
                <a:cs typeface="Arial" pitchFamily="34" charset="-120"/>
              </a:rPr>
              <a:t>Thank you</a:t>
            </a:r>
            <a:endParaRPr lang="en-US" sz="5400" dirty="0"/>
          </a:p>
        </p:txBody>
      </p:sp>
      <p:sp>
        <p:nvSpPr>
          <p:cNvPr id="8" name="Text 6"/>
          <p:cNvSpPr txBox="1"/>
          <p:nvPr/>
        </p:nvSpPr>
        <p:spPr>
          <a:xfrm>
            <a:off x="0" y="3291840"/>
            <a:ext cx="12191695" cy="365760"/>
          </a:xfrm>
          <a:prstGeom prst="rect">
            <a:avLst/>
          </a:prstGeom>
          <a:noFill/>
          <a:ln/>
        </p:spPr>
        <p:txBody>
          <a:bodyPr wrap="square" lIns="0" tIns="0" rIns="0" bIns="0" rtlCol="0" anchor="ctr"/>
          <a:lstStyle/>
          <a:p>
            <a:pPr algn="ctr" indent="0" marL="0">
              <a:buNone/>
            </a:pPr>
            <a:r>
              <a:rPr lang="en-US" sz="2000" b="1" spc="800" kern="0" dirty="0">
                <a:solidFill>
                  <a:srgbClr val="1F6B4F"/>
                </a:solidFill>
                <a:latin typeface="Arial" pitchFamily="34" charset="0"/>
                <a:ea typeface="Arial" pitchFamily="34" charset="-122"/>
                <a:cs typeface="Arial" pitchFamily="34" charset="-120"/>
              </a:rPr>
              <a:t>ASCEND</a:t>
            </a:r>
            <a:endParaRPr lang="en-US" sz="2000" dirty="0"/>
          </a:p>
        </p:txBody>
      </p:sp>
      <p:sp>
        <p:nvSpPr>
          <p:cNvPr id="9" name="Text 7"/>
          <p:cNvSpPr txBox="1"/>
          <p:nvPr/>
        </p:nvSpPr>
        <p:spPr>
          <a:xfrm>
            <a:off x="0" y="3749040"/>
            <a:ext cx="12191695" cy="365760"/>
          </a:xfrm>
          <a:prstGeom prst="rect">
            <a:avLst/>
          </a:prstGeom>
          <a:noFill/>
          <a:ln/>
        </p:spPr>
        <p:txBody>
          <a:bodyPr wrap="square" lIns="0" tIns="0" rIns="0" bIns="0" rtlCol="0" anchor="ctr"/>
          <a:lstStyle/>
          <a:p>
            <a:pPr algn="ctr" indent="0" marL="0">
              <a:buNone/>
            </a:pPr>
            <a:r>
              <a:rPr lang="en-US" sz="1600" dirty="0">
                <a:solidFill>
                  <a:srgbClr val="4E5955"/>
                </a:solidFill>
                <a:latin typeface="Arial" pitchFamily="34" charset="0"/>
                <a:ea typeface="Arial" pitchFamily="34" charset="-122"/>
                <a:cs typeface="Arial" pitchFamily="34" charset="-120"/>
              </a:rPr>
              <a:t>See what changed. Understand why. Find your next opportunity.</a:t>
            </a:r>
            <a:endParaRPr lang="en-US" sz="1600" dirty="0"/>
          </a:p>
        </p:txBody>
      </p:sp>
      <p:sp>
        <p:nvSpPr>
          <p:cNvPr id="10" name="Text 8"/>
          <p:cNvSpPr txBox="1"/>
          <p:nvPr/>
        </p:nvSpPr>
        <p:spPr>
          <a:xfrm>
            <a:off x="0" y="5303520"/>
            <a:ext cx="12191695" cy="365760"/>
          </a:xfrm>
          <a:prstGeom prst="rect">
            <a:avLst/>
          </a:prstGeom>
          <a:noFill/>
          <a:ln/>
        </p:spPr>
        <p:txBody>
          <a:bodyPr wrap="square" lIns="0" tIns="0" rIns="0" bIns="0" rtlCol="0" anchor="ctr"/>
          <a:lstStyle/>
          <a:p>
            <a:pPr algn="ctr" indent="0" marL="0">
              <a:buNone/>
            </a:pPr>
            <a:r>
              <a:rPr lang="en-US" sz="1400" dirty="0">
                <a:solidFill>
                  <a:srgbClr val="2A3330"/>
                </a:solidFill>
                <a:latin typeface="Arial" pitchFamily="34" charset="0"/>
                <a:ea typeface="Arial" pitchFamily="34" charset="-122"/>
                <a:cs typeface="Arial" pitchFamily="34" charset="-120"/>
              </a:rPr>
              <a:t>Aaryaman Chopra   |   Ethan de Guzman   |   Palash Desarda   |   Kaiyaan Faisal</a:t>
            </a:r>
            <a:endParaRPr lang="en-US" sz="1400" dirty="0"/>
          </a:p>
        </p:txBody>
      </p:sp>
      <p:sp>
        <p:nvSpPr>
          <p:cNvPr id="11" name="Text 9"/>
          <p:cNvSpPr txBox="1"/>
          <p:nvPr/>
        </p:nvSpPr>
        <p:spPr>
          <a:xfrm>
            <a:off x="0" y="5669280"/>
            <a:ext cx="12191695" cy="274320"/>
          </a:xfrm>
          <a:prstGeom prst="rect">
            <a:avLst/>
          </a:prstGeom>
          <a:noFill/>
          <a:ln/>
        </p:spPr>
        <p:txBody>
          <a:bodyPr wrap="square" lIns="0" tIns="0" rIns="0" bIns="0" rtlCol="0" anchor="ctr"/>
          <a:lstStyle/>
          <a:p>
            <a:pPr algn="ctr" indent="0" marL="0">
              <a:buNone/>
            </a:pPr>
            <a:r>
              <a:rPr lang="en-US" sz="1200" dirty="0">
                <a:solidFill>
                  <a:srgbClr val="6B7671"/>
                </a:solidFill>
                <a:latin typeface="Arial" pitchFamily="34" charset="0"/>
                <a:ea typeface="Arial" pitchFamily="34" charset="-122"/>
                <a:cs typeface="Arial" pitchFamily="34" charset="-120"/>
              </a:rPr>
              <a:t>P6 Special Topics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Ascend Sprint Review 1</dc:title>
  <dc:subject>PptxGenJS Presentation</dc:subject>
  <dc:creator>Ascend team</dc:creator>
  <cp:lastModifiedBy>Ascend team</cp:lastModifiedBy>
  <cp:revision>1</cp:revision>
  <dcterms:created xsi:type="dcterms:W3CDTF">2026-10-06T02:26:28Z</dcterms:created>
  <dcterms:modified xsi:type="dcterms:W3CDTF">2026-10-06T02:26:28Z</dcterms:modified>
</cp:coreProperties>
</file>