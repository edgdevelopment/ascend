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Arial Bold" charset="1" panose="020B0704020202020204"/>
      <p:regular r:id="rId20"/>
    </p:embeddedFont>
    <p:embeddedFont>
      <p:font typeface="Arial" charset="1" panose="020B060402020202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10.xml" Type="http://schemas.openxmlformats.org/officeDocument/2006/relationships/notesSlide"/><Relationship Id="rId31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Ascend brings AI-powered growth intelligence to small businesses.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Small businesses have data but no data team to interpret it.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Ascend turns historical data into forward-looking growth intelligence.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Financial, operational, and external data feed a time-series AI engine that outputs a growth dashboard.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PatchTST models 12-24 months of business time-series data as a Transformer.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The network detects the pattern; Ascend translates it into an actionable opportunity.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 Stripe-like dashboard for Bella's Café showing growth health and opportunities.</a:t>
            </a:r>
          </a:p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Every business has its own definition of normal. Ascend learns it.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From one business, to industry models, to a platform API — with privacy-first data governance.</a:t>
            </a:r>
          </a:p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Every large company has a data team. We're building one for everyone else.</a:t>
            </a:r>
          </a:p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Relationship Id="rId5" Target="../media/image2.pn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6.png" Type="http://schemas.openxmlformats.org/officeDocument/2006/relationships/image"/><Relationship Id="rId5" Target="../media/image2.pn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65860" y="3360420"/>
            <a:ext cx="6858000" cy="480060"/>
            <a:chOff x="0" y="0"/>
            <a:chExt cx="91440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0" cy="640080"/>
            </a:xfrm>
            <a:custGeom>
              <a:avLst/>
              <a:gdLst/>
              <a:ahLst/>
              <a:cxnLst/>
              <a:rect r="r" b="b" t="t" l="l"/>
              <a:pathLst>
                <a:path h="64008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91440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1F6B4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AI-POWERED GROWTH INTELLIGENCE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65860" y="3909060"/>
            <a:ext cx="7680960" cy="1783080"/>
            <a:chOff x="0" y="0"/>
            <a:chExt cx="10241280" cy="23774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241280" cy="2377440"/>
            </a:xfrm>
            <a:custGeom>
              <a:avLst/>
              <a:gdLst/>
              <a:ahLst/>
              <a:cxnLst/>
              <a:rect r="r" b="b" t="t" l="l"/>
              <a:pathLst>
                <a:path h="237744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35" r="0" b="-3393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0241280" cy="2425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960"/>
                </a:lnSpc>
              </a:pPr>
              <a:r>
                <a:rPr lang="en-US" sz="10800" b="true">
                  <a:solidFill>
                    <a:srgbClr val="161C1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ASCEND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0" y="2393156"/>
            <a:ext cx="7733824" cy="6316339"/>
            <a:chOff x="0" y="0"/>
            <a:chExt cx="8980170" cy="73342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980170" cy="7334250"/>
            </a:xfrm>
            <a:custGeom>
              <a:avLst/>
              <a:gdLst/>
              <a:ahLst/>
              <a:cxnLst/>
              <a:rect r="r" b="b" t="t" l="l"/>
              <a:pathLst>
                <a:path h="7334250" w="8980170">
                  <a:moveTo>
                    <a:pt x="0" y="275082"/>
                  </a:moveTo>
                  <a:cubicBezTo>
                    <a:pt x="0" y="123190"/>
                    <a:pt x="123190" y="0"/>
                    <a:pt x="275082" y="0"/>
                  </a:cubicBezTo>
                  <a:lnTo>
                    <a:pt x="8705088" y="0"/>
                  </a:lnTo>
                  <a:cubicBezTo>
                    <a:pt x="8856980" y="0"/>
                    <a:pt x="8980170" y="123190"/>
                    <a:pt x="8980170" y="275082"/>
                  </a:cubicBezTo>
                  <a:lnTo>
                    <a:pt x="8980170" y="7059168"/>
                  </a:lnTo>
                  <a:cubicBezTo>
                    <a:pt x="8980170" y="7211061"/>
                    <a:pt x="8856980" y="7334250"/>
                    <a:pt x="8705088" y="7334250"/>
                  </a:cubicBezTo>
                  <a:lnTo>
                    <a:pt x="275082" y="7334250"/>
                  </a:lnTo>
                  <a:cubicBezTo>
                    <a:pt x="123190" y="7334250"/>
                    <a:pt x="0" y="7211060"/>
                    <a:pt x="0" y="7059168"/>
                  </a:cubicBezTo>
                  <a:close/>
                </a:path>
              </a:pathLst>
            </a:custGeom>
            <a:solidFill>
              <a:srgbClr val="F6F8F6"/>
            </a:solidFill>
            <a:ln w="14288" cap="sq">
              <a:solidFill>
                <a:srgbClr val="D6DCD7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703447" y="2873854"/>
            <a:ext cx="4724950" cy="472495"/>
            <a:chOff x="0" y="0"/>
            <a:chExt cx="548640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54864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300">
                  <a:solidFill>
                    <a:srgbClr val="6B7671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BUSINESS HEALTH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703447" y="3582597"/>
            <a:ext cx="4724950" cy="629993"/>
            <a:chOff x="0" y="0"/>
            <a:chExt cx="5486400" cy="731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486400" cy="731520"/>
            </a:xfrm>
            <a:custGeom>
              <a:avLst/>
              <a:gdLst/>
              <a:ahLst/>
              <a:cxnLst/>
              <a:rect r="r" b="b" t="t" l="l"/>
              <a:pathLst>
                <a:path h="73152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54864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2A3330"/>
                  </a:solidFill>
                  <a:latin typeface="Arial"/>
                  <a:ea typeface="Arial"/>
                  <a:cs typeface="Arial"/>
                  <a:sym typeface="Arial"/>
                </a:rPr>
                <a:t>Growth Potential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76120" y="3291840"/>
            <a:ext cx="1714500" cy="754380"/>
            <a:chOff x="0" y="0"/>
            <a:chExt cx="2286000" cy="10058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860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53" t="0" r="-6453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228600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5400"/>
                </a:lnSpc>
              </a:pPr>
              <a:r>
                <a:rPr lang="en-US" sz="4500" b="true">
                  <a:solidFill>
                    <a:srgbClr val="1F6B4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82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692510" y="4311901"/>
            <a:ext cx="6636804" cy="163623"/>
            <a:chOff x="0" y="0"/>
            <a:chExt cx="7706360" cy="18999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706360" cy="189992"/>
            </a:xfrm>
            <a:custGeom>
              <a:avLst/>
              <a:gdLst/>
              <a:ahLst/>
              <a:cxnLst/>
              <a:rect r="r" b="b" t="t" l="l"/>
              <a:pathLst>
                <a:path h="189992" w="7706360">
                  <a:moveTo>
                    <a:pt x="0" y="94996"/>
                  </a:moveTo>
                  <a:cubicBezTo>
                    <a:pt x="0" y="42545"/>
                    <a:pt x="42545" y="0"/>
                    <a:pt x="94996" y="0"/>
                  </a:cubicBezTo>
                  <a:lnTo>
                    <a:pt x="7611364" y="0"/>
                  </a:lnTo>
                  <a:cubicBezTo>
                    <a:pt x="7663815" y="0"/>
                    <a:pt x="7706360" y="42545"/>
                    <a:pt x="7706360" y="94996"/>
                  </a:cubicBezTo>
                  <a:cubicBezTo>
                    <a:pt x="7706360" y="147447"/>
                    <a:pt x="7663815" y="189992"/>
                    <a:pt x="7611364" y="189992"/>
                  </a:cubicBezTo>
                  <a:lnTo>
                    <a:pt x="94996" y="189992"/>
                  </a:lnTo>
                  <a:cubicBezTo>
                    <a:pt x="42545" y="189992"/>
                    <a:pt x="0" y="147447"/>
                    <a:pt x="0" y="94996"/>
                  </a:cubicBezTo>
                  <a:close/>
                </a:path>
              </a:pathLst>
            </a:custGeom>
            <a:solidFill>
              <a:srgbClr val="D6DCD7"/>
            </a:solidFill>
            <a:ln w="19050" cap="sq">
              <a:solidFill>
                <a:srgbClr val="D6DCD7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9692510" y="4311901"/>
            <a:ext cx="5446117" cy="163623"/>
            <a:chOff x="0" y="0"/>
            <a:chExt cx="6323787" cy="18999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323838" cy="189992"/>
            </a:xfrm>
            <a:custGeom>
              <a:avLst/>
              <a:gdLst/>
              <a:ahLst/>
              <a:cxnLst/>
              <a:rect r="r" b="b" t="t" l="l"/>
              <a:pathLst>
                <a:path h="189992" w="6323838">
                  <a:moveTo>
                    <a:pt x="0" y="94996"/>
                  </a:moveTo>
                  <a:cubicBezTo>
                    <a:pt x="0" y="42545"/>
                    <a:pt x="42545" y="0"/>
                    <a:pt x="94996" y="0"/>
                  </a:cubicBezTo>
                  <a:lnTo>
                    <a:pt x="6228842" y="0"/>
                  </a:lnTo>
                  <a:cubicBezTo>
                    <a:pt x="6281293" y="0"/>
                    <a:pt x="6323838" y="42545"/>
                    <a:pt x="6323838" y="94996"/>
                  </a:cubicBezTo>
                  <a:cubicBezTo>
                    <a:pt x="6323838" y="147447"/>
                    <a:pt x="6281293" y="189992"/>
                    <a:pt x="6228842" y="189992"/>
                  </a:cubicBezTo>
                  <a:lnTo>
                    <a:pt x="94996" y="189992"/>
                  </a:lnTo>
                  <a:cubicBezTo>
                    <a:pt x="42545" y="189992"/>
                    <a:pt x="0" y="147447"/>
                    <a:pt x="0" y="94996"/>
                  </a:cubicBezTo>
                  <a:close/>
                </a:path>
              </a:pathLst>
            </a:custGeom>
            <a:solidFill>
              <a:srgbClr val="1F6B4F"/>
            </a:solidFill>
            <a:ln w="19050" cap="sq">
              <a:solidFill>
                <a:srgbClr val="1F6B4F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9703447" y="4763834"/>
            <a:ext cx="3937458" cy="551244"/>
            <a:chOff x="0" y="0"/>
            <a:chExt cx="4572000" cy="6400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572000" cy="640080"/>
            </a:xfrm>
            <a:custGeom>
              <a:avLst/>
              <a:gdLst/>
              <a:ahLst/>
              <a:cxnLst/>
              <a:rect r="r" b="b" t="t" l="l"/>
              <a:pathLst>
                <a:path h="64008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45720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A3330"/>
                  </a:solidFill>
                  <a:latin typeface="Arial"/>
                  <a:ea typeface="Arial"/>
                  <a:cs typeface="Arial"/>
                  <a:sym typeface="Arial"/>
                </a:rPr>
                <a:t>Revenue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719654" y="4763834"/>
            <a:ext cx="2598722" cy="551244"/>
            <a:chOff x="0" y="0"/>
            <a:chExt cx="3017520" cy="6400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017520" cy="640080"/>
            </a:xfrm>
            <a:custGeom>
              <a:avLst/>
              <a:gdLst/>
              <a:ahLst/>
              <a:cxnLst/>
              <a:rect r="r" b="b" t="t" l="l"/>
              <a:pathLst>
                <a:path h="640080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858" r="0" b="-4185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30175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340"/>
                </a:lnSpc>
              </a:pPr>
              <a:r>
                <a:rPr lang="en-US" sz="1950" b="true">
                  <a:solidFill>
                    <a:srgbClr val="1F6B4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↑ +8.4%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703447" y="5393827"/>
            <a:ext cx="3937458" cy="551244"/>
            <a:chOff x="0" y="0"/>
            <a:chExt cx="4572000" cy="6400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572000" cy="640080"/>
            </a:xfrm>
            <a:custGeom>
              <a:avLst/>
              <a:gdLst/>
              <a:ahLst/>
              <a:cxnLst/>
              <a:rect r="r" b="b" t="t" l="l"/>
              <a:pathLst>
                <a:path h="64008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45720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A3330"/>
                  </a:solidFill>
                  <a:latin typeface="Arial"/>
                  <a:ea typeface="Arial"/>
                  <a:cs typeface="Arial"/>
                  <a:sym typeface="Arial"/>
                </a:rPr>
                <a:t>Expenses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719654" y="5393827"/>
            <a:ext cx="2598722" cy="551244"/>
            <a:chOff x="0" y="0"/>
            <a:chExt cx="3017520" cy="6400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017520" cy="640080"/>
            </a:xfrm>
            <a:custGeom>
              <a:avLst/>
              <a:gdLst/>
              <a:ahLst/>
              <a:cxnLst/>
              <a:rect r="r" b="b" t="t" l="l"/>
              <a:pathLst>
                <a:path h="640080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858" r="0" b="-4185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30175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340"/>
                </a:lnSpc>
              </a:pPr>
              <a:r>
                <a:rPr lang="en-US" sz="1950" b="true">
                  <a:solidFill>
                    <a:srgbClr val="1F6B4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↑ +3.1%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703447" y="6023821"/>
            <a:ext cx="3937458" cy="551244"/>
            <a:chOff x="0" y="0"/>
            <a:chExt cx="4572000" cy="6400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572000" cy="640080"/>
            </a:xfrm>
            <a:custGeom>
              <a:avLst/>
              <a:gdLst/>
              <a:ahLst/>
              <a:cxnLst/>
              <a:rect r="r" b="b" t="t" l="l"/>
              <a:pathLst>
                <a:path h="64008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45720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2A3330"/>
                  </a:solidFill>
                  <a:latin typeface="Arial"/>
                  <a:ea typeface="Arial"/>
                  <a:cs typeface="Arial"/>
                  <a:sym typeface="Arial"/>
                </a:rPr>
                <a:t>Cash Flow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719654" y="6023821"/>
            <a:ext cx="2598722" cy="551244"/>
            <a:chOff x="0" y="0"/>
            <a:chExt cx="3017520" cy="6400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017520" cy="640080"/>
            </a:xfrm>
            <a:custGeom>
              <a:avLst/>
              <a:gdLst/>
              <a:ahLst/>
              <a:cxnLst/>
              <a:rect r="r" b="b" t="t" l="l"/>
              <a:pathLst>
                <a:path h="640080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858" r="0" b="-41858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30175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340"/>
                </a:lnSpc>
              </a:pPr>
              <a:r>
                <a:rPr lang="en-US" sz="1950" b="true">
                  <a:solidFill>
                    <a:srgbClr val="1F6B4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↑ +11.2%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695244" y="6881858"/>
            <a:ext cx="6631336" cy="1276393"/>
            <a:chOff x="0" y="0"/>
            <a:chExt cx="7700010" cy="148209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700010" cy="1481963"/>
            </a:xfrm>
            <a:custGeom>
              <a:avLst/>
              <a:gdLst/>
              <a:ahLst/>
              <a:cxnLst/>
              <a:rect r="r" b="b" t="t" l="l"/>
              <a:pathLst>
                <a:path h="1481963" w="7700010">
                  <a:moveTo>
                    <a:pt x="0" y="111125"/>
                  </a:moveTo>
                  <a:cubicBezTo>
                    <a:pt x="0" y="49784"/>
                    <a:pt x="49784" y="0"/>
                    <a:pt x="111125" y="0"/>
                  </a:cubicBezTo>
                  <a:lnTo>
                    <a:pt x="7588885" y="0"/>
                  </a:lnTo>
                  <a:cubicBezTo>
                    <a:pt x="7650226" y="0"/>
                    <a:pt x="7700010" y="49784"/>
                    <a:pt x="7700010" y="111125"/>
                  </a:cubicBezTo>
                  <a:lnTo>
                    <a:pt x="7700010" y="1370838"/>
                  </a:lnTo>
                  <a:cubicBezTo>
                    <a:pt x="7700010" y="1432179"/>
                    <a:pt x="7650226" y="1481963"/>
                    <a:pt x="7588885" y="1481963"/>
                  </a:cubicBezTo>
                  <a:lnTo>
                    <a:pt x="111125" y="1481963"/>
                  </a:lnTo>
                  <a:cubicBezTo>
                    <a:pt x="49784" y="1481963"/>
                    <a:pt x="0" y="1432179"/>
                    <a:pt x="0" y="1370838"/>
                  </a:cubicBezTo>
                  <a:close/>
                </a:path>
              </a:pathLst>
            </a:custGeom>
            <a:solidFill>
              <a:srgbClr val="E1EEE7"/>
            </a:solidFill>
            <a:ln w="14288" cap="sq">
              <a:solidFill>
                <a:srgbClr val="2E8A67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0018444" y="7047560"/>
            <a:ext cx="5512441" cy="472495"/>
            <a:chOff x="0" y="0"/>
            <a:chExt cx="6400800" cy="5486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400800" cy="548640"/>
            </a:xfrm>
            <a:custGeom>
              <a:avLst/>
              <a:gdLst/>
              <a:ahLst/>
              <a:cxnLst/>
              <a:rect r="r" b="b" t="t" l="l"/>
              <a:pathLst>
                <a:path h="54864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325" r="0" b="-177325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64008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1F6B4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✦ Opportunity Detected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0018444" y="7472805"/>
            <a:ext cx="5984936" cy="472495"/>
            <a:chOff x="0" y="0"/>
            <a:chExt cx="6949440" cy="5486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949440" cy="548640"/>
            </a:xfrm>
            <a:custGeom>
              <a:avLst/>
              <a:gdLst/>
              <a:ahLst/>
              <a:cxnLst/>
              <a:rect r="r" b="b" t="t" l="l"/>
              <a:pathLst>
                <a:path h="54864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810" r="0" b="-19681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694944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2A3330"/>
                  </a:solidFill>
                  <a:latin typeface="Arial"/>
                  <a:ea typeface="Arial"/>
                  <a:cs typeface="Arial"/>
                  <a:sym typeface="Arial"/>
                </a:rPr>
                <a:t>Weekday sales are underperforming.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165860" y="5669449"/>
            <a:ext cx="7680960" cy="1667686"/>
            <a:chOff x="0" y="0"/>
            <a:chExt cx="10241280" cy="222358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241280" cy="2223582"/>
            </a:xfrm>
            <a:custGeom>
              <a:avLst/>
              <a:gdLst/>
              <a:ahLst/>
              <a:cxnLst/>
              <a:rect r="r" b="b" t="t" l="l"/>
              <a:pathLst>
                <a:path h="222358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2223582"/>
                  </a:lnTo>
                  <a:lnTo>
                    <a:pt x="0" y="22235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732" r="0" b="-26753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66675"/>
              <a:ext cx="10241280" cy="22902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40"/>
                </a:lnSpc>
              </a:pPr>
              <a:r>
                <a:rPr lang="en-US" sz="3000" b="true">
                  <a:solidFill>
                    <a:srgbClr val="2E8A6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Aaryaman Chopra, Ethan De Guzman, Palash Desarda, Kaiyaan Faisal</a:t>
              </a:r>
            </a:p>
            <a:p>
              <a:pPr algn="l">
                <a:lnSpc>
                  <a:spcPts val="4140"/>
                </a:lnSpc>
              </a:pPr>
              <a:r>
                <a:rPr lang="en-US" sz="3000" b="true">
                  <a:solidFill>
                    <a:srgbClr val="2E8A6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P6 Special Topics</a:t>
              </a:r>
            </a:p>
          </p:txBody>
        </p:sp>
      </p:grpSp>
      <p:sp>
        <p:nvSpPr>
          <p:cNvPr name="Freeform 52" id="52"/>
          <p:cNvSpPr/>
          <p:nvPr/>
        </p:nvSpPr>
        <p:spPr>
          <a:xfrm flipH="false" flipV="false" rot="0">
            <a:off x="16745946" y="515346"/>
            <a:ext cx="1026707" cy="1026707"/>
          </a:xfrm>
          <a:custGeom>
            <a:avLst/>
            <a:gdLst/>
            <a:ahLst/>
            <a:cxnLst/>
            <a:rect r="r" b="b" t="t" l="l"/>
            <a:pathLst>
              <a:path h="1026707" w="1026707">
                <a:moveTo>
                  <a:pt x="0" y="0"/>
                </a:moveTo>
                <a:lnTo>
                  <a:pt x="1026708" y="0"/>
                </a:lnTo>
                <a:lnTo>
                  <a:pt x="1026708" y="1026708"/>
                </a:lnTo>
                <a:lnTo>
                  <a:pt x="0" y="10267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65860" y="822960"/>
            <a:ext cx="6858000" cy="480060"/>
            <a:chOff x="0" y="0"/>
            <a:chExt cx="91440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0" cy="640080"/>
            </a:xfrm>
            <a:custGeom>
              <a:avLst/>
              <a:gdLst/>
              <a:ahLst/>
              <a:cxnLst/>
              <a:rect r="r" b="b" t="t" l="l"/>
              <a:pathLst>
                <a:path h="64008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91440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1F6B4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 PROBLEM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65860" y="1315593"/>
            <a:ext cx="11795760" cy="1537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161C19"/>
                </a:solidFill>
                <a:latin typeface="Arial Bold"/>
                <a:ea typeface="Arial Bold"/>
                <a:cs typeface="Arial Bold"/>
                <a:sym typeface="Arial Bold"/>
              </a:rPr>
              <a:t>Small businesses have data. They don't have a data team.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165860" y="3017520"/>
            <a:ext cx="6172200" cy="2057400"/>
            <a:chOff x="0" y="0"/>
            <a:chExt cx="8229600" cy="2743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229600" cy="2743200"/>
            </a:xfrm>
            <a:custGeom>
              <a:avLst/>
              <a:gdLst/>
              <a:ahLst/>
              <a:cxnLst/>
              <a:rect r="r" b="b" t="t" l="l"/>
              <a:pathLst>
                <a:path h="274320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8229600" cy="2790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280"/>
                </a:lnSpc>
              </a:pPr>
              <a:r>
                <a:rPr lang="en-US" sz="14400" b="true">
                  <a:solidFill>
                    <a:srgbClr val="1F6B4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57%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65860" y="5143500"/>
            <a:ext cx="4800600" cy="1920240"/>
            <a:chOff x="0" y="0"/>
            <a:chExt cx="6400800" cy="25603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400800" cy="2560320"/>
            </a:xfrm>
            <a:custGeom>
              <a:avLst/>
              <a:gdLst/>
              <a:ahLst/>
              <a:cxnLst/>
              <a:rect r="r" b="b" t="t" l="l"/>
              <a:pathLst>
                <a:path h="256032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21" t="0" r="-1321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6400800" cy="26269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950">
                  <a:solidFill>
                    <a:srgbClr val="4E5955"/>
                  </a:solidFill>
                  <a:latin typeface="Arial"/>
                  <a:ea typeface="Arial"/>
                  <a:cs typeface="Arial"/>
                  <a:sym typeface="Arial"/>
                </a:rPr>
                <a:t>of small employer firms reported reaching customers and growing sales as an operational challenge in the Federal Reserve's 2024 Small Business Credit Survey.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778142" y="2519977"/>
            <a:ext cx="6303977" cy="630398"/>
            <a:chOff x="0" y="0"/>
            <a:chExt cx="5486400" cy="548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548640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59"/>
                </a:lnSpc>
              </a:pPr>
              <a:r>
                <a:rPr lang="en-US" b="true" sz="2049" spc="372">
                  <a:solidFill>
                    <a:srgbClr val="4E59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TODAY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600962" y="3349563"/>
            <a:ext cx="2501453" cy="820393"/>
            <a:chOff x="0" y="0"/>
            <a:chExt cx="2177034" cy="71399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77034" cy="713994"/>
            </a:xfrm>
            <a:custGeom>
              <a:avLst/>
              <a:gdLst/>
              <a:ahLst/>
              <a:cxnLst/>
              <a:rect r="r" b="b" t="t" l="l"/>
              <a:pathLst>
                <a:path h="713994" w="2177034">
                  <a:moveTo>
                    <a:pt x="0" y="150368"/>
                  </a:moveTo>
                  <a:cubicBezTo>
                    <a:pt x="0" y="67310"/>
                    <a:pt x="67310" y="0"/>
                    <a:pt x="150368" y="0"/>
                  </a:cubicBezTo>
                  <a:lnTo>
                    <a:pt x="2026666" y="0"/>
                  </a:lnTo>
                  <a:cubicBezTo>
                    <a:pt x="2109724" y="0"/>
                    <a:pt x="2177034" y="67310"/>
                    <a:pt x="2177034" y="150368"/>
                  </a:cubicBezTo>
                  <a:lnTo>
                    <a:pt x="2177034" y="563626"/>
                  </a:lnTo>
                  <a:cubicBezTo>
                    <a:pt x="2177034" y="646684"/>
                    <a:pt x="2109724" y="713994"/>
                    <a:pt x="2026666" y="713994"/>
                  </a:cubicBezTo>
                  <a:lnTo>
                    <a:pt x="150368" y="713994"/>
                  </a:lnTo>
                  <a:cubicBezTo>
                    <a:pt x="67310" y="713994"/>
                    <a:pt x="0" y="646684"/>
                    <a:pt x="0" y="563626"/>
                  </a:cubicBezTo>
                  <a:close/>
                </a:path>
              </a:pathLst>
            </a:custGeom>
            <a:solidFill>
              <a:srgbClr val="F6F8F6"/>
            </a:solidFill>
            <a:ln w="14288" cap="sq">
              <a:solidFill>
                <a:srgbClr val="D6DCD7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2177034" cy="7235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59"/>
                </a:lnSpc>
              </a:pPr>
              <a:r>
                <a:rPr lang="en-US" sz="2049">
                  <a:solidFill>
                    <a:srgbClr val="2A3330"/>
                  </a:solidFill>
                  <a:latin typeface="Arial"/>
                  <a:ea typeface="Arial"/>
                  <a:cs typeface="Arial"/>
                  <a:sym typeface="Arial"/>
                </a:rPr>
                <a:t>Transactions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290659" y="3349563"/>
            <a:ext cx="2018148" cy="820393"/>
            <a:chOff x="0" y="0"/>
            <a:chExt cx="1756410" cy="71399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56410" cy="713994"/>
            </a:xfrm>
            <a:custGeom>
              <a:avLst/>
              <a:gdLst/>
              <a:ahLst/>
              <a:cxnLst/>
              <a:rect r="r" b="b" t="t" l="l"/>
              <a:pathLst>
                <a:path h="713994" w="1756410">
                  <a:moveTo>
                    <a:pt x="0" y="150368"/>
                  </a:moveTo>
                  <a:cubicBezTo>
                    <a:pt x="0" y="67310"/>
                    <a:pt x="67310" y="0"/>
                    <a:pt x="150368" y="0"/>
                  </a:cubicBezTo>
                  <a:lnTo>
                    <a:pt x="1606042" y="0"/>
                  </a:lnTo>
                  <a:cubicBezTo>
                    <a:pt x="1689100" y="0"/>
                    <a:pt x="1756410" y="67310"/>
                    <a:pt x="1756410" y="150368"/>
                  </a:cubicBezTo>
                  <a:lnTo>
                    <a:pt x="1756410" y="563626"/>
                  </a:lnTo>
                  <a:cubicBezTo>
                    <a:pt x="1756410" y="646684"/>
                    <a:pt x="1689100" y="713994"/>
                    <a:pt x="1606042" y="713994"/>
                  </a:cubicBezTo>
                  <a:lnTo>
                    <a:pt x="150368" y="713994"/>
                  </a:lnTo>
                  <a:cubicBezTo>
                    <a:pt x="67310" y="713994"/>
                    <a:pt x="0" y="646684"/>
                    <a:pt x="0" y="563626"/>
                  </a:cubicBezTo>
                  <a:close/>
                </a:path>
              </a:pathLst>
            </a:custGeom>
            <a:solidFill>
              <a:srgbClr val="F6F8F6"/>
            </a:solidFill>
            <a:ln w="14288" cap="sq">
              <a:solidFill>
                <a:srgbClr val="D6DCD7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1756410" cy="7235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59"/>
                </a:lnSpc>
              </a:pPr>
              <a:r>
                <a:rPr lang="en-US" sz="2049">
                  <a:solidFill>
                    <a:srgbClr val="2A3330"/>
                  </a:solidFill>
                  <a:latin typeface="Arial"/>
                  <a:ea typeface="Arial"/>
                  <a:cs typeface="Arial"/>
                  <a:sym typeface="Arial"/>
                </a:rPr>
                <a:t>Expenses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497051" y="3349563"/>
            <a:ext cx="1913082" cy="820393"/>
            <a:chOff x="0" y="0"/>
            <a:chExt cx="1664970" cy="71399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664970" cy="713994"/>
            </a:xfrm>
            <a:custGeom>
              <a:avLst/>
              <a:gdLst/>
              <a:ahLst/>
              <a:cxnLst/>
              <a:rect r="r" b="b" t="t" l="l"/>
              <a:pathLst>
                <a:path h="713994" w="1664970">
                  <a:moveTo>
                    <a:pt x="0" y="150368"/>
                  </a:moveTo>
                  <a:cubicBezTo>
                    <a:pt x="0" y="67310"/>
                    <a:pt x="67310" y="0"/>
                    <a:pt x="150368" y="0"/>
                  </a:cubicBezTo>
                  <a:lnTo>
                    <a:pt x="1514602" y="0"/>
                  </a:lnTo>
                  <a:cubicBezTo>
                    <a:pt x="1597660" y="0"/>
                    <a:pt x="1664970" y="67310"/>
                    <a:pt x="1664970" y="150368"/>
                  </a:cubicBezTo>
                  <a:lnTo>
                    <a:pt x="1664970" y="563626"/>
                  </a:lnTo>
                  <a:cubicBezTo>
                    <a:pt x="1664970" y="646684"/>
                    <a:pt x="1597660" y="713994"/>
                    <a:pt x="1514602" y="713994"/>
                  </a:cubicBezTo>
                  <a:lnTo>
                    <a:pt x="150368" y="713994"/>
                  </a:lnTo>
                  <a:cubicBezTo>
                    <a:pt x="67310" y="713994"/>
                    <a:pt x="0" y="646684"/>
                    <a:pt x="0" y="563626"/>
                  </a:cubicBezTo>
                  <a:close/>
                </a:path>
              </a:pathLst>
            </a:custGeom>
            <a:solidFill>
              <a:srgbClr val="F6F8F6"/>
            </a:solidFill>
            <a:ln w="14288" cap="sq">
              <a:solidFill>
                <a:srgbClr val="D6DCD7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1664970" cy="7235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59"/>
                </a:lnSpc>
              </a:pPr>
              <a:r>
                <a:rPr lang="en-US" sz="2049">
                  <a:solidFill>
                    <a:srgbClr val="2A3330"/>
                  </a:solidFill>
                  <a:latin typeface="Arial"/>
                  <a:ea typeface="Arial"/>
                  <a:cs typeface="Arial"/>
                  <a:sym typeface="Arial"/>
                </a:rPr>
                <a:t>Revenue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5598377" y="3349563"/>
            <a:ext cx="1660923" cy="820393"/>
            <a:chOff x="0" y="0"/>
            <a:chExt cx="1445514" cy="71399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45641" cy="713994"/>
            </a:xfrm>
            <a:custGeom>
              <a:avLst/>
              <a:gdLst/>
              <a:ahLst/>
              <a:cxnLst/>
              <a:rect r="r" b="b" t="t" l="l"/>
              <a:pathLst>
                <a:path h="713994" w="1445641">
                  <a:moveTo>
                    <a:pt x="0" y="150368"/>
                  </a:moveTo>
                  <a:cubicBezTo>
                    <a:pt x="0" y="67310"/>
                    <a:pt x="67310" y="0"/>
                    <a:pt x="150368" y="0"/>
                  </a:cubicBezTo>
                  <a:lnTo>
                    <a:pt x="1295273" y="0"/>
                  </a:lnTo>
                  <a:cubicBezTo>
                    <a:pt x="1378331" y="0"/>
                    <a:pt x="1445641" y="67310"/>
                    <a:pt x="1445641" y="150368"/>
                  </a:cubicBezTo>
                  <a:lnTo>
                    <a:pt x="1445641" y="563626"/>
                  </a:lnTo>
                  <a:cubicBezTo>
                    <a:pt x="1445641" y="646684"/>
                    <a:pt x="1378331" y="713994"/>
                    <a:pt x="1295273" y="713994"/>
                  </a:cubicBezTo>
                  <a:lnTo>
                    <a:pt x="150368" y="713994"/>
                  </a:lnTo>
                  <a:cubicBezTo>
                    <a:pt x="67310" y="713994"/>
                    <a:pt x="0" y="646684"/>
                    <a:pt x="0" y="563626"/>
                  </a:cubicBezTo>
                  <a:close/>
                </a:path>
              </a:pathLst>
            </a:custGeom>
            <a:solidFill>
              <a:srgbClr val="F6F8F6"/>
            </a:solidFill>
            <a:ln w="14288" cap="sq">
              <a:solidFill>
                <a:srgbClr val="D6DCD7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1445514" cy="7235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59"/>
                </a:lnSpc>
              </a:pPr>
              <a:r>
                <a:rPr lang="en-US" sz="2049">
                  <a:solidFill>
                    <a:srgbClr val="2A3330"/>
                  </a:solidFill>
                  <a:latin typeface="Arial"/>
                  <a:ea typeface="Arial"/>
                  <a:cs typeface="Arial"/>
                  <a:sym typeface="Arial"/>
                </a:rPr>
                <a:t>Payroll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765328" y="4358199"/>
            <a:ext cx="2018148" cy="820393"/>
            <a:chOff x="0" y="0"/>
            <a:chExt cx="1756410" cy="71399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756410" cy="713994"/>
            </a:xfrm>
            <a:custGeom>
              <a:avLst/>
              <a:gdLst/>
              <a:ahLst/>
              <a:cxnLst/>
              <a:rect r="r" b="b" t="t" l="l"/>
              <a:pathLst>
                <a:path h="713994" w="1756410">
                  <a:moveTo>
                    <a:pt x="0" y="150368"/>
                  </a:moveTo>
                  <a:cubicBezTo>
                    <a:pt x="0" y="67310"/>
                    <a:pt x="67310" y="0"/>
                    <a:pt x="150368" y="0"/>
                  </a:cubicBezTo>
                  <a:lnTo>
                    <a:pt x="1606042" y="0"/>
                  </a:lnTo>
                  <a:cubicBezTo>
                    <a:pt x="1689100" y="0"/>
                    <a:pt x="1756410" y="67310"/>
                    <a:pt x="1756410" y="150368"/>
                  </a:cubicBezTo>
                  <a:lnTo>
                    <a:pt x="1756410" y="563626"/>
                  </a:lnTo>
                  <a:cubicBezTo>
                    <a:pt x="1756410" y="646684"/>
                    <a:pt x="1689100" y="713994"/>
                    <a:pt x="1606042" y="713994"/>
                  </a:cubicBezTo>
                  <a:lnTo>
                    <a:pt x="150368" y="713994"/>
                  </a:lnTo>
                  <a:cubicBezTo>
                    <a:pt x="67310" y="713994"/>
                    <a:pt x="0" y="646684"/>
                    <a:pt x="0" y="563626"/>
                  </a:cubicBezTo>
                  <a:close/>
                </a:path>
              </a:pathLst>
            </a:custGeom>
            <a:solidFill>
              <a:srgbClr val="F6F8F6"/>
            </a:solidFill>
            <a:ln w="14288" cap="sq">
              <a:solidFill>
                <a:srgbClr val="D6DCD7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1756410" cy="7235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59"/>
                </a:lnSpc>
              </a:pPr>
              <a:r>
                <a:rPr lang="en-US" sz="2049">
                  <a:solidFill>
                    <a:srgbClr val="2A3330"/>
                  </a:solidFill>
                  <a:latin typeface="Arial"/>
                  <a:ea typeface="Arial"/>
                  <a:cs typeface="Arial"/>
                  <a:sym typeface="Arial"/>
                </a:rPr>
                <a:t>Inventory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971720" y="4358199"/>
            <a:ext cx="2123215" cy="820393"/>
            <a:chOff x="0" y="0"/>
            <a:chExt cx="1847850" cy="71399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847850" cy="713994"/>
            </a:xfrm>
            <a:custGeom>
              <a:avLst/>
              <a:gdLst/>
              <a:ahLst/>
              <a:cxnLst/>
              <a:rect r="r" b="b" t="t" l="l"/>
              <a:pathLst>
                <a:path h="713994" w="1847850">
                  <a:moveTo>
                    <a:pt x="0" y="150368"/>
                  </a:moveTo>
                  <a:cubicBezTo>
                    <a:pt x="0" y="67310"/>
                    <a:pt x="67310" y="0"/>
                    <a:pt x="150368" y="0"/>
                  </a:cubicBezTo>
                  <a:lnTo>
                    <a:pt x="1697482" y="0"/>
                  </a:lnTo>
                  <a:cubicBezTo>
                    <a:pt x="1780540" y="0"/>
                    <a:pt x="1847850" y="67310"/>
                    <a:pt x="1847850" y="150368"/>
                  </a:cubicBezTo>
                  <a:lnTo>
                    <a:pt x="1847850" y="563626"/>
                  </a:lnTo>
                  <a:cubicBezTo>
                    <a:pt x="1847850" y="646684"/>
                    <a:pt x="1780540" y="713994"/>
                    <a:pt x="1697482" y="713994"/>
                  </a:cubicBezTo>
                  <a:lnTo>
                    <a:pt x="150368" y="713994"/>
                  </a:lnTo>
                  <a:cubicBezTo>
                    <a:pt x="67310" y="713994"/>
                    <a:pt x="0" y="646684"/>
                    <a:pt x="0" y="563626"/>
                  </a:cubicBezTo>
                  <a:close/>
                </a:path>
              </a:pathLst>
            </a:custGeom>
            <a:solidFill>
              <a:srgbClr val="F6F8F6"/>
            </a:solidFill>
            <a:ln w="14288" cap="sq">
              <a:solidFill>
                <a:srgbClr val="D6DCD7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1847850" cy="7235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59"/>
                </a:lnSpc>
              </a:pPr>
              <a:r>
                <a:rPr lang="en-US" sz="2049">
                  <a:solidFill>
                    <a:srgbClr val="2A3330"/>
                  </a:solidFill>
                  <a:latin typeface="Arial"/>
                  <a:ea typeface="Arial"/>
                  <a:cs typeface="Arial"/>
                  <a:sym typeface="Arial"/>
                </a:rPr>
                <a:t>Cash Flow</a:t>
              </a:r>
            </a:p>
          </p:txBody>
        </p:sp>
      </p:grpSp>
      <p:sp>
        <p:nvSpPr>
          <p:cNvPr name="AutoShape 33" id="33"/>
          <p:cNvSpPr/>
          <p:nvPr/>
        </p:nvSpPr>
        <p:spPr>
          <a:xfrm flipH="true">
            <a:off x="12930131" y="5435275"/>
            <a:ext cx="0" cy="641488"/>
          </a:xfrm>
          <a:prstGeom prst="line">
            <a:avLst/>
          </a:prstGeom>
          <a:ln cap="rnd" w="38100">
            <a:solidFill>
              <a:srgbClr val="1F6B4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4" id="34"/>
          <p:cNvGrpSpPr/>
          <p:nvPr/>
        </p:nvGrpSpPr>
        <p:grpSpPr>
          <a:xfrm rot="0">
            <a:off x="10607728" y="6291419"/>
            <a:ext cx="4644806" cy="1072552"/>
            <a:chOff x="0" y="0"/>
            <a:chExt cx="4042410" cy="93345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042410" cy="933450"/>
            </a:xfrm>
            <a:custGeom>
              <a:avLst/>
              <a:gdLst/>
              <a:ahLst/>
              <a:cxnLst/>
              <a:rect r="r" b="b" t="t" l="l"/>
              <a:pathLst>
                <a:path h="933450" w="4042410">
                  <a:moveTo>
                    <a:pt x="0" y="149352"/>
                  </a:moveTo>
                  <a:cubicBezTo>
                    <a:pt x="0" y="66929"/>
                    <a:pt x="66929" y="0"/>
                    <a:pt x="149352" y="0"/>
                  </a:cubicBezTo>
                  <a:lnTo>
                    <a:pt x="3893058" y="0"/>
                  </a:lnTo>
                  <a:cubicBezTo>
                    <a:pt x="3975481" y="0"/>
                    <a:pt x="4042410" y="66929"/>
                    <a:pt x="4042410" y="149352"/>
                  </a:cubicBezTo>
                  <a:lnTo>
                    <a:pt x="4042410" y="784098"/>
                  </a:lnTo>
                  <a:cubicBezTo>
                    <a:pt x="4042410" y="866521"/>
                    <a:pt x="3975481" y="933450"/>
                    <a:pt x="3893058" y="933450"/>
                  </a:cubicBezTo>
                  <a:lnTo>
                    <a:pt x="149352" y="933450"/>
                  </a:lnTo>
                  <a:cubicBezTo>
                    <a:pt x="66929" y="933450"/>
                    <a:pt x="0" y="866521"/>
                    <a:pt x="0" y="784098"/>
                  </a:cubicBezTo>
                  <a:close/>
                </a:path>
              </a:pathLst>
            </a:custGeom>
            <a:solidFill>
              <a:srgbClr val="ECF2EE"/>
            </a:solidFill>
            <a:ln w="14288" cap="sq">
              <a:solidFill>
                <a:srgbClr val="D6DCD7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4042410" cy="952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79"/>
                </a:lnSpc>
              </a:pPr>
              <a:r>
                <a:rPr lang="en-US" sz="2649" b="true">
                  <a:solidFill>
                    <a:srgbClr val="161C1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SPREADSHEETS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8941579" y="8471997"/>
            <a:ext cx="7977105" cy="1165860"/>
            <a:chOff x="0" y="0"/>
            <a:chExt cx="10636139" cy="15544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636139" cy="1554480"/>
            </a:xfrm>
            <a:custGeom>
              <a:avLst/>
              <a:gdLst/>
              <a:ahLst/>
              <a:cxnLst/>
              <a:rect r="r" b="b" t="t" l="l"/>
              <a:pathLst>
                <a:path h="1554480" w="10636139">
                  <a:moveTo>
                    <a:pt x="0" y="0"/>
                  </a:moveTo>
                  <a:lnTo>
                    <a:pt x="10636139" y="0"/>
                  </a:lnTo>
                  <a:lnTo>
                    <a:pt x="10636139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279" r="27784" b="-46279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10636139" cy="1592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97"/>
                </a:lnSpc>
              </a:pPr>
              <a:r>
                <a:rPr lang="en-US" sz="2100">
                  <a:solidFill>
                    <a:srgbClr val="4E5955"/>
                  </a:solidFill>
                  <a:latin typeface="Arial"/>
                  <a:ea typeface="Arial"/>
                  <a:cs typeface="Arial"/>
                  <a:sym typeface="Arial"/>
                </a:rPr>
                <a:t>Business owners can see what happened.</a:t>
              </a:r>
            </a:p>
            <a:p>
              <a:pPr algn="ctr">
                <a:lnSpc>
                  <a:spcPts val="2897"/>
                </a:lnSpc>
              </a:pPr>
              <a:r>
                <a:rPr lang="en-US" sz="2100">
                  <a:solidFill>
                    <a:srgbClr val="4E5955"/>
                  </a:solidFill>
                  <a:latin typeface="Arial"/>
                  <a:ea typeface="Arial"/>
                  <a:cs typeface="Arial"/>
                  <a:sym typeface="Arial"/>
                </a:rPr>
                <a:t>They struggle to understand what happens next.</a:t>
              </a:r>
            </a:p>
          </p:txBody>
        </p:sp>
      </p:grpSp>
      <p:sp>
        <p:nvSpPr>
          <p:cNvPr name="AutoShape 40" id="40"/>
          <p:cNvSpPr/>
          <p:nvPr/>
        </p:nvSpPr>
        <p:spPr>
          <a:xfrm flipH="true">
            <a:off x="12915539" y="7582859"/>
            <a:ext cx="0" cy="641488"/>
          </a:xfrm>
          <a:prstGeom prst="line">
            <a:avLst/>
          </a:prstGeom>
          <a:ln cap="rnd" w="38100">
            <a:solidFill>
              <a:srgbClr val="1F6B4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41" id="41"/>
          <p:cNvSpPr/>
          <p:nvPr/>
        </p:nvSpPr>
        <p:spPr>
          <a:xfrm flipH="false" flipV="false" rot="0">
            <a:off x="16745946" y="515346"/>
            <a:ext cx="1026707" cy="1026707"/>
          </a:xfrm>
          <a:custGeom>
            <a:avLst/>
            <a:gdLst/>
            <a:ahLst/>
            <a:cxnLst/>
            <a:rect r="r" b="b" t="t" l="l"/>
            <a:pathLst>
              <a:path h="1026707" w="1026707">
                <a:moveTo>
                  <a:pt x="0" y="0"/>
                </a:moveTo>
                <a:lnTo>
                  <a:pt x="1026708" y="0"/>
                </a:lnTo>
                <a:lnTo>
                  <a:pt x="1026708" y="1026708"/>
                </a:lnTo>
                <a:lnTo>
                  <a:pt x="0" y="10267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822960"/>
            <a:ext cx="18287543" cy="521208"/>
            <a:chOff x="0" y="0"/>
            <a:chExt cx="24383390" cy="6949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91" cy="694944"/>
            </a:xfrm>
            <a:custGeom>
              <a:avLst/>
              <a:gdLst/>
              <a:ahLst/>
              <a:cxnLst/>
              <a:rect r="r" b="b" t="t" l="l"/>
              <a:pathLst>
                <a:path h="694944" w="24383391">
                  <a:moveTo>
                    <a:pt x="0" y="0"/>
                  </a:moveTo>
                  <a:lnTo>
                    <a:pt x="24383391" y="0"/>
                  </a:lnTo>
                  <a:lnTo>
                    <a:pt x="24383391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7615" r="0" b="-6297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4383390" cy="713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 spc="299">
                  <a:solidFill>
                    <a:srgbClr val="1F6B4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 OPPORTUNITY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057400" y="1315593"/>
            <a:ext cx="14172743" cy="1537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 b="true">
                <a:solidFill>
                  <a:srgbClr val="161C19"/>
                </a:solidFill>
                <a:latin typeface="Arial Bold"/>
                <a:ea typeface="Arial Bold"/>
                <a:cs typeface="Arial Bold"/>
                <a:sym typeface="Arial Bold"/>
              </a:rPr>
              <a:t>What if every small business had its own data analyst?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53628" y="3088181"/>
            <a:ext cx="5380162" cy="2190128"/>
            <a:chOff x="0" y="0"/>
            <a:chExt cx="6785610" cy="27622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785610" cy="2762250"/>
            </a:xfrm>
            <a:custGeom>
              <a:avLst/>
              <a:gdLst/>
              <a:ahLst/>
              <a:cxnLst/>
              <a:rect r="r" b="b" t="t" l="l"/>
              <a:pathLst>
                <a:path h="2762250" w="6785610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6601460" y="0"/>
                  </a:lnTo>
                  <a:cubicBezTo>
                    <a:pt x="6703187" y="0"/>
                    <a:pt x="6785610" y="82423"/>
                    <a:pt x="6785610" y="184150"/>
                  </a:cubicBezTo>
                  <a:lnTo>
                    <a:pt x="6785610" y="2578100"/>
                  </a:lnTo>
                  <a:cubicBezTo>
                    <a:pt x="6785610" y="2679827"/>
                    <a:pt x="6703187" y="2762250"/>
                    <a:pt x="6601460" y="2762250"/>
                  </a:cubicBezTo>
                  <a:lnTo>
                    <a:pt x="184150" y="2762250"/>
                  </a:lnTo>
                  <a:cubicBezTo>
                    <a:pt x="82423" y="2762250"/>
                    <a:pt x="0" y="2679827"/>
                    <a:pt x="0" y="2578100"/>
                  </a:cubicBezTo>
                  <a:close/>
                </a:path>
              </a:pathLst>
            </a:custGeom>
            <a:solidFill>
              <a:srgbClr val="F6F8F6"/>
            </a:solidFill>
            <a:ln w="14288" cap="sq">
              <a:solidFill>
                <a:srgbClr val="D6DCD7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096185" y="3458237"/>
            <a:ext cx="1450016" cy="435005"/>
            <a:chOff x="0" y="0"/>
            <a:chExt cx="1828800" cy="548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28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8288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F6B4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01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96185" y="3965743"/>
            <a:ext cx="4495048" cy="507505"/>
            <a:chOff x="0" y="0"/>
            <a:chExt cx="5669280" cy="6400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669280" cy="640080"/>
            </a:xfrm>
            <a:custGeom>
              <a:avLst/>
              <a:gdLst/>
              <a:ahLst/>
              <a:cxnLst/>
              <a:rect r="r" b="b" t="t" l="l"/>
              <a:pathLst>
                <a:path h="64008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581" r="0" b="-12258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566928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161C1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UNDERSTAND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96185" y="4516749"/>
            <a:ext cx="4495048" cy="435005"/>
            <a:chOff x="0" y="0"/>
            <a:chExt cx="5669280" cy="548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69280" cy="548640"/>
            </a:xfrm>
            <a:custGeom>
              <a:avLst/>
              <a:gdLst/>
              <a:ahLst/>
              <a:cxnLst/>
              <a:rect r="r" b="b" t="t" l="l"/>
              <a:pathLst>
                <a:path h="54864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345" r="0" b="-15134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566928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4E5955"/>
                  </a:solidFill>
                  <a:latin typeface="Arial"/>
                  <a:ea typeface="Arial"/>
                  <a:cs typeface="Arial"/>
                  <a:sym typeface="Arial"/>
                </a:rPr>
                <a:t>What changed?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453690" y="3088181"/>
            <a:ext cx="5380162" cy="2190128"/>
            <a:chOff x="0" y="0"/>
            <a:chExt cx="6785610" cy="27622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785610" cy="2762250"/>
            </a:xfrm>
            <a:custGeom>
              <a:avLst/>
              <a:gdLst/>
              <a:ahLst/>
              <a:cxnLst/>
              <a:rect r="r" b="b" t="t" l="l"/>
              <a:pathLst>
                <a:path h="2762250" w="6785610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6601460" y="0"/>
                  </a:lnTo>
                  <a:cubicBezTo>
                    <a:pt x="6703187" y="0"/>
                    <a:pt x="6785610" y="82423"/>
                    <a:pt x="6785610" y="184150"/>
                  </a:cubicBezTo>
                  <a:lnTo>
                    <a:pt x="6785610" y="2578100"/>
                  </a:lnTo>
                  <a:cubicBezTo>
                    <a:pt x="6785610" y="2679827"/>
                    <a:pt x="6703187" y="2762250"/>
                    <a:pt x="6601460" y="2762250"/>
                  </a:cubicBezTo>
                  <a:lnTo>
                    <a:pt x="184150" y="2762250"/>
                  </a:lnTo>
                  <a:cubicBezTo>
                    <a:pt x="82423" y="2762250"/>
                    <a:pt x="0" y="2679827"/>
                    <a:pt x="0" y="2578100"/>
                  </a:cubicBezTo>
                  <a:close/>
                </a:path>
              </a:pathLst>
            </a:custGeom>
            <a:solidFill>
              <a:srgbClr val="F6F8F6"/>
            </a:solidFill>
            <a:ln w="14288" cap="sq">
              <a:solidFill>
                <a:srgbClr val="D6DCD7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6896247" y="3458237"/>
            <a:ext cx="1450016" cy="435005"/>
            <a:chOff x="0" y="0"/>
            <a:chExt cx="1828800" cy="548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828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8288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F6B4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02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896247" y="3965743"/>
            <a:ext cx="4495048" cy="507505"/>
            <a:chOff x="0" y="0"/>
            <a:chExt cx="5669280" cy="6400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669280" cy="640080"/>
            </a:xfrm>
            <a:custGeom>
              <a:avLst/>
              <a:gdLst/>
              <a:ahLst/>
              <a:cxnLst/>
              <a:rect r="r" b="b" t="t" l="l"/>
              <a:pathLst>
                <a:path h="64008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581" r="0" b="-122581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566928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161C1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PREDICT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896247" y="4516749"/>
            <a:ext cx="4495048" cy="435005"/>
            <a:chOff x="0" y="0"/>
            <a:chExt cx="5669280" cy="5486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669280" cy="548640"/>
            </a:xfrm>
            <a:custGeom>
              <a:avLst/>
              <a:gdLst/>
              <a:ahLst/>
              <a:cxnLst/>
              <a:rect r="r" b="b" t="t" l="l"/>
              <a:pathLst>
                <a:path h="54864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345" r="0" b="-151345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566928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4E5955"/>
                  </a:solidFill>
                  <a:latin typeface="Arial"/>
                  <a:ea typeface="Arial"/>
                  <a:cs typeface="Arial"/>
                  <a:sym typeface="Arial"/>
                </a:rPr>
                <a:t>What is likely to happen next?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253753" y="3088181"/>
            <a:ext cx="5380162" cy="2190128"/>
            <a:chOff x="0" y="0"/>
            <a:chExt cx="6785610" cy="27622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785610" cy="2762250"/>
            </a:xfrm>
            <a:custGeom>
              <a:avLst/>
              <a:gdLst/>
              <a:ahLst/>
              <a:cxnLst/>
              <a:rect r="r" b="b" t="t" l="l"/>
              <a:pathLst>
                <a:path h="2762250" w="6785610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6601460" y="0"/>
                  </a:lnTo>
                  <a:cubicBezTo>
                    <a:pt x="6703187" y="0"/>
                    <a:pt x="6785610" y="82423"/>
                    <a:pt x="6785610" y="184150"/>
                  </a:cubicBezTo>
                  <a:lnTo>
                    <a:pt x="6785610" y="2578100"/>
                  </a:lnTo>
                  <a:cubicBezTo>
                    <a:pt x="6785610" y="2679827"/>
                    <a:pt x="6703187" y="2762250"/>
                    <a:pt x="6601460" y="2762250"/>
                  </a:cubicBezTo>
                  <a:lnTo>
                    <a:pt x="184150" y="2762250"/>
                  </a:lnTo>
                  <a:cubicBezTo>
                    <a:pt x="82423" y="2762250"/>
                    <a:pt x="0" y="2679827"/>
                    <a:pt x="0" y="2578100"/>
                  </a:cubicBezTo>
                  <a:close/>
                </a:path>
              </a:pathLst>
            </a:custGeom>
            <a:solidFill>
              <a:srgbClr val="F6F8F6"/>
            </a:solidFill>
            <a:ln w="14288" cap="sq">
              <a:solidFill>
                <a:srgbClr val="D6DCD7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2696310" y="3458237"/>
            <a:ext cx="1450016" cy="435005"/>
            <a:chOff x="0" y="0"/>
            <a:chExt cx="1828800" cy="5486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828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50" r="0" b="-1495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18288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1F6B4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696310" y="3965743"/>
            <a:ext cx="4495048" cy="507505"/>
            <a:chOff x="0" y="0"/>
            <a:chExt cx="5669280" cy="6400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669280" cy="640080"/>
            </a:xfrm>
            <a:custGeom>
              <a:avLst/>
              <a:gdLst/>
              <a:ahLst/>
              <a:cxnLst/>
              <a:rect r="r" b="b" t="t" l="l"/>
              <a:pathLst>
                <a:path h="64008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581" r="0" b="-12258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566928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161C1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GROW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696310" y="4516749"/>
            <a:ext cx="4495048" cy="435005"/>
            <a:chOff x="0" y="0"/>
            <a:chExt cx="5669280" cy="5486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669280" cy="548640"/>
            </a:xfrm>
            <a:custGeom>
              <a:avLst/>
              <a:gdLst/>
              <a:ahLst/>
              <a:cxnLst/>
              <a:rect r="r" b="b" t="t" l="l"/>
              <a:pathLst>
                <a:path h="54864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345" r="0" b="-151345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566928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4E5955"/>
                  </a:solidFill>
                  <a:latin typeface="Arial"/>
                  <a:ea typeface="Arial"/>
                  <a:cs typeface="Arial"/>
                  <a:sym typeface="Arial"/>
                </a:rPr>
                <a:t>Where is the next opportunity?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4035081" y="5525664"/>
            <a:ext cx="2588150" cy="2588150"/>
            <a:chOff x="0" y="0"/>
            <a:chExt cx="2670810" cy="267081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670810" cy="2670810"/>
            </a:xfrm>
            <a:custGeom>
              <a:avLst/>
              <a:gdLst/>
              <a:ahLst/>
              <a:cxnLst/>
              <a:rect r="r" b="b" t="t" l="l"/>
              <a:pathLst>
                <a:path h="2670810" w="2670810">
                  <a:moveTo>
                    <a:pt x="0" y="1335405"/>
                  </a:moveTo>
                  <a:cubicBezTo>
                    <a:pt x="0" y="597916"/>
                    <a:pt x="597916" y="0"/>
                    <a:pt x="1335405" y="0"/>
                  </a:cubicBezTo>
                  <a:cubicBezTo>
                    <a:pt x="2072894" y="0"/>
                    <a:pt x="2670810" y="597916"/>
                    <a:pt x="2670810" y="1335405"/>
                  </a:cubicBezTo>
                  <a:cubicBezTo>
                    <a:pt x="2670810" y="2072894"/>
                    <a:pt x="2072894" y="2670810"/>
                    <a:pt x="1335405" y="2670810"/>
                  </a:cubicBezTo>
                  <a:cubicBezTo>
                    <a:pt x="597916" y="2670810"/>
                    <a:pt x="0" y="2072894"/>
                    <a:pt x="0" y="1335405"/>
                  </a:cubicBezTo>
                  <a:close/>
                </a:path>
              </a:pathLst>
            </a:custGeom>
            <a:solidFill>
              <a:srgbClr val="F6F8F6"/>
            </a:solidFill>
            <a:ln w="14288" cap="sq">
              <a:solidFill>
                <a:srgbClr val="2E8A67"/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2670810" cy="26803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9"/>
                </a:lnSpc>
              </a:pPr>
              <a:r>
                <a:rPr lang="en-US" sz="2224" b="true">
                  <a:solidFill>
                    <a:srgbClr val="161C1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DATA</a:t>
              </a:r>
            </a:p>
          </p:txBody>
        </p:sp>
      </p:grpSp>
      <p:sp>
        <p:nvSpPr>
          <p:cNvPr name="AutoShape 42" id="42"/>
          <p:cNvSpPr/>
          <p:nvPr/>
        </p:nvSpPr>
        <p:spPr>
          <a:xfrm>
            <a:off x="6946104" y="6819739"/>
            <a:ext cx="576346" cy="0"/>
          </a:xfrm>
          <a:prstGeom prst="line">
            <a:avLst/>
          </a:prstGeom>
          <a:ln cap="rnd" w="19050">
            <a:solidFill>
              <a:srgbClr val="1F6B4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43" id="43"/>
          <p:cNvGrpSpPr/>
          <p:nvPr/>
        </p:nvGrpSpPr>
        <p:grpSpPr>
          <a:xfrm rot="0">
            <a:off x="7845310" y="5525664"/>
            <a:ext cx="2588150" cy="2588150"/>
            <a:chOff x="0" y="0"/>
            <a:chExt cx="2670810" cy="267081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670810" cy="2670810"/>
            </a:xfrm>
            <a:custGeom>
              <a:avLst/>
              <a:gdLst/>
              <a:ahLst/>
              <a:cxnLst/>
              <a:rect r="r" b="b" t="t" l="l"/>
              <a:pathLst>
                <a:path h="2670810" w="2670810">
                  <a:moveTo>
                    <a:pt x="0" y="1335405"/>
                  </a:moveTo>
                  <a:cubicBezTo>
                    <a:pt x="0" y="597916"/>
                    <a:pt x="597916" y="0"/>
                    <a:pt x="1335405" y="0"/>
                  </a:cubicBezTo>
                  <a:cubicBezTo>
                    <a:pt x="2072894" y="0"/>
                    <a:pt x="2670810" y="597916"/>
                    <a:pt x="2670810" y="1335405"/>
                  </a:cubicBezTo>
                  <a:cubicBezTo>
                    <a:pt x="2670810" y="2072894"/>
                    <a:pt x="2072894" y="2670810"/>
                    <a:pt x="1335405" y="2670810"/>
                  </a:cubicBezTo>
                  <a:cubicBezTo>
                    <a:pt x="597916" y="2670810"/>
                    <a:pt x="0" y="2072894"/>
                    <a:pt x="0" y="1335405"/>
                  </a:cubicBezTo>
                  <a:close/>
                </a:path>
              </a:pathLst>
            </a:custGeom>
            <a:solidFill>
              <a:srgbClr val="F6F8F6"/>
            </a:solidFill>
            <a:ln w="14288" cap="sq">
              <a:solidFill>
                <a:srgbClr val="2E8A67"/>
              </a:solidFill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2670810" cy="26803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9"/>
                </a:lnSpc>
              </a:pPr>
              <a:r>
                <a:rPr lang="en-US" sz="2224" b="true">
                  <a:solidFill>
                    <a:srgbClr val="161C1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INTELLIGENCE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1646309" y="5516434"/>
            <a:ext cx="2606610" cy="2606610"/>
            <a:chOff x="0" y="0"/>
            <a:chExt cx="2689860" cy="268986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689860" cy="2689860"/>
            </a:xfrm>
            <a:custGeom>
              <a:avLst/>
              <a:gdLst/>
              <a:ahLst/>
              <a:cxnLst/>
              <a:rect r="r" b="b" t="t" l="l"/>
              <a:pathLst>
                <a:path h="2689860" w="2689860">
                  <a:moveTo>
                    <a:pt x="0" y="1344930"/>
                  </a:moveTo>
                  <a:cubicBezTo>
                    <a:pt x="0" y="602107"/>
                    <a:pt x="602107" y="0"/>
                    <a:pt x="1344930" y="0"/>
                  </a:cubicBezTo>
                  <a:cubicBezTo>
                    <a:pt x="2087753" y="0"/>
                    <a:pt x="2689860" y="602107"/>
                    <a:pt x="2689860" y="1344930"/>
                  </a:cubicBezTo>
                  <a:cubicBezTo>
                    <a:pt x="2689860" y="2087753"/>
                    <a:pt x="2087753" y="2689860"/>
                    <a:pt x="1344930" y="2689860"/>
                  </a:cubicBezTo>
                  <a:cubicBezTo>
                    <a:pt x="602107" y="2689860"/>
                    <a:pt x="0" y="2087753"/>
                    <a:pt x="0" y="1344930"/>
                  </a:cubicBezTo>
                  <a:close/>
                </a:path>
              </a:pathLst>
            </a:custGeom>
            <a:solidFill>
              <a:srgbClr val="E1EEE7"/>
            </a:solidFill>
            <a:ln w="28575" cap="sq">
              <a:solidFill>
                <a:srgbClr val="1F6B4F"/>
              </a:solidFill>
              <a:prstDash val="solid"/>
              <a:miter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2689860" cy="26993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89"/>
                </a:lnSpc>
              </a:pPr>
              <a:r>
                <a:rPr lang="en-US" sz="2324" b="true">
                  <a:solidFill>
                    <a:srgbClr val="161C1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GROWTH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3102281" y="8243289"/>
            <a:ext cx="12082980" cy="1015011"/>
            <a:chOff x="0" y="0"/>
            <a:chExt cx="15239390" cy="128016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5239391" cy="1280160"/>
            </a:xfrm>
            <a:custGeom>
              <a:avLst/>
              <a:gdLst/>
              <a:ahLst/>
              <a:cxnLst/>
              <a:rect r="r" b="b" t="t" l="l"/>
              <a:pathLst>
                <a:path h="1280160" w="15239391">
                  <a:moveTo>
                    <a:pt x="0" y="0"/>
                  </a:moveTo>
                  <a:lnTo>
                    <a:pt x="15239391" y="0"/>
                  </a:lnTo>
                  <a:lnTo>
                    <a:pt x="15239391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55" r="0" b="-181955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1523939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2A333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Ascend turns historical business data into forward-looking growth intelligence.</a:t>
              </a:r>
            </a:p>
          </p:txBody>
        </p:sp>
      </p:grpSp>
      <p:sp>
        <p:nvSpPr>
          <p:cNvPr name="AutoShape 52" id="52"/>
          <p:cNvSpPr/>
          <p:nvPr/>
        </p:nvSpPr>
        <p:spPr>
          <a:xfrm>
            <a:off x="10753440" y="6832046"/>
            <a:ext cx="576346" cy="0"/>
          </a:xfrm>
          <a:prstGeom prst="line">
            <a:avLst/>
          </a:prstGeom>
          <a:ln cap="rnd" w="19050">
            <a:solidFill>
              <a:srgbClr val="1F6B4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53" id="53"/>
          <p:cNvSpPr/>
          <p:nvPr/>
        </p:nvSpPr>
        <p:spPr>
          <a:xfrm flipH="false" flipV="false" rot="0">
            <a:off x="16745946" y="515346"/>
            <a:ext cx="1026707" cy="1026707"/>
          </a:xfrm>
          <a:custGeom>
            <a:avLst/>
            <a:gdLst/>
            <a:ahLst/>
            <a:cxnLst/>
            <a:rect r="r" b="b" t="t" l="l"/>
            <a:pathLst>
              <a:path h="1026707" w="1026707">
                <a:moveTo>
                  <a:pt x="0" y="0"/>
                </a:moveTo>
                <a:lnTo>
                  <a:pt x="1026708" y="0"/>
                </a:lnTo>
                <a:lnTo>
                  <a:pt x="1026708" y="1026708"/>
                </a:lnTo>
                <a:lnTo>
                  <a:pt x="0" y="10267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754380"/>
            <a:ext cx="6858000" cy="480060"/>
            <a:chOff x="0" y="0"/>
            <a:chExt cx="91440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0" cy="640080"/>
            </a:xfrm>
            <a:custGeom>
              <a:avLst/>
              <a:gdLst/>
              <a:ahLst/>
              <a:cxnLst/>
              <a:rect r="r" b="b" t="t" l="l"/>
              <a:pathLst>
                <a:path h="64008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91440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1F6B4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WHAT WE ARE BUILDING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60120" y="1137285"/>
            <a:ext cx="8229600" cy="8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161C19"/>
                </a:solidFill>
                <a:latin typeface="Arial Bold"/>
                <a:ea typeface="Arial Bold"/>
                <a:cs typeface="Arial Bold"/>
                <a:sym typeface="Arial Bold"/>
              </a:rPr>
              <a:t>Meet Ascend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240054" y="2937034"/>
            <a:ext cx="2218372" cy="709612"/>
            <a:chOff x="0" y="0"/>
            <a:chExt cx="2957830" cy="9461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57830" cy="946150"/>
            </a:xfrm>
            <a:custGeom>
              <a:avLst/>
              <a:gdLst/>
              <a:ahLst/>
              <a:cxnLst/>
              <a:rect r="r" b="b" t="t" l="l"/>
              <a:pathLst>
                <a:path h="946150" w="2957830">
                  <a:moveTo>
                    <a:pt x="0" y="151384"/>
                  </a:moveTo>
                  <a:cubicBezTo>
                    <a:pt x="0" y="67818"/>
                    <a:pt x="67818" y="0"/>
                    <a:pt x="151384" y="0"/>
                  </a:cubicBezTo>
                  <a:lnTo>
                    <a:pt x="2806446" y="0"/>
                  </a:lnTo>
                  <a:cubicBezTo>
                    <a:pt x="2890012" y="0"/>
                    <a:pt x="2957830" y="67818"/>
                    <a:pt x="2957830" y="151384"/>
                  </a:cubicBezTo>
                  <a:lnTo>
                    <a:pt x="2957830" y="794766"/>
                  </a:lnTo>
                  <a:cubicBezTo>
                    <a:pt x="2957830" y="878332"/>
                    <a:pt x="2890012" y="946150"/>
                    <a:pt x="2806446" y="946150"/>
                  </a:cubicBezTo>
                  <a:lnTo>
                    <a:pt x="151384" y="946150"/>
                  </a:lnTo>
                  <a:cubicBezTo>
                    <a:pt x="67818" y="946150"/>
                    <a:pt x="0" y="878332"/>
                    <a:pt x="0" y="794766"/>
                  </a:cubicBezTo>
                  <a:close/>
                </a:path>
              </a:pathLst>
            </a:custGeom>
            <a:solidFill>
              <a:srgbClr val="E1EEE7"/>
            </a:solidFill>
            <a:ln w="23812" cap="sq">
              <a:solidFill>
                <a:srgbClr val="1F6B4F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957830" cy="955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61C1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ASCEND</a:t>
              </a:r>
            </a:p>
          </p:txBody>
        </p:sp>
      </p:grpSp>
      <p:sp>
        <p:nvSpPr>
          <p:cNvPr name="AutoShape 9" id="9"/>
          <p:cNvSpPr/>
          <p:nvPr/>
        </p:nvSpPr>
        <p:spPr>
          <a:xfrm>
            <a:off x="5349240" y="3713416"/>
            <a:ext cx="0" cy="418719"/>
          </a:xfrm>
          <a:prstGeom prst="line">
            <a:avLst/>
          </a:prstGeom>
          <a:ln cap="rnd" w="19050">
            <a:solidFill>
              <a:srgbClr val="1F6B4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0" id="10"/>
          <p:cNvGrpSpPr/>
          <p:nvPr/>
        </p:nvGrpSpPr>
        <p:grpSpPr>
          <a:xfrm rot="0">
            <a:off x="2393156" y="4217384"/>
            <a:ext cx="1728788" cy="864680"/>
            <a:chOff x="0" y="0"/>
            <a:chExt cx="2305050" cy="115290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05050" cy="1152906"/>
            </a:xfrm>
            <a:custGeom>
              <a:avLst/>
              <a:gdLst/>
              <a:ahLst/>
              <a:cxnLst/>
              <a:rect r="r" b="b" t="t" l="l"/>
              <a:pathLst>
                <a:path h="1152906" w="2305050">
                  <a:moveTo>
                    <a:pt x="0" y="148717"/>
                  </a:moveTo>
                  <a:cubicBezTo>
                    <a:pt x="0" y="66548"/>
                    <a:pt x="66548" y="0"/>
                    <a:pt x="148717" y="0"/>
                  </a:cubicBezTo>
                  <a:lnTo>
                    <a:pt x="2156333" y="0"/>
                  </a:lnTo>
                  <a:cubicBezTo>
                    <a:pt x="2238502" y="0"/>
                    <a:pt x="2305050" y="66548"/>
                    <a:pt x="2305050" y="148717"/>
                  </a:cubicBezTo>
                  <a:lnTo>
                    <a:pt x="2305050" y="1004189"/>
                  </a:lnTo>
                  <a:cubicBezTo>
                    <a:pt x="2305050" y="1086358"/>
                    <a:pt x="2238502" y="1152906"/>
                    <a:pt x="2156333" y="1152906"/>
                  </a:cubicBezTo>
                  <a:lnTo>
                    <a:pt x="148717" y="1152906"/>
                  </a:lnTo>
                  <a:cubicBezTo>
                    <a:pt x="66548" y="1152906"/>
                    <a:pt x="0" y="1086358"/>
                    <a:pt x="0" y="1004189"/>
                  </a:cubicBezTo>
                  <a:close/>
                </a:path>
              </a:pathLst>
            </a:custGeom>
            <a:solidFill>
              <a:srgbClr val="F6F8F6"/>
            </a:solidFill>
            <a:ln w="14288" cap="sq">
              <a:solidFill>
                <a:srgbClr val="D6DCD7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2305050" cy="11719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61C1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FINANCIAL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61C1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DATA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313396" y="4217384"/>
            <a:ext cx="2071688" cy="864680"/>
            <a:chOff x="0" y="0"/>
            <a:chExt cx="2762250" cy="115290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762250" cy="1152906"/>
            </a:xfrm>
            <a:custGeom>
              <a:avLst/>
              <a:gdLst/>
              <a:ahLst/>
              <a:cxnLst/>
              <a:rect r="r" b="b" t="t" l="l"/>
              <a:pathLst>
                <a:path h="1152906" w="2762250">
                  <a:moveTo>
                    <a:pt x="0" y="148717"/>
                  </a:moveTo>
                  <a:cubicBezTo>
                    <a:pt x="0" y="66548"/>
                    <a:pt x="66548" y="0"/>
                    <a:pt x="148717" y="0"/>
                  </a:cubicBezTo>
                  <a:lnTo>
                    <a:pt x="2613533" y="0"/>
                  </a:lnTo>
                  <a:cubicBezTo>
                    <a:pt x="2695702" y="0"/>
                    <a:pt x="2762250" y="66548"/>
                    <a:pt x="2762250" y="148717"/>
                  </a:cubicBezTo>
                  <a:lnTo>
                    <a:pt x="2762250" y="1004189"/>
                  </a:lnTo>
                  <a:cubicBezTo>
                    <a:pt x="2762250" y="1086358"/>
                    <a:pt x="2695702" y="1152906"/>
                    <a:pt x="2613533" y="1152906"/>
                  </a:cubicBezTo>
                  <a:lnTo>
                    <a:pt x="148717" y="1152906"/>
                  </a:lnTo>
                  <a:cubicBezTo>
                    <a:pt x="66548" y="1152906"/>
                    <a:pt x="0" y="1086358"/>
                    <a:pt x="0" y="1004189"/>
                  </a:cubicBezTo>
                  <a:close/>
                </a:path>
              </a:pathLst>
            </a:custGeom>
            <a:solidFill>
              <a:srgbClr val="F6F8F6"/>
            </a:solidFill>
            <a:ln w="14288" cap="sq">
              <a:solidFill>
                <a:srgbClr val="D6DCD7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2762250" cy="11719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61C1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OPERATIONAL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61C1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DATA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576536" y="4217384"/>
            <a:ext cx="1728788" cy="864680"/>
            <a:chOff x="0" y="0"/>
            <a:chExt cx="2305050" cy="115290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305050" cy="1152906"/>
            </a:xfrm>
            <a:custGeom>
              <a:avLst/>
              <a:gdLst/>
              <a:ahLst/>
              <a:cxnLst/>
              <a:rect r="r" b="b" t="t" l="l"/>
              <a:pathLst>
                <a:path h="1152906" w="2305050">
                  <a:moveTo>
                    <a:pt x="0" y="148717"/>
                  </a:moveTo>
                  <a:cubicBezTo>
                    <a:pt x="0" y="66548"/>
                    <a:pt x="66548" y="0"/>
                    <a:pt x="148717" y="0"/>
                  </a:cubicBezTo>
                  <a:lnTo>
                    <a:pt x="2156333" y="0"/>
                  </a:lnTo>
                  <a:cubicBezTo>
                    <a:pt x="2238502" y="0"/>
                    <a:pt x="2305050" y="66548"/>
                    <a:pt x="2305050" y="148717"/>
                  </a:cubicBezTo>
                  <a:lnTo>
                    <a:pt x="2305050" y="1004189"/>
                  </a:lnTo>
                  <a:cubicBezTo>
                    <a:pt x="2305050" y="1086358"/>
                    <a:pt x="2238502" y="1152906"/>
                    <a:pt x="2156333" y="1152906"/>
                  </a:cubicBezTo>
                  <a:lnTo>
                    <a:pt x="148717" y="1152906"/>
                  </a:lnTo>
                  <a:cubicBezTo>
                    <a:pt x="66548" y="1152906"/>
                    <a:pt x="0" y="1086358"/>
                    <a:pt x="0" y="1004189"/>
                  </a:cubicBezTo>
                  <a:close/>
                </a:path>
              </a:pathLst>
            </a:custGeom>
            <a:solidFill>
              <a:srgbClr val="F6F8F6"/>
            </a:solidFill>
            <a:ln w="14288" cap="sq">
              <a:solidFill>
                <a:srgbClr val="D6DCD7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2305050" cy="11719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61C1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EXTERNAL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61C1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DATA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3485674" y="5639086"/>
            <a:ext cx="3727133" cy="709612"/>
            <a:chOff x="0" y="0"/>
            <a:chExt cx="4969510" cy="94615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969510" cy="946150"/>
            </a:xfrm>
            <a:custGeom>
              <a:avLst/>
              <a:gdLst/>
              <a:ahLst/>
              <a:cxnLst/>
              <a:rect r="r" b="b" t="t" l="l"/>
              <a:pathLst>
                <a:path h="946150" w="4969510">
                  <a:moveTo>
                    <a:pt x="0" y="151384"/>
                  </a:moveTo>
                  <a:cubicBezTo>
                    <a:pt x="0" y="67818"/>
                    <a:pt x="67818" y="0"/>
                    <a:pt x="151384" y="0"/>
                  </a:cubicBezTo>
                  <a:lnTo>
                    <a:pt x="4818126" y="0"/>
                  </a:lnTo>
                  <a:cubicBezTo>
                    <a:pt x="4901692" y="0"/>
                    <a:pt x="4969510" y="67818"/>
                    <a:pt x="4969510" y="151384"/>
                  </a:cubicBezTo>
                  <a:lnTo>
                    <a:pt x="4969510" y="794766"/>
                  </a:lnTo>
                  <a:cubicBezTo>
                    <a:pt x="4969510" y="878332"/>
                    <a:pt x="4901692" y="946150"/>
                    <a:pt x="4818126" y="946150"/>
                  </a:cubicBezTo>
                  <a:lnTo>
                    <a:pt x="151384" y="946150"/>
                  </a:lnTo>
                  <a:cubicBezTo>
                    <a:pt x="67818" y="946150"/>
                    <a:pt x="0" y="878332"/>
                    <a:pt x="0" y="794766"/>
                  </a:cubicBezTo>
                  <a:close/>
                </a:path>
              </a:pathLst>
            </a:custGeom>
            <a:solidFill>
              <a:srgbClr val="E1EEE7"/>
            </a:solidFill>
            <a:ln w="23812" cap="sq">
              <a:solidFill>
                <a:srgbClr val="1F6B4F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4969510" cy="965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61C1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TIME-SERIES AI ENGINE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187416" y="6892004"/>
            <a:ext cx="1728788" cy="631507"/>
            <a:chOff x="0" y="0"/>
            <a:chExt cx="2305050" cy="84201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305050" cy="842010"/>
            </a:xfrm>
            <a:custGeom>
              <a:avLst/>
              <a:gdLst/>
              <a:ahLst/>
              <a:cxnLst/>
              <a:rect r="r" b="b" t="t" l="l"/>
              <a:pathLst>
                <a:path h="842010" w="2305050">
                  <a:moveTo>
                    <a:pt x="0" y="149733"/>
                  </a:moveTo>
                  <a:cubicBezTo>
                    <a:pt x="0" y="67056"/>
                    <a:pt x="67056" y="0"/>
                    <a:pt x="149733" y="0"/>
                  </a:cubicBezTo>
                  <a:lnTo>
                    <a:pt x="2155317" y="0"/>
                  </a:lnTo>
                  <a:cubicBezTo>
                    <a:pt x="2237994" y="0"/>
                    <a:pt x="2305050" y="67056"/>
                    <a:pt x="2305050" y="149733"/>
                  </a:cubicBezTo>
                  <a:lnTo>
                    <a:pt x="2305050" y="692277"/>
                  </a:lnTo>
                  <a:cubicBezTo>
                    <a:pt x="2305050" y="774954"/>
                    <a:pt x="2237994" y="842010"/>
                    <a:pt x="2155317" y="842010"/>
                  </a:cubicBezTo>
                  <a:lnTo>
                    <a:pt x="149733" y="842010"/>
                  </a:lnTo>
                  <a:cubicBezTo>
                    <a:pt x="67056" y="842010"/>
                    <a:pt x="0" y="774954"/>
                    <a:pt x="0" y="692277"/>
                  </a:cubicBezTo>
                  <a:close/>
                </a:path>
              </a:pathLst>
            </a:custGeom>
            <a:solidFill>
              <a:srgbClr val="F6F8F6"/>
            </a:solidFill>
            <a:ln w="14288" cap="sq">
              <a:solidFill>
                <a:srgbClr val="D6DCD7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2305050" cy="8610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61C1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FORECAST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107656" y="6892004"/>
            <a:ext cx="1865948" cy="631507"/>
            <a:chOff x="0" y="0"/>
            <a:chExt cx="2487930" cy="84201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487930" cy="842010"/>
            </a:xfrm>
            <a:custGeom>
              <a:avLst/>
              <a:gdLst/>
              <a:ahLst/>
              <a:cxnLst/>
              <a:rect r="r" b="b" t="t" l="l"/>
              <a:pathLst>
                <a:path h="842010" w="2487930">
                  <a:moveTo>
                    <a:pt x="0" y="149733"/>
                  </a:moveTo>
                  <a:cubicBezTo>
                    <a:pt x="0" y="67056"/>
                    <a:pt x="67056" y="0"/>
                    <a:pt x="149733" y="0"/>
                  </a:cubicBezTo>
                  <a:lnTo>
                    <a:pt x="2338197" y="0"/>
                  </a:lnTo>
                  <a:cubicBezTo>
                    <a:pt x="2420874" y="0"/>
                    <a:pt x="2487930" y="67056"/>
                    <a:pt x="2487930" y="149733"/>
                  </a:cubicBezTo>
                  <a:lnTo>
                    <a:pt x="2487930" y="692277"/>
                  </a:lnTo>
                  <a:cubicBezTo>
                    <a:pt x="2487930" y="774954"/>
                    <a:pt x="2420874" y="842010"/>
                    <a:pt x="2338197" y="842010"/>
                  </a:cubicBezTo>
                  <a:lnTo>
                    <a:pt x="149733" y="842010"/>
                  </a:lnTo>
                  <a:cubicBezTo>
                    <a:pt x="67056" y="842010"/>
                    <a:pt x="0" y="774954"/>
                    <a:pt x="0" y="692277"/>
                  </a:cubicBezTo>
                  <a:close/>
                </a:path>
              </a:pathLst>
            </a:custGeom>
            <a:solidFill>
              <a:srgbClr val="F6F8F6"/>
            </a:solidFill>
            <a:ln w="14288" cap="sq">
              <a:solidFill>
                <a:srgbClr val="D6DCD7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2487930" cy="8610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61C1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ANOMALIES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165056" y="6892004"/>
            <a:ext cx="2277428" cy="631507"/>
            <a:chOff x="0" y="0"/>
            <a:chExt cx="3036570" cy="84201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036570" cy="842010"/>
            </a:xfrm>
            <a:custGeom>
              <a:avLst/>
              <a:gdLst/>
              <a:ahLst/>
              <a:cxnLst/>
              <a:rect r="r" b="b" t="t" l="l"/>
              <a:pathLst>
                <a:path h="842010" w="3036570">
                  <a:moveTo>
                    <a:pt x="0" y="149733"/>
                  </a:moveTo>
                  <a:cubicBezTo>
                    <a:pt x="0" y="67056"/>
                    <a:pt x="67056" y="0"/>
                    <a:pt x="149733" y="0"/>
                  </a:cubicBezTo>
                  <a:lnTo>
                    <a:pt x="2886837" y="0"/>
                  </a:lnTo>
                  <a:cubicBezTo>
                    <a:pt x="2969514" y="0"/>
                    <a:pt x="3036570" y="67056"/>
                    <a:pt x="3036570" y="149733"/>
                  </a:cubicBezTo>
                  <a:lnTo>
                    <a:pt x="3036570" y="692277"/>
                  </a:lnTo>
                  <a:cubicBezTo>
                    <a:pt x="3036570" y="774954"/>
                    <a:pt x="2969514" y="842010"/>
                    <a:pt x="2886837" y="842010"/>
                  </a:cubicBezTo>
                  <a:lnTo>
                    <a:pt x="149733" y="842010"/>
                  </a:lnTo>
                  <a:cubicBezTo>
                    <a:pt x="67056" y="842010"/>
                    <a:pt x="0" y="774954"/>
                    <a:pt x="0" y="692277"/>
                  </a:cubicBezTo>
                  <a:close/>
                </a:path>
              </a:pathLst>
            </a:custGeom>
            <a:solidFill>
              <a:srgbClr val="F6F8F6"/>
            </a:solidFill>
            <a:ln w="14288" cap="sq">
              <a:solidFill>
                <a:srgbClr val="D6DCD7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3036570" cy="8610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61C1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OPPORTUNITIES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3417094" y="8080534"/>
            <a:ext cx="3864292" cy="709612"/>
            <a:chOff x="0" y="0"/>
            <a:chExt cx="5152390" cy="9461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152390" cy="946150"/>
            </a:xfrm>
            <a:custGeom>
              <a:avLst/>
              <a:gdLst/>
              <a:ahLst/>
              <a:cxnLst/>
              <a:rect r="r" b="b" t="t" l="l"/>
              <a:pathLst>
                <a:path h="946150" w="5152390">
                  <a:moveTo>
                    <a:pt x="0" y="151384"/>
                  </a:moveTo>
                  <a:cubicBezTo>
                    <a:pt x="0" y="67818"/>
                    <a:pt x="67818" y="0"/>
                    <a:pt x="151384" y="0"/>
                  </a:cubicBezTo>
                  <a:lnTo>
                    <a:pt x="5001006" y="0"/>
                  </a:lnTo>
                  <a:cubicBezTo>
                    <a:pt x="5084572" y="0"/>
                    <a:pt x="5152390" y="67818"/>
                    <a:pt x="5152390" y="151384"/>
                  </a:cubicBezTo>
                  <a:lnTo>
                    <a:pt x="5152390" y="794766"/>
                  </a:lnTo>
                  <a:cubicBezTo>
                    <a:pt x="5152390" y="878332"/>
                    <a:pt x="5084572" y="946150"/>
                    <a:pt x="5001006" y="946150"/>
                  </a:cubicBezTo>
                  <a:lnTo>
                    <a:pt x="151384" y="946150"/>
                  </a:lnTo>
                  <a:cubicBezTo>
                    <a:pt x="67818" y="946150"/>
                    <a:pt x="0" y="878332"/>
                    <a:pt x="0" y="794766"/>
                  </a:cubicBezTo>
                  <a:close/>
                </a:path>
              </a:pathLst>
            </a:custGeom>
            <a:solidFill>
              <a:srgbClr val="E1EEE7"/>
            </a:solidFill>
            <a:ln w="23812" cap="sq">
              <a:solidFill>
                <a:srgbClr val="1F6B4F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5152390" cy="965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61C1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GROWTH DASHBOARD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492740" y="2331720"/>
            <a:ext cx="6720840" cy="480060"/>
            <a:chOff x="0" y="0"/>
            <a:chExt cx="8961120" cy="6400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961120" cy="640080"/>
            </a:xfrm>
            <a:custGeom>
              <a:avLst/>
              <a:gdLst/>
              <a:ahLst/>
              <a:cxnLst/>
              <a:rect r="r" b="b" t="t" l="l"/>
              <a:pathLst>
                <a:path h="64008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89611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1F6B4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FINANCIAL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492740" y="2770632"/>
            <a:ext cx="6720840" cy="1481328"/>
            <a:chOff x="0" y="0"/>
            <a:chExt cx="8961120" cy="197510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961120" cy="1975104"/>
            </a:xfrm>
            <a:custGeom>
              <a:avLst/>
              <a:gdLst/>
              <a:ahLst/>
              <a:cxnLst/>
              <a:rect r="r" b="b" t="t" l="l"/>
              <a:pathLst>
                <a:path h="1975104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1975104"/>
                  </a:lnTo>
                  <a:lnTo>
                    <a:pt x="0" y="19751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404" r="0" b="-38404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8961120" cy="20036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72"/>
                </a:lnSpc>
              </a:pPr>
              <a:r>
                <a:rPr lang="en-US" sz="2100">
                  <a:solidFill>
                    <a:srgbClr val="2A3330"/>
                  </a:solidFill>
                  <a:latin typeface="Arial"/>
                  <a:ea typeface="Arial"/>
                  <a:cs typeface="Arial"/>
                  <a:sym typeface="Arial"/>
                </a:rPr>
                <a:t>Revenue</a:t>
              </a:r>
            </a:p>
            <a:p>
              <a:pPr algn="l">
                <a:lnSpc>
                  <a:spcPts val="2772"/>
                </a:lnSpc>
              </a:pPr>
              <a:r>
                <a:rPr lang="en-US" sz="2100">
                  <a:solidFill>
                    <a:srgbClr val="2A3330"/>
                  </a:solidFill>
                  <a:latin typeface="Arial"/>
                  <a:ea typeface="Arial"/>
                  <a:cs typeface="Arial"/>
                  <a:sym typeface="Arial"/>
                </a:rPr>
                <a:t>Expenses</a:t>
              </a:r>
            </a:p>
            <a:p>
              <a:pPr algn="l">
                <a:lnSpc>
                  <a:spcPts val="2772"/>
                </a:lnSpc>
              </a:pPr>
              <a:r>
                <a:rPr lang="en-US" sz="2100">
                  <a:solidFill>
                    <a:srgbClr val="2A3330"/>
                  </a:solidFill>
                  <a:latin typeface="Arial"/>
                  <a:ea typeface="Arial"/>
                  <a:cs typeface="Arial"/>
                  <a:sym typeface="Arial"/>
                </a:rPr>
                <a:t>Cash flow</a:t>
              </a:r>
            </a:p>
            <a:p>
              <a:pPr algn="l">
                <a:lnSpc>
                  <a:spcPts val="2772"/>
                </a:lnSpc>
              </a:pPr>
              <a:r>
                <a:rPr lang="en-US" sz="2100">
                  <a:solidFill>
                    <a:srgbClr val="2A3330"/>
                  </a:solidFill>
                  <a:latin typeface="Arial"/>
                  <a:ea typeface="Arial"/>
                  <a:cs typeface="Arial"/>
                  <a:sym typeface="Arial"/>
                </a:rPr>
                <a:t>Payroll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492740" y="4594860"/>
            <a:ext cx="6720840" cy="480060"/>
            <a:chOff x="0" y="0"/>
            <a:chExt cx="8961120" cy="6400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961120" cy="640080"/>
            </a:xfrm>
            <a:custGeom>
              <a:avLst/>
              <a:gdLst/>
              <a:ahLst/>
              <a:cxnLst/>
              <a:rect r="r" b="b" t="t" l="l"/>
              <a:pathLst>
                <a:path h="64008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89611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1F6B4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OPERATIONAL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0492740" y="5033772"/>
            <a:ext cx="6720840" cy="1110996"/>
            <a:chOff x="0" y="0"/>
            <a:chExt cx="8961120" cy="148132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961120" cy="1481328"/>
            </a:xfrm>
            <a:custGeom>
              <a:avLst/>
              <a:gdLst/>
              <a:ahLst/>
              <a:cxnLst/>
              <a:rect r="r" b="b" t="t" l="l"/>
              <a:pathLst>
                <a:path h="1481328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1481328"/>
                  </a:lnTo>
                  <a:lnTo>
                    <a:pt x="0" y="14813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872" r="0" b="-67872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28575"/>
              <a:ext cx="8961120" cy="15099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72"/>
                </a:lnSpc>
              </a:pPr>
              <a:r>
                <a:rPr lang="en-US" sz="2100">
                  <a:solidFill>
                    <a:srgbClr val="2A3330"/>
                  </a:solidFill>
                  <a:latin typeface="Arial"/>
                  <a:ea typeface="Arial"/>
                  <a:cs typeface="Arial"/>
                  <a:sym typeface="Arial"/>
                </a:rPr>
                <a:t>Customers</a:t>
              </a:r>
            </a:p>
            <a:p>
              <a:pPr algn="l">
                <a:lnSpc>
                  <a:spcPts val="2772"/>
                </a:lnSpc>
              </a:pPr>
              <a:r>
                <a:rPr lang="en-US" sz="2100">
                  <a:solidFill>
                    <a:srgbClr val="2A3330"/>
                  </a:solidFill>
                  <a:latin typeface="Arial"/>
                  <a:ea typeface="Arial"/>
                  <a:cs typeface="Arial"/>
                  <a:sym typeface="Arial"/>
                </a:rPr>
                <a:t>Inventory</a:t>
              </a:r>
            </a:p>
            <a:p>
              <a:pPr algn="l">
                <a:lnSpc>
                  <a:spcPts val="2772"/>
                </a:lnSpc>
              </a:pPr>
              <a:r>
                <a:rPr lang="en-US" sz="2100">
                  <a:solidFill>
                    <a:srgbClr val="2A3330"/>
                  </a:solidFill>
                  <a:latin typeface="Arial"/>
                  <a:ea typeface="Arial"/>
                  <a:cs typeface="Arial"/>
                  <a:sym typeface="Arial"/>
                </a:rPr>
                <a:t>Transactions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0492740" y="6487668"/>
            <a:ext cx="6720840" cy="480060"/>
            <a:chOff x="0" y="0"/>
            <a:chExt cx="8961120" cy="6400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961120" cy="640080"/>
            </a:xfrm>
            <a:custGeom>
              <a:avLst/>
              <a:gdLst/>
              <a:ahLst/>
              <a:cxnLst/>
              <a:rect r="r" b="b" t="t" l="l"/>
              <a:pathLst>
                <a:path h="64008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89611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1F6B4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EXTERNAL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0492740" y="6926580"/>
            <a:ext cx="6720840" cy="1110996"/>
            <a:chOff x="0" y="0"/>
            <a:chExt cx="8961120" cy="148132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961120" cy="1481328"/>
            </a:xfrm>
            <a:custGeom>
              <a:avLst/>
              <a:gdLst/>
              <a:ahLst/>
              <a:cxnLst/>
              <a:rect r="r" b="b" t="t" l="l"/>
              <a:pathLst>
                <a:path h="1481328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1481328"/>
                  </a:lnTo>
                  <a:lnTo>
                    <a:pt x="0" y="14813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872" r="0" b="-67872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28575"/>
              <a:ext cx="8961120" cy="15099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72"/>
                </a:lnSpc>
              </a:pPr>
              <a:r>
                <a:rPr lang="en-US" sz="2100">
                  <a:solidFill>
                    <a:srgbClr val="2A3330"/>
                  </a:solidFill>
                  <a:latin typeface="Arial"/>
                  <a:ea typeface="Arial"/>
                  <a:cs typeface="Arial"/>
                  <a:sym typeface="Arial"/>
                </a:rPr>
                <a:t>Seasonality</a:t>
              </a:r>
            </a:p>
            <a:p>
              <a:pPr algn="l">
                <a:lnSpc>
                  <a:spcPts val="2772"/>
                </a:lnSpc>
              </a:pPr>
              <a:r>
                <a:rPr lang="en-US" sz="2100">
                  <a:solidFill>
                    <a:srgbClr val="2A3330"/>
                  </a:solidFill>
                  <a:latin typeface="Arial"/>
                  <a:ea typeface="Arial"/>
                  <a:cs typeface="Arial"/>
                  <a:sym typeface="Arial"/>
                </a:rPr>
                <a:t>Industry trends</a:t>
              </a:r>
            </a:p>
            <a:p>
              <a:pPr algn="l">
                <a:lnSpc>
                  <a:spcPts val="2772"/>
                </a:lnSpc>
              </a:pPr>
              <a:r>
                <a:rPr lang="en-US" sz="2100">
                  <a:solidFill>
                    <a:srgbClr val="2A3330"/>
                  </a:solidFill>
                  <a:latin typeface="Arial"/>
                  <a:ea typeface="Arial"/>
                  <a:cs typeface="Arial"/>
                  <a:sym typeface="Arial"/>
                </a:rPr>
                <a:t>Economic conditions</a:t>
              </a:r>
            </a:p>
          </p:txBody>
        </p:sp>
      </p:grpSp>
      <p:sp>
        <p:nvSpPr>
          <p:cNvPr name="AutoShape 52" id="52"/>
          <p:cNvSpPr/>
          <p:nvPr/>
        </p:nvSpPr>
        <p:spPr>
          <a:xfrm rot="7320">
            <a:off x="10485587" y="8444294"/>
            <a:ext cx="6735147" cy="0"/>
          </a:xfrm>
          <a:prstGeom prst="line">
            <a:avLst/>
          </a:prstGeom>
          <a:ln cap="rnd" w="9525">
            <a:solidFill>
              <a:srgbClr val="D6DCD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3" id="53"/>
          <p:cNvGrpSpPr/>
          <p:nvPr/>
        </p:nvGrpSpPr>
        <p:grpSpPr>
          <a:xfrm rot="0">
            <a:off x="10492740" y="8723376"/>
            <a:ext cx="6720840" cy="1371600"/>
            <a:chOff x="0" y="0"/>
            <a:chExt cx="8961120" cy="1828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9611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476" r="0" b="-45476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57150"/>
              <a:ext cx="8961120" cy="1885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4"/>
                </a:lnSpc>
              </a:pPr>
              <a:r>
                <a:rPr lang="en-US" sz="1725">
                  <a:solidFill>
                    <a:srgbClr val="4E5955"/>
                  </a:solidFill>
                  <a:latin typeface="Arial"/>
                  <a:ea typeface="Arial"/>
                  <a:cs typeface="Arial"/>
                  <a:sym typeface="Arial"/>
                </a:rPr>
                <a:t>The Federal Reserve's Small Business Credit Survey tracks revenue growth, profitability, financial challenges, and financing outcomes. This sets a real-world basis for the signals Ascend analyzes.</a:t>
              </a:r>
            </a:p>
          </p:txBody>
        </p:sp>
      </p:grpSp>
      <p:sp>
        <p:nvSpPr>
          <p:cNvPr name="AutoShape 56" id="56"/>
          <p:cNvSpPr/>
          <p:nvPr/>
        </p:nvSpPr>
        <p:spPr>
          <a:xfrm>
            <a:off x="5323045" y="5144167"/>
            <a:ext cx="0" cy="418719"/>
          </a:xfrm>
          <a:prstGeom prst="line">
            <a:avLst/>
          </a:prstGeom>
          <a:ln cap="rnd" w="19050">
            <a:solidFill>
              <a:srgbClr val="1F6B4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7" id="57"/>
          <p:cNvSpPr/>
          <p:nvPr/>
        </p:nvSpPr>
        <p:spPr>
          <a:xfrm>
            <a:off x="5313520" y="6410992"/>
            <a:ext cx="0" cy="418719"/>
          </a:xfrm>
          <a:prstGeom prst="line">
            <a:avLst/>
          </a:prstGeom>
          <a:ln cap="rnd" w="19050">
            <a:solidFill>
              <a:srgbClr val="1F6B4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8" id="58"/>
          <p:cNvSpPr/>
          <p:nvPr/>
        </p:nvSpPr>
        <p:spPr>
          <a:xfrm>
            <a:off x="5303995" y="7592663"/>
            <a:ext cx="0" cy="418719"/>
          </a:xfrm>
          <a:prstGeom prst="line">
            <a:avLst/>
          </a:prstGeom>
          <a:ln cap="rnd" w="19050">
            <a:solidFill>
              <a:srgbClr val="1F6B4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59" id="59"/>
          <p:cNvSpPr/>
          <p:nvPr/>
        </p:nvSpPr>
        <p:spPr>
          <a:xfrm flipH="false" flipV="false" rot="0">
            <a:off x="16745946" y="515346"/>
            <a:ext cx="1026707" cy="1026707"/>
          </a:xfrm>
          <a:custGeom>
            <a:avLst/>
            <a:gdLst/>
            <a:ahLst/>
            <a:cxnLst/>
            <a:rect r="r" b="b" t="t" l="l"/>
            <a:pathLst>
              <a:path h="1026707" w="1026707">
                <a:moveTo>
                  <a:pt x="0" y="0"/>
                </a:moveTo>
                <a:lnTo>
                  <a:pt x="1026708" y="0"/>
                </a:lnTo>
                <a:lnTo>
                  <a:pt x="1026708" y="1026708"/>
                </a:lnTo>
                <a:lnTo>
                  <a:pt x="0" y="10267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754380"/>
            <a:ext cx="8229600" cy="480060"/>
            <a:chOff x="0" y="0"/>
            <a:chExt cx="109728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09728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1F6B4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 NEURAL NETWORK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60120" y="1137285"/>
            <a:ext cx="12344400" cy="8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161C19"/>
                </a:solidFill>
                <a:latin typeface="Arial Bold"/>
                <a:ea typeface="Arial Bold"/>
                <a:cs typeface="Arial Bold"/>
                <a:sym typeface="Arial Bold"/>
              </a:rPr>
              <a:t>How our neural network learns a business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400300" y="3223260"/>
            <a:ext cx="5486400" cy="411480"/>
            <a:chOff x="0" y="0"/>
            <a:chExt cx="731520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1520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73152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299">
                  <a:solidFill>
                    <a:srgbClr val="4E59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12–24 MONTHS OF DATA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58716" y="3723608"/>
            <a:ext cx="1180148" cy="508064"/>
            <a:chOff x="0" y="0"/>
            <a:chExt cx="1573530" cy="67741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73530" cy="677418"/>
            </a:xfrm>
            <a:custGeom>
              <a:avLst/>
              <a:gdLst/>
              <a:ahLst/>
              <a:cxnLst/>
              <a:rect r="r" b="b" t="t" l="l"/>
              <a:pathLst>
                <a:path h="677418" w="1573530">
                  <a:moveTo>
                    <a:pt x="0" y="150495"/>
                  </a:moveTo>
                  <a:cubicBezTo>
                    <a:pt x="0" y="67437"/>
                    <a:pt x="67437" y="0"/>
                    <a:pt x="150495" y="0"/>
                  </a:cubicBezTo>
                  <a:lnTo>
                    <a:pt x="1423035" y="0"/>
                  </a:lnTo>
                  <a:cubicBezTo>
                    <a:pt x="1506220" y="0"/>
                    <a:pt x="1573530" y="67437"/>
                    <a:pt x="1573530" y="150495"/>
                  </a:cubicBezTo>
                  <a:lnTo>
                    <a:pt x="1573530" y="526923"/>
                  </a:lnTo>
                  <a:cubicBezTo>
                    <a:pt x="1573530" y="610108"/>
                    <a:pt x="1506093" y="677418"/>
                    <a:pt x="1423035" y="677418"/>
                  </a:cubicBezTo>
                  <a:lnTo>
                    <a:pt x="150495" y="677418"/>
                  </a:lnTo>
                  <a:cubicBezTo>
                    <a:pt x="67437" y="677418"/>
                    <a:pt x="0" y="609981"/>
                    <a:pt x="0" y="526923"/>
                  </a:cubicBezTo>
                  <a:close/>
                </a:path>
              </a:pathLst>
            </a:custGeom>
            <a:solidFill>
              <a:srgbClr val="F6F8F6"/>
            </a:solidFill>
            <a:ln w="14288" cap="sq">
              <a:solidFill>
                <a:srgbClr val="D6DCD7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573530" cy="6964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2A3330"/>
                  </a:solidFill>
                  <a:latin typeface="Arial"/>
                  <a:ea typeface="Arial"/>
                  <a:cs typeface="Arial"/>
                  <a:sym typeface="Arial"/>
                </a:rPr>
                <a:t>Revenue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461736" y="3723608"/>
            <a:ext cx="1248727" cy="508064"/>
            <a:chOff x="0" y="0"/>
            <a:chExt cx="1664970" cy="67741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64970" cy="677418"/>
            </a:xfrm>
            <a:custGeom>
              <a:avLst/>
              <a:gdLst/>
              <a:ahLst/>
              <a:cxnLst/>
              <a:rect r="r" b="b" t="t" l="l"/>
              <a:pathLst>
                <a:path h="677418" w="1664970">
                  <a:moveTo>
                    <a:pt x="0" y="150495"/>
                  </a:moveTo>
                  <a:cubicBezTo>
                    <a:pt x="0" y="67437"/>
                    <a:pt x="67437" y="0"/>
                    <a:pt x="150495" y="0"/>
                  </a:cubicBezTo>
                  <a:lnTo>
                    <a:pt x="1514475" y="0"/>
                  </a:lnTo>
                  <a:cubicBezTo>
                    <a:pt x="1597660" y="0"/>
                    <a:pt x="1664970" y="67437"/>
                    <a:pt x="1664970" y="150495"/>
                  </a:cubicBezTo>
                  <a:lnTo>
                    <a:pt x="1664970" y="526923"/>
                  </a:lnTo>
                  <a:cubicBezTo>
                    <a:pt x="1664970" y="610108"/>
                    <a:pt x="1597533" y="677418"/>
                    <a:pt x="1514475" y="677418"/>
                  </a:cubicBezTo>
                  <a:lnTo>
                    <a:pt x="150495" y="677418"/>
                  </a:lnTo>
                  <a:cubicBezTo>
                    <a:pt x="67437" y="677418"/>
                    <a:pt x="0" y="609981"/>
                    <a:pt x="0" y="526923"/>
                  </a:cubicBezTo>
                  <a:close/>
                </a:path>
              </a:pathLst>
            </a:custGeom>
            <a:solidFill>
              <a:srgbClr val="F6F8F6"/>
            </a:solidFill>
            <a:ln w="14288" cap="sq">
              <a:solidFill>
                <a:srgbClr val="D6DCD7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664970" cy="6964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2A3330"/>
                  </a:solidFill>
                  <a:latin typeface="Arial"/>
                  <a:ea typeface="Arial"/>
                  <a:cs typeface="Arial"/>
                  <a:sym typeface="Arial"/>
                </a:rPr>
                <a:t>Expenses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833336" y="3723608"/>
            <a:ext cx="1317308" cy="508064"/>
            <a:chOff x="0" y="0"/>
            <a:chExt cx="1756410" cy="67741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56410" cy="677418"/>
            </a:xfrm>
            <a:custGeom>
              <a:avLst/>
              <a:gdLst/>
              <a:ahLst/>
              <a:cxnLst/>
              <a:rect r="r" b="b" t="t" l="l"/>
              <a:pathLst>
                <a:path h="677418" w="1756410">
                  <a:moveTo>
                    <a:pt x="0" y="150495"/>
                  </a:moveTo>
                  <a:cubicBezTo>
                    <a:pt x="0" y="67437"/>
                    <a:pt x="67437" y="0"/>
                    <a:pt x="150495" y="0"/>
                  </a:cubicBezTo>
                  <a:lnTo>
                    <a:pt x="1605915" y="0"/>
                  </a:lnTo>
                  <a:cubicBezTo>
                    <a:pt x="1689100" y="0"/>
                    <a:pt x="1756410" y="67437"/>
                    <a:pt x="1756410" y="150495"/>
                  </a:cubicBezTo>
                  <a:lnTo>
                    <a:pt x="1756410" y="526923"/>
                  </a:lnTo>
                  <a:cubicBezTo>
                    <a:pt x="1756410" y="610108"/>
                    <a:pt x="1688973" y="677418"/>
                    <a:pt x="1605915" y="677418"/>
                  </a:cubicBezTo>
                  <a:lnTo>
                    <a:pt x="150495" y="677418"/>
                  </a:lnTo>
                  <a:cubicBezTo>
                    <a:pt x="67437" y="677418"/>
                    <a:pt x="0" y="609981"/>
                    <a:pt x="0" y="526923"/>
                  </a:cubicBezTo>
                  <a:close/>
                </a:path>
              </a:pathLst>
            </a:custGeom>
            <a:solidFill>
              <a:srgbClr val="F6F8F6"/>
            </a:solidFill>
            <a:ln w="14288" cap="sq">
              <a:solidFill>
                <a:srgbClr val="D6DCD7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756410" cy="6964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2A3330"/>
                  </a:solidFill>
                  <a:latin typeface="Arial"/>
                  <a:ea typeface="Arial"/>
                  <a:cs typeface="Arial"/>
                  <a:sym typeface="Arial"/>
                </a:rPr>
                <a:t>Cash Flow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273516" y="3723608"/>
            <a:ext cx="1317308" cy="508064"/>
            <a:chOff x="0" y="0"/>
            <a:chExt cx="1756410" cy="67741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56410" cy="677418"/>
            </a:xfrm>
            <a:custGeom>
              <a:avLst/>
              <a:gdLst/>
              <a:ahLst/>
              <a:cxnLst/>
              <a:rect r="r" b="b" t="t" l="l"/>
              <a:pathLst>
                <a:path h="677418" w="1756410">
                  <a:moveTo>
                    <a:pt x="0" y="150495"/>
                  </a:moveTo>
                  <a:cubicBezTo>
                    <a:pt x="0" y="67437"/>
                    <a:pt x="67437" y="0"/>
                    <a:pt x="150495" y="0"/>
                  </a:cubicBezTo>
                  <a:lnTo>
                    <a:pt x="1605915" y="0"/>
                  </a:lnTo>
                  <a:cubicBezTo>
                    <a:pt x="1689100" y="0"/>
                    <a:pt x="1756410" y="67437"/>
                    <a:pt x="1756410" y="150495"/>
                  </a:cubicBezTo>
                  <a:lnTo>
                    <a:pt x="1756410" y="526923"/>
                  </a:lnTo>
                  <a:cubicBezTo>
                    <a:pt x="1756410" y="610108"/>
                    <a:pt x="1688973" y="677418"/>
                    <a:pt x="1605915" y="677418"/>
                  </a:cubicBezTo>
                  <a:lnTo>
                    <a:pt x="150495" y="677418"/>
                  </a:lnTo>
                  <a:cubicBezTo>
                    <a:pt x="67437" y="677418"/>
                    <a:pt x="0" y="609981"/>
                    <a:pt x="0" y="526923"/>
                  </a:cubicBezTo>
                  <a:close/>
                </a:path>
              </a:pathLst>
            </a:custGeom>
            <a:solidFill>
              <a:srgbClr val="F6F8F6"/>
            </a:solidFill>
            <a:ln w="14288" cap="sq">
              <a:solidFill>
                <a:srgbClr val="D6DCD7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1756410" cy="6964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2A3330"/>
                  </a:solidFill>
                  <a:latin typeface="Arial"/>
                  <a:ea typeface="Arial"/>
                  <a:cs typeface="Arial"/>
                  <a:sym typeface="Arial"/>
                </a:rPr>
                <a:t>Customers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713696" y="3723608"/>
            <a:ext cx="1248727" cy="508064"/>
            <a:chOff x="0" y="0"/>
            <a:chExt cx="1664970" cy="67741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664970" cy="677418"/>
            </a:xfrm>
            <a:custGeom>
              <a:avLst/>
              <a:gdLst/>
              <a:ahLst/>
              <a:cxnLst/>
              <a:rect r="r" b="b" t="t" l="l"/>
              <a:pathLst>
                <a:path h="677418" w="1664970">
                  <a:moveTo>
                    <a:pt x="0" y="150495"/>
                  </a:moveTo>
                  <a:cubicBezTo>
                    <a:pt x="0" y="67437"/>
                    <a:pt x="67437" y="0"/>
                    <a:pt x="150495" y="0"/>
                  </a:cubicBezTo>
                  <a:lnTo>
                    <a:pt x="1514475" y="0"/>
                  </a:lnTo>
                  <a:cubicBezTo>
                    <a:pt x="1597660" y="0"/>
                    <a:pt x="1664970" y="67437"/>
                    <a:pt x="1664970" y="150495"/>
                  </a:cubicBezTo>
                  <a:lnTo>
                    <a:pt x="1664970" y="526923"/>
                  </a:lnTo>
                  <a:cubicBezTo>
                    <a:pt x="1664970" y="610108"/>
                    <a:pt x="1597533" y="677418"/>
                    <a:pt x="1514475" y="677418"/>
                  </a:cubicBezTo>
                  <a:lnTo>
                    <a:pt x="150495" y="677418"/>
                  </a:lnTo>
                  <a:cubicBezTo>
                    <a:pt x="67437" y="677418"/>
                    <a:pt x="0" y="609981"/>
                    <a:pt x="0" y="526923"/>
                  </a:cubicBezTo>
                  <a:close/>
                </a:path>
              </a:pathLst>
            </a:custGeom>
            <a:solidFill>
              <a:srgbClr val="F6F8F6"/>
            </a:solidFill>
            <a:ln w="14288" cap="sq">
              <a:solidFill>
                <a:srgbClr val="D6DCD7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1664970" cy="6964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2A3330"/>
                  </a:solidFill>
                  <a:latin typeface="Arial"/>
                  <a:ea typeface="Arial"/>
                  <a:cs typeface="Arial"/>
                  <a:sym typeface="Arial"/>
                </a:rPr>
                <a:t>Inventory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085296" y="3723608"/>
            <a:ext cx="1042988" cy="508064"/>
            <a:chOff x="0" y="0"/>
            <a:chExt cx="1390650" cy="67741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90650" cy="677418"/>
            </a:xfrm>
            <a:custGeom>
              <a:avLst/>
              <a:gdLst/>
              <a:ahLst/>
              <a:cxnLst/>
              <a:rect r="r" b="b" t="t" l="l"/>
              <a:pathLst>
                <a:path h="677418" w="1390650">
                  <a:moveTo>
                    <a:pt x="0" y="150495"/>
                  </a:moveTo>
                  <a:cubicBezTo>
                    <a:pt x="0" y="67437"/>
                    <a:pt x="67437" y="0"/>
                    <a:pt x="150495" y="0"/>
                  </a:cubicBezTo>
                  <a:lnTo>
                    <a:pt x="1240155" y="0"/>
                  </a:lnTo>
                  <a:cubicBezTo>
                    <a:pt x="1323340" y="0"/>
                    <a:pt x="1390650" y="67437"/>
                    <a:pt x="1390650" y="150495"/>
                  </a:cubicBezTo>
                  <a:lnTo>
                    <a:pt x="1390650" y="526923"/>
                  </a:lnTo>
                  <a:cubicBezTo>
                    <a:pt x="1390650" y="610108"/>
                    <a:pt x="1323213" y="677418"/>
                    <a:pt x="1240155" y="677418"/>
                  </a:cubicBezTo>
                  <a:lnTo>
                    <a:pt x="150495" y="677418"/>
                  </a:lnTo>
                  <a:cubicBezTo>
                    <a:pt x="67437" y="677418"/>
                    <a:pt x="0" y="609981"/>
                    <a:pt x="0" y="526923"/>
                  </a:cubicBezTo>
                  <a:close/>
                </a:path>
              </a:pathLst>
            </a:custGeom>
            <a:solidFill>
              <a:srgbClr val="F6F8F6"/>
            </a:solidFill>
            <a:ln w="14288" cap="sq">
              <a:solidFill>
                <a:srgbClr val="D6DCD7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1390650" cy="6964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2A3330"/>
                  </a:solidFill>
                  <a:latin typeface="Arial"/>
                  <a:ea typeface="Arial"/>
                  <a:cs typeface="Arial"/>
                  <a:sym typeface="Arial"/>
                </a:rPr>
                <a:t>Payroll</a:t>
              </a:r>
            </a:p>
          </p:txBody>
        </p:sp>
      </p:grpSp>
      <p:sp>
        <p:nvSpPr>
          <p:cNvPr name="AutoShape 27" id="27"/>
          <p:cNvSpPr/>
          <p:nvPr/>
        </p:nvSpPr>
        <p:spPr>
          <a:xfrm flipH="true">
            <a:off x="5143500" y="4344353"/>
            <a:ext cx="0" cy="418719"/>
          </a:xfrm>
          <a:prstGeom prst="line">
            <a:avLst/>
          </a:prstGeom>
          <a:ln cap="rnd" w="19050">
            <a:solidFill>
              <a:srgbClr val="1F6B4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8" id="28"/>
          <p:cNvGrpSpPr/>
          <p:nvPr/>
        </p:nvGrpSpPr>
        <p:grpSpPr>
          <a:xfrm rot="0">
            <a:off x="3417094" y="4857274"/>
            <a:ext cx="3452812" cy="1093660"/>
            <a:chOff x="0" y="0"/>
            <a:chExt cx="4603750" cy="145821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603750" cy="1458214"/>
            </a:xfrm>
            <a:custGeom>
              <a:avLst/>
              <a:gdLst/>
              <a:ahLst/>
              <a:cxnLst/>
              <a:rect r="r" b="b" t="t" l="l"/>
              <a:pathLst>
                <a:path h="1458214" w="4603750">
                  <a:moveTo>
                    <a:pt x="0" y="186944"/>
                  </a:moveTo>
                  <a:cubicBezTo>
                    <a:pt x="0" y="83693"/>
                    <a:pt x="83693" y="0"/>
                    <a:pt x="186944" y="0"/>
                  </a:cubicBezTo>
                  <a:lnTo>
                    <a:pt x="4416806" y="0"/>
                  </a:lnTo>
                  <a:cubicBezTo>
                    <a:pt x="4520057" y="0"/>
                    <a:pt x="4603750" y="83693"/>
                    <a:pt x="4603750" y="186944"/>
                  </a:cubicBezTo>
                  <a:lnTo>
                    <a:pt x="4603750" y="1271270"/>
                  </a:lnTo>
                  <a:cubicBezTo>
                    <a:pt x="4603750" y="1374521"/>
                    <a:pt x="4520057" y="1458214"/>
                    <a:pt x="4416806" y="1458214"/>
                  </a:cubicBezTo>
                  <a:lnTo>
                    <a:pt x="186944" y="1458214"/>
                  </a:lnTo>
                  <a:cubicBezTo>
                    <a:pt x="83693" y="1458214"/>
                    <a:pt x="0" y="1374521"/>
                    <a:pt x="0" y="1271270"/>
                  </a:cubicBezTo>
                  <a:close/>
                </a:path>
              </a:pathLst>
            </a:custGeom>
            <a:solidFill>
              <a:srgbClr val="E1EEE7"/>
            </a:solidFill>
            <a:ln w="23812" cap="sq">
              <a:solidFill>
                <a:srgbClr val="1F6B4F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3429000" y="4965192"/>
            <a:ext cx="3429000" cy="480060"/>
            <a:chOff x="0" y="0"/>
            <a:chExt cx="4572000" cy="6400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572000" cy="640080"/>
            </a:xfrm>
            <a:custGeom>
              <a:avLst/>
              <a:gdLst/>
              <a:ahLst/>
              <a:cxnLst/>
              <a:rect r="r" b="b" t="t" l="l"/>
              <a:pathLst>
                <a:path h="64008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45720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61C1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PATCHTST MODEL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3429000" y="5417820"/>
            <a:ext cx="3429000" cy="384048"/>
            <a:chOff x="0" y="0"/>
            <a:chExt cx="4572000" cy="51206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572000" cy="512064"/>
            </a:xfrm>
            <a:custGeom>
              <a:avLst/>
              <a:gdLst/>
              <a:ahLst/>
              <a:cxnLst/>
              <a:rect r="r" b="b" t="t" l="l"/>
              <a:pathLst>
                <a:path h="512064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973" r="0" b="-123973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457200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spc="225">
                  <a:solidFill>
                    <a:srgbClr val="4E5955"/>
                  </a:solidFill>
                  <a:latin typeface="Arial"/>
                  <a:ea typeface="Arial"/>
                  <a:cs typeface="Arial"/>
                  <a:sym typeface="Arial"/>
                </a:rPr>
                <a:t>TIME-SERIES TRANSFORMER</a:t>
              </a:r>
            </a:p>
          </p:txBody>
        </p:sp>
      </p:grpSp>
      <p:sp>
        <p:nvSpPr>
          <p:cNvPr name="AutoShape 36" id="36"/>
          <p:cNvSpPr/>
          <p:nvPr/>
        </p:nvSpPr>
        <p:spPr>
          <a:xfrm flipH="true">
            <a:off x="5143500" y="6045136"/>
            <a:ext cx="0" cy="418719"/>
          </a:xfrm>
          <a:prstGeom prst="line">
            <a:avLst/>
          </a:prstGeom>
          <a:ln cap="rnd" w="19050">
            <a:solidFill>
              <a:srgbClr val="1F6B4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37" id="37"/>
          <p:cNvGrpSpPr/>
          <p:nvPr/>
        </p:nvGrpSpPr>
        <p:grpSpPr>
          <a:xfrm rot="0">
            <a:off x="2804636" y="6576536"/>
            <a:ext cx="1523048" cy="864680"/>
            <a:chOff x="0" y="0"/>
            <a:chExt cx="2030730" cy="115290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030730" cy="1152906"/>
            </a:xfrm>
            <a:custGeom>
              <a:avLst/>
              <a:gdLst/>
              <a:ahLst/>
              <a:cxnLst/>
              <a:rect r="r" b="b" t="t" l="l"/>
              <a:pathLst>
                <a:path h="1152906" w="2030730">
                  <a:moveTo>
                    <a:pt x="0" y="148717"/>
                  </a:moveTo>
                  <a:cubicBezTo>
                    <a:pt x="0" y="66548"/>
                    <a:pt x="66548" y="0"/>
                    <a:pt x="148717" y="0"/>
                  </a:cubicBezTo>
                  <a:lnTo>
                    <a:pt x="1882013" y="0"/>
                  </a:lnTo>
                  <a:cubicBezTo>
                    <a:pt x="1964182" y="0"/>
                    <a:pt x="2030730" y="66548"/>
                    <a:pt x="2030730" y="148717"/>
                  </a:cubicBezTo>
                  <a:lnTo>
                    <a:pt x="2030730" y="1004189"/>
                  </a:lnTo>
                  <a:cubicBezTo>
                    <a:pt x="2030730" y="1086358"/>
                    <a:pt x="1964182" y="1152906"/>
                    <a:pt x="1882013" y="1152906"/>
                  </a:cubicBezTo>
                  <a:lnTo>
                    <a:pt x="148717" y="1152906"/>
                  </a:lnTo>
                  <a:cubicBezTo>
                    <a:pt x="66548" y="1152906"/>
                    <a:pt x="0" y="1086358"/>
                    <a:pt x="0" y="1004189"/>
                  </a:cubicBezTo>
                  <a:close/>
                </a:path>
              </a:pathLst>
            </a:custGeom>
            <a:solidFill>
              <a:srgbClr val="F6F8F6"/>
            </a:solidFill>
            <a:ln w="14288" cap="sq">
              <a:solidFill>
                <a:srgbClr val="D6DCD7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2030730" cy="11719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61C1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FORECAST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4450556" y="6576536"/>
            <a:ext cx="1385888" cy="864680"/>
            <a:chOff x="0" y="0"/>
            <a:chExt cx="1847850" cy="115290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847850" cy="1152906"/>
            </a:xfrm>
            <a:custGeom>
              <a:avLst/>
              <a:gdLst/>
              <a:ahLst/>
              <a:cxnLst/>
              <a:rect r="r" b="b" t="t" l="l"/>
              <a:pathLst>
                <a:path h="1152906" w="1847850">
                  <a:moveTo>
                    <a:pt x="0" y="148717"/>
                  </a:moveTo>
                  <a:cubicBezTo>
                    <a:pt x="0" y="66548"/>
                    <a:pt x="66548" y="0"/>
                    <a:pt x="148717" y="0"/>
                  </a:cubicBezTo>
                  <a:lnTo>
                    <a:pt x="1699133" y="0"/>
                  </a:lnTo>
                  <a:cubicBezTo>
                    <a:pt x="1781302" y="0"/>
                    <a:pt x="1847850" y="66548"/>
                    <a:pt x="1847850" y="148717"/>
                  </a:cubicBezTo>
                  <a:lnTo>
                    <a:pt x="1847850" y="1004189"/>
                  </a:lnTo>
                  <a:cubicBezTo>
                    <a:pt x="1847850" y="1086358"/>
                    <a:pt x="1781302" y="1152906"/>
                    <a:pt x="1699133" y="1152906"/>
                  </a:cubicBezTo>
                  <a:lnTo>
                    <a:pt x="148717" y="1152906"/>
                  </a:lnTo>
                  <a:cubicBezTo>
                    <a:pt x="66548" y="1152906"/>
                    <a:pt x="0" y="1086358"/>
                    <a:pt x="0" y="1004189"/>
                  </a:cubicBezTo>
                  <a:close/>
                </a:path>
              </a:pathLst>
            </a:custGeom>
            <a:solidFill>
              <a:srgbClr val="F6F8F6"/>
            </a:solidFill>
            <a:ln w="14288" cap="sq">
              <a:solidFill>
                <a:srgbClr val="D6DCD7"/>
              </a:solidFill>
              <a:prstDash val="solid"/>
              <a:miter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1847850" cy="11719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61C1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CHANGE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61C1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SIGNAL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6027896" y="6576536"/>
            <a:ext cx="1385888" cy="864680"/>
            <a:chOff x="0" y="0"/>
            <a:chExt cx="1847850" cy="115290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847850" cy="1152906"/>
            </a:xfrm>
            <a:custGeom>
              <a:avLst/>
              <a:gdLst/>
              <a:ahLst/>
              <a:cxnLst/>
              <a:rect r="r" b="b" t="t" l="l"/>
              <a:pathLst>
                <a:path h="1152906" w="1847850">
                  <a:moveTo>
                    <a:pt x="0" y="148717"/>
                  </a:moveTo>
                  <a:cubicBezTo>
                    <a:pt x="0" y="66548"/>
                    <a:pt x="66548" y="0"/>
                    <a:pt x="148717" y="0"/>
                  </a:cubicBezTo>
                  <a:lnTo>
                    <a:pt x="1699133" y="0"/>
                  </a:lnTo>
                  <a:cubicBezTo>
                    <a:pt x="1781302" y="0"/>
                    <a:pt x="1847850" y="66548"/>
                    <a:pt x="1847850" y="148717"/>
                  </a:cubicBezTo>
                  <a:lnTo>
                    <a:pt x="1847850" y="1004189"/>
                  </a:lnTo>
                  <a:cubicBezTo>
                    <a:pt x="1847850" y="1086358"/>
                    <a:pt x="1781302" y="1152906"/>
                    <a:pt x="1699133" y="1152906"/>
                  </a:cubicBezTo>
                  <a:lnTo>
                    <a:pt x="148717" y="1152906"/>
                  </a:lnTo>
                  <a:cubicBezTo>
                    <a:pt x="66548" y="1152906"/>
                    <a:pt x="0" y="1086358"/>
                    <a:pt x="0" y="1004189"/>
                  </a:cubicBezTo>
                  <a:close/>
                </a:path>
              </a:pathLst>
            </a:custGeom>
            <a:solidFill>
              <a:srgbClr val="F6F8F6"/>
            </a:solidFill>
            <a:ln w="14288" cap="sq">
              <a:solidFill>
                <a:srgbClr val="D6DCD7"/>
              </a:solidFill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1847850" cy="11719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61C1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GROWTH</a:t>
              </a:r>
            </a:p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61C1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SIGNAL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851660" y="7818120"/>
            <a:ext cx="6583680" cy="822960"/>
            <a:chOff x="0" y="0"/>
            <a:chExt cx="8778240" cy="10972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7782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57150"/>
              <a:ext cx="877824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76"/>
                </a:lnSpc>
              </a:pPr>
              <a:r>
                <a:rPr lang="en-US" sz="1650">
                  <a:solidFill>
                    <a:srgbClr val="4E5955"/>
                  </a:solidFill>
                  <a:latin typeface="Arial"/>
                  <a:ea typeface="Arial"/>
                  <a:cs typeface="Arial"/>
                  <a:sym typeface="Arial"/>
                </a:rPr>
                <a:t>PatchTST converts historical time-series data into patches and uses a Transformer architecture to model patterns across time.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0456256" y="3526621"/>
            <a:ext cx="7507551" cy="469222"/>
            <a:chOff x="0" y="0"/>
            <a:chExt cx="8778240" cy="5486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778240" cy="548640"/>
            </a:xfrm>
            <a:custGeom>
              <a:avLst/>
              <a:gdLst/>
              <a:ahLst/>
              <a:cxnLst/>
              <a:rect r="r" b="b" t="t" l="l"/>
              <a:pathLst>
                <a:path h="54864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877824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299">
                  <a:solidFill>
                    <a:srgbClr val="4E59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REVENUE</a:t>
              </a:r>
            </a:p>
          </p:txBody>
        </p:sp>
      </p:grpSp>
      <p:pic>
        <p:nvPicPr>
          <p:cNvPr name="Picture 52" id="52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986027" y="3118224"/>
            <a:ext cx="9822379" cy="5554197"/>
          </a:xfrm>
          <a:prstGeom prst="rect">
            <a:avLst/>
          </a:prstGeom>
        </p:spPr>
      </p:pic>
      <p:sp>
        <p:nvSpPr>
          <p:cNvPr name="AutoShape 53" id="53"/>
          <p:cNvSpPr/>
          <p:nvPr/>
        </p:nvSpPr>
        <p:spPr>
          <a:xfrm>
            <a:off x="10213497" y="7819700"/>
            <a:ext cx="7445644" cy="16244"/>
          </a:xfrm>
          <a:prstGeom prst="line">
            <a:avLst/>
          </a:prstGeom>
          <a:ln cap="rnd" w="9525">
            <a:solidFill>
              <a:srgbClr val="D6DCD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4" id="54"/>
          <p:cNvGrpSpPr/>
          <p:nvPr/>
        </p:nvGrpSpPr>
        <p:grpSpPr>
          <a:xfrm rot="0">
            <a:off x="10456256" y="7906026"/>
            <a:ext cx="3128146" cy="469222"/>
            <a:chOff x="0" y="0"/>
            <a:chExt cx="3657600" cy="5486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657600" cy="548640"/>
            </a:xfrm>
            <a:custGeom>
              <a:avLst/>
              <a:gdLst/>
              <a:ahLst/>
              <a:cxnLst/>
              <a:rect r="r" b="b" t="t" l="l"/>
              <a:pathLst>
                <a:path h="5486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36576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4E5955"/>
                  </a:solidFill>
                  <a:latin typeface="Arial"/>
                  <a:ea typeface="Arial"/>
                  <a:cs typeface="Arial"/>
                  <a:sym typeface="Arial"/>
                </a:rPr>
                <a:t>Past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4210031" y="7906026"/>
            <a:ext cx="3128146" cy="469222"/>
            <a:chOff x="0" y="0"/>
            <a:chExt cx="3657600" cy="5486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657600" cy="548640"/>
            </a:xfrm>
            <a:custGeom>
              <a:avLst/>
              <a:gdLst/>
              <a:ahLst/>
              <a:cxnLst/>
              <a:rect r="r" b="b" t="t" l="l"/>
              <a:pathLst>
                <a:path h="54864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9050"/>
              <a:ext cx="36576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4E5955"/>
                  </a:solidFill>
                  <a:latin typeface="Arial"/>
                  <a:ea typeface="Arial"/>
                  <a:cs typeface="Arial"/>
                  <a:sym typeface="Arial"/>
                </a:rPr>
                <a:t>Future</a:t>
              </a:r>
            </a:p>
          </p:txBody>
        </p:sp>
      </p:grpSp>
      <p:sp>
        <p:nvSpPr>
          <p:cNvPr name="Freeform 60" id="60"/>
          <p:cNvSpPr/>
          <p:nvPr/>
        </p:nvSpPr>
        <p:spPr>
          <a:xfrm flipH="false" flipV="false" rot="0">
            <a:off x="16745946" y="515346"/>
            <a:ext cx="1026707" cy="1026707"/>
          </a:xfrm>
          <a:custGeom>
            <a:avLst/>
            <a:gdLst/>
            <a:ahLst/>
            <a:cxnLst/>
            <a:rect r="r" b="b" t="t" l="l"/>
            <a:pathLst>
              <a:path h="1026707" w="1026707">
                <a:moveTo>
                  <a:pt x="0" y="0"/>
                </a:moveTo>
                <a:lnTo>
                  <a:pt x="1026708" y="0"/>
                </a:lnTo>
                <a:lnTo>
                  <a:pt x="1026708" y="1026708"/>
                </a:lnTo>
                <a:lnTo>
                  <a:pt x="0" y="10267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1266207">
            <a:off x="13745433" y="5465598"/>
            <a:ext cx="3704481" cy="1852241"/>
          </a:xfrm>
          <a:custGeom>
            <a:avLst/>
            <a:gdLst/>
            <a:ahLst/>
            <a:cxnLst/>
            <a:rect r="r" b="b" t="t" l="l"/>
            <a:pathLst>
              <a:path h="1852241" w="3704481">
                <a:moveTo>
                  <a:pt x="0" y="0"/>
                </a:moveTo>
                <a:lnTo>
                  <a:pt x="3704481" y="0"/>
                </a:lnTo>
                <a:lnTo>
                  <a:pt x="3704481" y="1852241"/>
                </a:lnTo>
                <a:lnTo>
                  <a:pt x="0" y="18522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17220"/>
            <a:ext cx="18287543" cy="480060"/>
            <a:chOff x="0" y="0"/>
            <a:chExt cx="2438339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91" cy="640080"/>
            </a:xfrm>
            <a:custGeom>
              <a:avLst/>
              <a:gdLst/>
              <a:ahLst/>
              <a:cxnLst/>
              <a:rect r="r" b="b" t="t" l="l"/>
              <a:pathLst>
                <a:path h="640080" w="24383391">
                  <a:moveTo>
                    <a:pt x="0" y="0"/>
                  </a:moveTo>
                  <a:lnTo>
                    <a:pt x="24383391" y="0"/>
                  </a:lnTo>
                  <a:lnTo>
                    <a:pt x="24383391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2268" r="0" b="-69226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438339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 spc="299">
                  <a:solidFill>
                    <a:srgbClr val="1F6B4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FROM PREDICTION TO GROWTH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0" y="1041273"/>
            <a:ext cx="18287543" cy="8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 b="true">
                <a:solidFill>
                  <a:srgbClr val="161C19"/>
                </a:solidFill>
                <a:latin typeface="Arial Bold"/>
                <a:ea typeface="Arial Bold"/>
                <a:cs typeface="Arial Bold"/>
                <a:sym typeface="Arial Bold"/>
              </a:rPr>
              <a:t>We don't stop at forecasting.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0" y="1788128"/>
            <a:ext cx="18287543" cy="411480"/>
            <a:chOff x="0" y="0"/>
            <a:chExt cx="24383390" cy="5486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3391" cy="548640"/>
            </a:xfrm>
            <a:custGeom>
              <a:avLst/>
              <a:gdLst/>
              <a:ahLst/>
              <a:cxnLst/>
              <a:rect r="r" b="b" t="t" l="l"/>
              <a:pathLst>
                <a:path h="548640" w="24383391">
                  <a:moveTo>
                    <a:pt x="0" y="0"/>
                  </a:moveTo>
                  <a:lnTo>
                    <a:pt x="24383391" y="0"/>
                  </a:lnTo>
                  <a:lnTo>
                    <a:pt x="24383391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5980" r="0" b="-81598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438339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299">
                  <a:solidFill>
                    <a:srgbClr val="4E59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INPUT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33308" y="2352008"/>
            <a:ext cx="1660208" cy="1042988"/>
            <a:chOff x="0" y="0"/>
            <a:chExt cx="2213610" cy="13906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13610" cy="1390650"/>
            </a:xfrm>
            <a:custGeom>
              <a:avLst/>
              <a:gdLst/>
              <a:ahLst/>
              <a:cxnLst/>
              <a:rect r="r" b="b" t="t" l="l"/>
              <a:pathLst>
                <a:path h="1390650" w="2213610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2065274" y="0"/>
                  </a:lnTo>
                  <a:cubicBezTo>
                    <a:pt x="2147189" y="0"/>
                    <a:pt x="2213610" y="66421"/>
                    <a:pt x="2213610" y="148336"/>
                  </a:cubicBezTo>
                  <a:lnTo>
                    <a:pt x="2213610" y="1242314"/>
                  </a:lnTo>
                  <a:cubicBezTo>
                    <a:pt x="2213610" y="1324229"/>
                    <a:pt x="2147189" y="1390650"/>
                    <a:pt x="2065274" y="1390650"/>
                  </a:cubicBezTo>
                  <a:lnTo>
                    <a:pt x="148336" y="1390650"/>
                  </a:lnTo>
                  <a:cubicBezTo>
                    <a:pt x="66421" y="1390650"/>
                    <a:pt x="0" y="1324229"/>
                    <a:pt x="0" y="1242314"/>
                  </a:cubicBezTo>
                  <a:close/>
                </a:path>
              </a:pathLst>
            </a:custGeom>
            <a:solidFill>
              <a:srgbClr val="F6F8F6"/>
            </a:solidFill>
            <a:ln w="14288" cap="sq">
              <a:solidFill>
                <a:srgbClr val="D6DCD7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5440451" y="2496312"/>
            <a:ext cx="1645920" cy="411480"/>
            <a:chOff x="0" y="0"/>
            <a:chExt cx="2194560" cy="548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" cy="548640"/>
            </a:xfrm>
            <a:custGeom>
              <a:avLst/>
              <a:gdLst/>
              <a:ahLst/>
              <a:cxnLst/>
              <a:rect r="r" b="b" t="t" l="l"/>
              <a:pathLst>
                <a:path h="54864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219456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2A3330"/>
                  </a:solidFill>
                  <a:latin typeface="Arial"/>
                  <a:ea typeface="Arial"/>
                  <a:cs typeface="Arial"/>
                  <a:sym typeface="Arial"/>
                </a:rPr>
                <a:t>Revenue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440451" y="2880360"/>
            <a:ext cx="1645920" cy="411480"/>
            <a:chOff x="0" y="0"/>
            <a:chExt cx="2194560" cy="548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" cy="548640"/>
            </a:xfrm>
            <a:custGeom>
              <a:avLst/>
              <a:gdLst/>
              <a:ahLst/>
              <a:cxnLst/>
              <a:rect r="r" b="b" t="t" l="l"/>
              <a:pathLst>
                <a:path h="54864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219456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4E59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↓ 7%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353548" y="2352008"/>
            <a:ext cx="1660208" cy="1042988"/>
            <a:chOff x="0" y="0"/>
            <a:chExt cx="2213610" cy="13906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13610" cy="1390650"/>
            </a:xfrm>
            <a:custGeom>
              <a:avLst/>
              <a:gdLst/>
              <a:ahLst/>
              <a:cxnLst/>
              <a:rect r="r" b="b" t="t" l="l"/>
              <a:pathLst>
                <a:path h="1390650" w="2213610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2065274" y="0"/>
                  </a:lnTo>
                  <a:cubicBezTo>
                    <a:pt x="2147189" y="0"/>
                    <a:pt x="2213610" y="66421"/>
                    <a:pt x="2213610" y="148336"/>
                  </a:cubicBezTo>
                  <a:lnTo>
                    <a:pt x="2213610" y="1242314"/>
                  </a:lnTo>
                  <a:cubicBezTo>
                    <a:pt x="2213610" y="1324229"/>
                    <a:pt x="2147189" y="1390650"/>
                    <a:pt x="2065274" y="1390650"/>
                  </a:cubicBezTo>
                  <a:lnTo>
                    <a:pt x="148336" y="1390650"/>
                  </a:lnTo>
                  <a:cubicBezTo>
                    <a:pt x="66421" y="1390650"/>
                    <a:pt x="0" y="1324229"/>
                    <a:pt x="0" y="1242314"/>
                  </a:cubicBezTo>
                  <a:close/>
                </a:path>
              </a:pathLst>
            </a:custGeom>
            <a:solidFill>
              <a:srgbClr val="F6F8F6"/>
            </a:solidFill>
            <a:ln w="14288" cap="sq">
              <a:solidFill>
                <a:srgbClr val="D6DCD7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7360691" y="2496312"/>
            <a:ext cx="1645920" cy="411480"/>
            <a:chOff x="0" y="0"/>
            <a:chExt cx="2194560" cy="548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94560" cy="548640"/>
            </a:xfrm>
            <a:custGeom>
              <a:avLst/>
              <a:gdLst/>
              <a:ahLst/>
              <a:cxnLst/>
              <a:rect r="r" b="b" t="t" l="l"/>
              <a:pathLst>
                <a:path h="54864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219456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2A3330"/>
                  </a:solidFill>
                  <a:latin typeface="Arial"/>
                  <a:ea typeface="Arial"/>
                  <a:cs typeface="Arial"/>
                  <a:sym typeface="Arial"/>
                </a:rPr>
                <a:t>Expenses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360691" y="2880360"/>
            <a:ext cx="1645920" cy="411480"/>
            <a:chOff x="0" y="0"/>
            <a:chExt cx="2194560" cy="5486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94560" cy="548640"/>
            </a:xfrm>
            <a:custGeom>
              <a:avLst/>
              <a:gdLst/>
              <a:ahLst/>
              <a:cxnLst/>
              <a:rect r="r" b="b" t="t" l="l"/>
              <a:pathLst>
                <a:path h="54864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219456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F6B4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↑ 12%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273788" y="2352008"/>
            <a:ext cx="1660208" cy="1042988"/>
            <a:chOff x="0" y="0"/>
            <a:chExt cx="2213610" cy="13906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13610" cy="1390650"/>
            </a:xfrm>
            <a:custGeom>
              <a:avLst/>
              <a:gdLst/>
              <a:ahLst/>
              <a:cxnLst/>
              <a:rect r="r" b="b" t="t" l="l"/>
              <a:pathLst>
                <a:path h="1390650" w="2213610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2065274" y="0"/>
                  </a:lnTo>
                  <a:cubicBezTo>
                    <a:pt x="2147189" y="0"/>
                    <a:pt x="2213610" y="66421"/>
                    <a:pt x="2213610" y="148336"/>
                  </a:cubicBezTo>
                  <a:lnTo>
                    <a:pt x="2213610" y="1242314"/>
                  </a:lnTo>
                  <a:cubicBezTo>
                    <a:pt x="2213610" y="1324229"/>
                    <a:pt x="2147189" y="1390650"/>
                    <a:pt x="2065274" y="1390650"/>
                  </a:cubicBezTo>
                  <a:lnTo>
                    <a:pt x="148336" y="1390650"/>
                  </a:lnTo>
                  <a:cubicBezTo>
                    <a:pt x="66421" y="1390650"/>
                    <a:pt x="0" y="1324229"/>
                    <a:pt x="0" y="1242314"/>
                  </a:cubicBezTo>
                  <a:close/>
                </a:path>
              </a:pathLst>
            </a:custGeom>
            <a:solidFill>
              <a:srgbClr val="F6F8F6"/>
            </a:solidFill>
            <a:ln w="14288" cap="sq">
              <a:solidFill>
                <a:srgbClr val="D6DCD7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9280931" y="2496312"/>
            <a:ext cx="1645920" cy="411480"/>
            <a:chOff x="0" y="0"/>
            <a:chExt cx="2194560" cy="5486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94560" cy="548640"/>
            </a:xfrm>
            <a:custGeom>
              <a:avLst/>
              <a:gdLst/>
              <a:ahLst/>
              <a:cxnLst/>
              <a:rect r="r" b="b" t="t" l="l"/>
              <a:pathLst>
                <a:path h="54864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219456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2A3330"/>
                  </a:solidFill>
                  <a:latin typeface="Arial"/>
                  <a:ea typeface="Arial"/>
                  <a:cs typeface="Arial"/>
                  <a:sym typeface="Arial"/>
                </a:rPr>
                <a:t>Customers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280931" y="2880360"/>
            <a:ext cx="1645920" cy="411480"/>
            <a:chOff x="0" y="0"/>
            <a:chExt cx="2194560" cy="5486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94560" cy="548640"/>
            </a:xfrm>
            <a:custGeom>
              <a:avLst/>
              <a:gdLst/>
              <a:ahLst/>
              <a:cxnLst/>
              <a:rect r="r" b="b" t="t" l="l"/>
              <a:pathLst>
                <a:path h="54864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219456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4E59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↓ 4%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194028" y="2352008"/>
            <a:ext cx="1660208" cy="1042988"/>
            <a:chOff x="0" y="0"/>
            <a:chExt cx="2213610" cy="139065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213610" cy="1390650"/>
            </a:xfrm>
            <a:custGeom>
              <a:avLst/>
              <a:gdLst/>
              <a:ahLst/>
              <a:cxnLst/>
              <a:rect r="r" b="b" t="t" l="l"/>
              <a:pathLst>
                <a:path h="1390650" w="2213610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2065274" y="0"/>
                  </a:lnTo>
                  <a:cubicBezTo>
                    <a:pt x="2147189" y="0"/>
                    <a:pt x="2213610" y="66421"/>
                    <a:pt x="2213610" y="148336"/>
                  </a:cubicBezTo>
                  <a:lnTo>
                    <a:pt x="2213610" y="1242314"/>
                  </a:lnTo>
                  <a:cubicBezTo>
                    <a:pt x="2213610" y="1324229"/>
                    <a:pt x="2147189" y="1390650"/>
                    <a:pt x="2065274" y="1390650"/>
                  </a:cubicBezTo>
                  <a:lnTo>
                    <a:pt x="148336" y="1390650"/>
                  </a:lnTo>
                  <a:cubicBezTo>
                    <a:pt x="66421" y="1390650"/>
                    <a:pt x="0" y="1324229"/>
                    <a:pt x="0" y="1242314"/>
                  </a:cubicBezTo>
                  <a:close/>
                </a:path>
              </a:pathLst>
            </a:custGeom>
            <a:solidFill>
              <a:srgbClr val="F6F8F6"/>
            </a:solidFill>
            <a:ln w="14288" cap="sq">
              <a:solidFill>
                <a:srgbClr val="D6DCD7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1201171" y="2496312"/>
            <a:ext cx="1645920" cy="411480"/>
            <a:chOff x="0" y="0"/>
            <a:chExt cx="2194560" cy="5486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94560" cy="548640"/>
            </a:xfrm>
            <a:custGeom>
              <a:avLst/>
              <a:gdLst/>
              <a:ahLst/>
              <a:cxnLst/>
              <a:rect r="r" b="b" t="t" l="l"/>
              <a:pathLst>
                <a:path h="54864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219456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2A3330"/>
                  </a:solidFill>
                  <a:latin typeface="Arial"/>
                  <a:ea typeface="Arial"/>
                  <a:cs typeface="Arial"/>
                  <a:sym typeface="Arial"/>
                </a:rPr>
                <a:t>Inventory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201171" y="2880360"/>
            <a:ext cx="1645920" cy="411480"/>
            <a:chOff x="0" y="0"/>
            <a:chExt cx="2194560" cy="5486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94560" cy="548640"/>
            </a:xfrm>
            <a:custGeom>
              <a:avLst/>
              <a:gdLst/>
              <a:ahLst/>
              <a:cxnLst/>
              <a:rect r="r" b="b" t="t" l="l"/>
              <a:pathLst>
                <a:path h="54864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219456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1F6B4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↑ 18%</a:t>
              </a:r>
            </a:p>
          </p:txBody>
        </p:sp>
      </p:grpSp>
      <p:sp>
        <p:nvSpPr>
          <p:cNvPr name="AutoShape 41" id="41"/>
          <p:cNvSpPr/>
          <p:nvPr/>
        </p:nvSpPr>
        <p:spPr>
          <a:xfrm>
            <a:off x="9143771" y="3548824"/>
            <a:ext cx="0" cy="418719"/>
          </a:xfrm>
          <a:prstGeom prst="line">
            <a:avLst/>
          </a:prstGeom>
          <a:ln cap="rnd" w="19050">
            <a:solidFill>
              <a:srgbClr val="1F6B4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42" id="42"/>
          <p:cNvGrpSpPr/>
          <p:nvPr/>
        </p:nvGrpSpPr>
        <p:grpSpPr>
          <a:xfrm rot="0">
            <a:off x="4610348" y="4039076"/>
            <a:ext cx="9066848" cy="700088"/>
            <a:chOff x="0" y="0"/>
            <a:chExt cx="12089130" cy="93345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2089130" cy="933450"/>
            </a:xfrm>
            <a:custGeom>
              <a:avLst/>
              <a:gdLst/>
              <a:ahLst/>
              <a:cxnLst/>
              <a:rect r="r" b="b" t="t" l="l"/>
              <a:pathLst>
                <a:path h="933450" w="12089130">
                  <a:moveTo>
                    <a:pt x="0" y="149352"/>
                  </a:moveTo>
                  <a:cubicBezTo>
                    <a:pt x="0" y="66929"/>
                    <a:pt x="66929" y="0"/>
                    <a:pt x="149352" y="0"/>
                  </a:cubicBezTo>
                  <a:lnTo>
                    <a:pt x="11939778" y="0"/>
                  </a:lnTo>
                  <a:cubicBezTo>
                    <a:pt x="12022201" y="0"/>
                    <a:pt x="12089130" y="66929"/>
                    <a:pt x="12089130" y="149352"/>
                  </a:cubicBezTo>
                  <a:lnTo>
                    <a:pt x="12089130" y="784098"/>
                  </a:lnTo>
                  <a:cubicBezTo>
                    <a:pt x="12089130" y="866521"/>
                    <a:pt x="12022201" y="933450"/>
                    <a:pt x="11939778" y="933450"/>
                  </a:cubicBezTo>
                  <a:lnTo>
                    <a:pt x="149352" y="933450"/>
                  </a:lnTo>
                  <a:cubicBezTo>
                    <a:pt x="66929" y="933450"/>
                    <a:pt x="0" y="866521"/>
                    <a:pt x="0" y="784098"/>
                  </a:cubicBezTo>
                  <a:close/>
                </a:path>
              </a:pathLst>
            </a:custGeom>
            <a:solidFill>
              <a:srgbClr val="ECF2EE"/>
            </a:solidFill>
            <a:ln w="14288" cap="sq">
              <a:solidFill>
                <a:srgbClr val="D6DCD7"/>
              </a:solidFill>
              <a:prstDash val="solid"/>
              <a:miter/>
            </a:ln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12089130" cy="952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61C1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NEURAL NETWORK: Detects deviation from historical pattern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4265066" y="5339715"/>
            <a:ext cx="9757410" cy="2556510"/>
            <a:chOff x="0" y="0"/>
            <a:chExt cx="13009880" cy="34086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3009880" cy="3408680"/>
            </a:xfrm>
            <a:custGeom>
              <a:avLst/>
              <a:gdLst/>
              <a:ahLst/>
              <a:cxnLst/>
              <a:rect r="r" b="b" t="t" l="l"/>
              <a:pathLst>
                <a:path h="3408680" w="13009880">
                  <a:moveTo>
                    <a:pt x="0" y="221107"/>
                  </a:moveTo>
                  <a:cubicBezTo>
                    <a:pt x="0" y="98933"/>
                    <a:pt x="98933" y="0"/>
                    <a:pt x="221107" y="0"/>
                  </a:cubicBezTo>
                  <a:lnTo>
                    <a:pt x="12788773" y="0"/>
                  </a:lnTo>
                  <a:cubicBezTo>
                    <a:pt x="12910820" y="0"/>
                    <a:pt x="13009880" y="98933"/>
                    <a:pt x="13009880" y="221107"/>
                  </a:cubicBezTo>
                  <a:lnTo>
                    <a:pt x="13009880" y="3187573"/>
                  </a:lnTo>
                  <a:cubicBezTo>
                    <a:pt x="13009880" y="3309620"/>
                    <a:pt x="12910948" y="3408680"/>
                    <a:pt x="12788773" y="3408680"/>
                  </a:cubicBezTo>
                  <a:lnTo>
                    <a:pt x="221107" y="3408680"/>
                  </a:lnTo>
                  <a:cubicBezTo>
                    <a:pt x="98933" y="3408680"/>
                    <a:pt x="0" y="3309747"/>
                    <a:pt x="0" y="3187573"/>
                  </a:cubicBezTo>
                  <a:close/>
                </a:path>
              </a:pathLst>
            </a:custGeom>
            <a:solidFill>
              <a:srgbClr val="F6F8F6"/>
            </a:solidFill>
            <a:ln w="19050" cap="sq">
              <a:solidFill>
                <a:srgbClr val="1F6B4F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4274591" y="5623560"/>
            <a:ext cx="9738360" cy="411480"/>
            <a:chOff x="0" y="0"/>
            <a:chExt cx="12984480" cy="5486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2984480" cy="548640"/>
            </a:xfrm>
            <a:custGeom>
              <a:avLst/>
              <a:gdLst/>
              <a:ahLst/>
              <a:cxnLst/>
              <a:rect r="r" b="b" t="t" l="l"/>
              <a:pathLst>
                <a:path h="548640" w="12984480">
                  <a:moveTo>
                    <a:pt x="0" y="0"/>
                  </a:moveTo>
                  <a:lnTo>
                    <a:pt x="12984480" y="0"/>
                  </a:lnTo>
                  <a:lnTo>
                    <a:pt x="129844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1145" r="0" b="-41114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1298448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 spc="150">
                  <a:solidFill>
                    <a:srgbClr val="1F6B4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ASCEND: GROWTH OPPORTUNITY DETECTED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4265066" y="5933242"/>
            <a:ext cx="9738360" cy="438912"/>
            <a:chOff x="0" y="0"/>
            <a:chExt cx="12984480" cy="58521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2984480" cy="585216"/>
            </a:xfrm>
            <a:custGeom>
              <a:avLst/>
              <a:gdLst/>
              <a:ahLst/>
              <a:cxnLst/>
              <a:rect r="r" b="b" t="t" l="l"/>
              <a:pathLst>
                <a:path h="585216" w="12984480">
                  <a:moveTo>
                    <a:pt x="0" y="0"/>
                  </a:moveTo>
                  <a:lnTo>
                    <a:pt x="12984480" y="0"/>
                  </a:lnTo>
                  <a:lnTo>
                    <a:pt x="129844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2324" r="0" b="-382324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12984480" cy="594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161C19"/>
                  </a:solidFill>
                  <a:latin typeface="Arial"/>
                  <a:ea typeface="Arial"/>
                  <a:cs typeface="Arial"/>
                  <a:sym typeface="Arial"/>
                </a:rPr>
                <a:t>Inventory turnover has fallen 16% below your historical pattern.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4548911" y="6412230"/>
            <a:ext cx="9189720" cy="411480"/>
            <a:chOff x="0" y="0"/>
            <a:chExt cx="12252960" cy="5486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2252960" cy="548640"/>
            </a:xfrm>
            <a:custGeom>
              <a:avLst/>
              <a:gdLst/>
              <a:ahLst/>
              <a:cxnLst/>
              <a:rect r="r" b="b" t="t" l="l"/>
              <a:pathLst>
                <a:path h="548640" w="12252960">
                  <a:moveTo>
                    <a:pt x="0" y="0"/>
                  </a:moveTo>
                  <a:lnTo>
                    <a:pt x="12252960" y="0"/>
                  </a:lnTo>
                  <a:lnTo>
                    <a:pt x="122529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5165" r="0" b="-385165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1225296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4E5955"/>
                  </a:solidFill>
                  <a:latin typeface="Arial"/>
                  <a:ea typeface="Arial"/>
                  <a:cs typeface="Arial"/>
                  <a:sym typeface="Arial"/>
                </a:rPr>
                <a:t>Your strongest-selling category is maintaining demand while slower inventory is increasing.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7079228" y="7056596"/>
            <a:ext cx="1934527" cy="535496"/>
            <a:chOff x="0" y="0"/>
            <a:chExt cx="2579370" cy="71399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579370" cy="713994"/>
            </a:xfrm>
            <a:custGeom>
              <a:avLst/>
              <a:gdLst/>
              <a:ahLst/>
              <a:cxnLst/>
              <a:rect r="r" b="b" t="t" l="l"/>
              <a:pathLst>
                <a:path h="713994" w="2579370">
                  <a:moveTo>
                    <a:pt x="0" y="150368"/>
                  </a:moveTo>
                  <a:cubicBezTo>
                    <a:pt x="0" y="67310"/>
                    <a:pt x="67310" y="0"/>
                    <a:pt x="150368" y="0"/>
                  </a:cubicBezTo>
                  <a:lnTo>
                    <a:pt x="2429002" y="0"/>
                  </a:lnTo>
                  <a:cubicBezTo>
                    <a:pt x="2512060" y="0"/>
                    <a:pt x="2579370" y="67310"/>
                    <a:pt x="2579370" y="150368"/>
                  </a:cubicBezTo>
                  <a:lnTo>
                    <a:pt x="2579370" y="563626"/>
                  </a:lnTo>
                  <a:cubicBezTo>
                    <a:pt x="2579370" y="646684"/>
                    <a:pt x="2512060" y="713994"/>
                    <a:pt x="2429002" y="713994"/>
                  </a:cubicBezTo>
                  <a:lnTo>
                    <a:pt x="150368" y="713994"/>
                  </a:lnTo>
                  <a:cubicBezTo>
                    <a:pt x="67310" y="713994"/>
                    <a:pt x="0" y="646684"/>
                    <a:pt x="0" y="563626"/>
                  </a:cubicBezTo>
                  <a:close/>
                </a:path>
              </a:pathLst>
            </a:custGeom>
            <a:solidFill>
              <a:srgbClr val="E1EEE7"/>
            </a:solidFill>
            <a:ln w="14288" cap="sq">
              <a:solidFill>
                <a:srgbClr val="1F6B4F"/>
              </a:solidFill>
              <a:prstDash val="solid"/>
              <a:miter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2579370" cy="7330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F6B4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View inventory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273788" y="7056596"/>
            <a:ext cx="2071688" cy="535496"/>
            <a:chOff x="0" y="0"/>
            <a:chExt cx="2762250" cy="71399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762250" cy="713994"/>
            </a:xfrm>
            <a:custGeom>
              <a:avLst/>
              <a:gdLst/>
              <a:ahLst/>
              <a:cxnLst/>
              <a:rect r="r" b="b" t="t" l="l"/>
              <a:pathLst>
                <a:path h="713994" w="2762250">
                  <a:moveTo>
                    <a:pt x="0" y="150368"/>
                  </a:moveTo>
                  <a:cubicBezTo>
                    <a:pt x="0" y="67310"/>
                    <a:pt x="67310" y="0"/>
                    <a:pt x="150368" y="0"/>
                  </a:cubicBezTo>
                  <a:lnTo>
                    <a:pt x="2611882" y="0"/>
                  </a:lnTo>
                  <a:cubicBezTo>
                    <a:pt x="2694940" y="0"/>
                    <a:pt x="2762250" y="67310"/>
                    <a:pt x="2762250" y="150368"/>
                  </a:cubicBezTo>
                  <a:lnTo>
                    <a:pt x="2762250" y="563626"/>
                  </a:lnTo>
                  <a:cubicBezTo>
                    <a:pt x="2762250" y="646684"/>
                    <a:pt x="2694940" y="713994"/>
                    <a:pt x="2611882" y="713994"/>
                  </a:cubicBezTo>
                  <a:lnTo>
                    <a:pt x="150368" y="713994"/>
                  </a:lnTo>
                  <a:cubicBezTo>
                    <a:pt x="67310" y="713994"/>
                    <a:pt x="0" y="646684"/>
                    <a:pt x="0" y="563626"/>
                  </a:cubicBezTo>
                  <a:close/>
                </a:path>
              </a:pathLst>
            </a:custGeom>
            <a:solidFill>
              <a:srgbClr val="ECF2EE"/>
            </a:solidFill>
            <a:ln w="14288" cap="sq">
              <a:solidFill>
                <a:srgbClr val="D6DCD7"/>
              </a:solidFill>
              <a:prstDash val="solid"/>
              <a:miter/>
            </a:ln>
          </p:spPr>
        </p:sp>
        <p:sp>
          <p:nvSpPr>
            <p:cNvPr name="TextBox 61" id="61"/>
            <p:cNvSpPr txBox="true"/>
            <p:nvPr/>
          </p:nvSpPr>
          <p:spPr>
            <a:xfrm>
              <a:off x="0" y="-19050"/>
              <a:ext cx="2762250" cy="7330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61C1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Explore scenario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2057400" y="8298180"/>
            <a:ext cx="14172743" cy="480060"/>
            <a:chOff x="0" y="0"/>
            <a:chExt cx="18896990" cy="64008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8896991" cy="640080"/>
            </a:xfrm>
            <a:custGeom>
              <a:avLst/>
              <a:gdLst/>
              <a:ahLst/>
              <a:cxnLst/>
              <a:rect r="r" b="b" t="t" l="l"/>
              <a:pathLst>
                <a:path h="640080" w="18896991">
                  <a:moveTo>
                    <a:pt x="0" y="0"/>
                  </a:moveTo>
                  <a:lnTo>
                    <a:pt x="18896991" y="0"/>
                  </a:lnTo>
                  <a:lnTo>
                    <a:pt x="18896991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5253" r="0" b="-525253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19050"/>
              <a:ext cx="1889699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4E5955"/>
                  </a:solidFill>
                  <a:latin typeface="Arial"/>
                  <a:ea typeface="Arial"/>
                  <a:cs typeface="Arial"/>
                  <a:sym typeface="Arial"/>
                </a:rPr>
                <a:t>The neural network detects the pattern. Ascend translates the pattern into something a business owner can act on.</a:t>
              </a:r>
            </a:p>
          </p:txBody>
        </p:sp>
      </p:grpSp>
      <p:sp>
        <p:nvSpPr>
          <p:cNvPr name="AutoShape 65" id="65"/>
          <p:cNvSpPr/>
          <p:nvPr/>
        </p:nvSpPr>
        <p:spPr>
          <a:xfrm>
            <a:off x="9153525" y="4830080"/>
            <a:ext cx="0" cy="418719"/>
          </a:xfrm>
          <a:prstGeom prst="line">
            <a:avLst/>
          </a:prstGeom>
          <a:ln cap="rnd" w="19050">
            <a:solidFill>
              <a:srgbClr val="1F6B4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66" id="66"/>
          <p:cNvSpPr/>
          <p:nvPr/>
        </p:nvSpPr>
        <p:spPr>
          <a:xfrm flipH="false" flipV="false" rot="0">
            <a:off x="16745946" y="515346"/>
            <a:ext cx="1026707" cy="1026707"/>
          </a:xfrm>
          <a:custGeom>
            <a:avLst/>
            <a:gdLst/>
            <a:ahLst/>
            <a:cxnLst/>
            <a:rect r="r" b="b" t="t" l="l"/>
            <a:pathLst>
              <a:path h="1026707" w="1026707">
                <a:moveTo>
                  <a:pt x="0" y="0"/>
                </a:moveTo>
                <a:lnTo>
                  <a:pt x="1026708" y="0"/>
                </a:lnTo>
                <a:lnTo>
                  <a:pt x="1026708" y="1026708"/>
                </a:lnTo>
                <a:lnTo>
                  <a:pt x="0" y="10267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8554" y="964115"/>
            <a:ext cx="18287543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 b="true">
                <a:solidFill>
                  <a:srgbClr val="161C19"/>
                </a:solidFill>
                <a:latin typeface="Arial Bold"/>
                <a:ea typeface="Arial Bold"/>
                <a:cs typeface="Arial Bold"/>
                <a:sym typeface="Arial Bold"/>
              </a:rPr>
              <a:t>From raw data → one clear picture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65387" y="2026181"/>
            <a:ext cx="15757227" cy="7862646"/>
            <a:chOff x="0" y="0"/>
            <a:chExt cx="20379080" cy="1016889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379055" cy="10168890"/>
            </a:xfrm>
            <a:custGeom>
              <a:avLst/>
              <a:gdLst/>
              <a:ahLst/>
              <a:cxnLst/>
              <a:rect r="r" b="b" t="t" l="l"/>
              <a:pathLst>
                <a:path h="10168890" w="20379055">
                  <a:moveTo>
                    <a:pt x="0" y="274828"/>
                  </a:moveTo>
                  <a:cubicBezTo>
                    <a:pt x="0" y="123063"/>
                    <a:pt x="123063" y="0"/>
                    <a:pt x="274828" y="0"/>
                  </a:cubicBezTo>
                  <a:lnTo>
                    <a:pt x="20104227" y="0"/>
                  </a:lnTo>
                  <a:cubicBezTo>
                    <a:pt x="20255992" y="0"/>
                    <a:pt x="20379055" y="123063"/>
                    <a:pt x="20379055" y="274828"/>
                  </a:cubicBezTo>
                  <a:lnTo>
                    <a:pt x="20379055" y="9894062"/>
                  </a:lnTo>
                  <a:cubicBezTo>
                    <a:pt x="20379055" y="10045827"/>
                    <a:pt x="20255992" y="10168890"/>
                    <a:pt x="20104227" y="10168890"/>
                  </a:cubicBezTo>
                  <a:lnTo>
                    <a:pt x="274828" y="10168890"/>
                  </a:lnTo>
                  <a:cubicBezTo>
                    <a:pt x="123063" y="10168890"/>
                    <a:pt x="0" y="10045827"/>
                    <a:pt x="0" y="9894062"/>
                  </a:cubicBezTo>
                  <a:close/>
                </a:path>
              </a:pathLst>
            </a:custGeom>
            <a:solidFill>
              <a:srgbClr val="F6F8F6"/>
            </a:solidFill>
            <a:ln w="14288" cap="sq">
              <a:solidFill>
                <a:srgbClr val="D6DCD7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767665" y="2387055"/>
            <a:ext cx="5656156" cy="565616"/>
            <a:chOff x="0" y="0"/>
            <a:chExt cx="73152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31520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73152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61C1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Bella's Café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864179" y="2387055"/>
            <a:ext cx="5656156" cy="565616"/>
            <a:chOff x="0" y="0"/>
            <a:chExt cx="731520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31520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73152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340"/>
                </a:lnSpc>
              </a:pPr>
              <a:r>
                <a:rPr lang="en-US" sz="1950">
                  <a:solidFill>
                    <a:srgbClr val="4E5955"/>
                  </a:solidFill>
                  <a:latin typeface="Arial"/>
                  <a:ea typeface="Arial"/>
                  <a:cs typeface="Arial"/>
                  <a:sym typeface="Arial"/>
                </a:rPr>
                <a:t>Growth Health  </a:t>
              </a:r>
              <a:r>
                <a:rPr lang="en-US" sz="1950" b="true">
                  <a:solidFill>
                    <a:srgbClr val="1F6B4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82 / 100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60300" y="3157412"/>
            <a:ext cx="4790882" cy="1428769"/>
            <a:chOff x="0" y="0"/>
            <a:chExt cx="6196127" cy="18478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196076" cy="1847850"/>
            </a:xfrm>
            <a:custGeom>
              <a:avLst/>
              <a:gdLst/>
              <a:ahLst/>
              <a:cxnLst/>
              <a:rect r="r" b="b" t="t" l="l"/>
              <a:pathLst>
                <a:path h="1847850" w="6196076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6048248" y="0"/>
                  </a:lnTo>
                  <a:cubicBezTo>
                    <a:pt x="6129909" y="0"/>
                    <a:pt x="6196076" y="66167"/>
                    <a:pt x="6196076" y="147828"/>
                  </a:cubicBezTo>
                  <a:lnTo>
                    <a:pt x="6196076" y="1700022"/>
                  </a:lnTo>
                  <a:cubicBezTo>
                    <a:pt x="6196076" y="1781683"/>
                    <a:pt x="6129909" y="1847850"/>
                    <a:pt x="6048248" y="1847850"/>
                  </a:cubicBezTo>
                  <a:lnTo>
                    <a:pt x="147828" y="1847850"/>
                  </a:lnTo>
                  <a:cubicBezTo>
                    <a:pt x="66167" y="1847850"/>
                    <a:pt x="0" y="1781683"/>
                    <a:pt x="0" y="1700022"/>
                  </a:cubicBezTo>
                  <a:close/>
                </a:path>
              </a:pathLst>
            </a:custGeom>
            <a:solidFill>
              <a:srgbClr val="ECF2EE"/>
            </a:solidFill>
            <a:ln w="14288" cap="sq">
              <a:solidFill>
                <a:srgbClr val="D6DCD7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2050473" y="3334462"/>
            <a:ext cx="4210537" cy="353510"/>
            <a:chOff x="0" y="0"/>
            <a:chExt cx="5445557" cy="457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445556" cy="457200"/>
            </a:xfrm>
            <a:custGeom>
              <a:avLst/>
              <a:gdLst/>
              <a:ahLst/>
              <a:cxnLst/>
              <a:rect r="r" b="b" t="t" l="l"/>
              <a:pathLst>
                <a:path h="457200" w="5445556">
                  <a:moveTo>
                    <a:pt x="0" y="0"/>
                  </a:moveTo>
                  <a:lnTo>
                    <a:pt x="5445556" y="0"/>
                  </a:lnTo>
                  <a:lnTo>
                    <a:pt x="5445556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2079" r="0" b="-182079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5445557" cy="476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4E5955"/>
                  </a:solidFill>
                  <a:latin typeface="Arial"/>
                  <a:ea typeface="Arial"/>
                  <a:cs typeface="Arial"/>
                  <a:sym typeface="Arial"/>
                </a:rPr>
                <a:t>Revenue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050473" y="3702112"/>
            <a:ext cx="4210537" cy="494914"/>
            <a:chOff x="0" y="0"/>
            <a:chExt cx="5445557" cy="6400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445556" cy="640080"/>
            </a:xfrm>
            <a:custGeom>
              <a:avLst/>
              <a:gdLst/>
              <a:ahLst/>
              <a:cxnLst/>
              <a:rect r="r" b="b" t="t" l="l"/>
              <a:pathLst>
                <a:path h="640080" w="5445556">
                  <a:moveTo>
                    <a:pt x="0" y="0"/>
                  </a:moveTo>
                  <a:lnTo>
                    <a:pt x="5445556" y="0"/>
                  </a:lnTo>
                  <a:lnTo>
                    <a:pt x="5445556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771" r="0" b="-11577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5445557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61C1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$48,240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050473" y="4182885"/>
            <a:ext cx="4210537" cy="311089"/>
            <a:chOff x="0" y="0"/>
            <a:chExt cx="5445557" cy="40233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445556" cy="402336"/>
            </a:xfrm>
            <a:custGeom>
              <a:avLst/>
              <a:gdLst/>
              <a:ahLst/>
              <a:cxnLst/>
              <a:rect r="r" b="b" t="t" l="l"/>
              <a:pathLst>
                <a:path h="402336" w="5445556">
                  <a:moveTo>
                    <a:pt x="0" y="0"/>
                  </a:moveTo>
                  <a:lnTo>
                    <a:pt x="5445556" y="0"/>
                  </a:lnTo>
                  <a:lnTo>
                    <a:pt x="5445556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3727" r="0" b="-21372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5445557" cy="4213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1F6B4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↑ 8.4%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748559" y="3157412"/>
            <a:ext cx="4790882" cy="1428769"/>
            <a:chOff x="0" y="0"/>
            <a:chExt cx="6196127" cy="184785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196076" cy="1847850"/>
            </a:xfrm>
            <a:custGeom>
              <a:avLst/>
              <a:gdLst/>
              <a:ahLst/>
              <a:cxnLst/>
              <a:rect r="r" b="b" t="t" l="l"/>
              <a:pathLst>
                <a:path h="1847850" w="6196076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6048248" y="0"/>
                  </a:lnTo>
                  <a:cubicBezTo>
                    <a:pt x="6129909" y="0"/>
                    <a:pt x="6196076" y="66167"/>
                    <a:pt x="6196076" y="147828"/>
                  </a:cubicBezTo>
                  <a:lnTo>
                    <a:pt x="6196076" y="1700022"/>
                  </a:lnTo>
                  <a:cubicBezTo>
                    <a:pt x="6196076" y="1781683"/>
                    <a:pt x="6129909" y="1847850"/>
                    <a:pt x="6048248" y="1847850"/>
                  </a:cubicBezTo>
                  <a:lnTo>
                    <a:pt x="147828" y="1847850"/>
                  </a:lnTo>
                  <a:cubicBezTo>
                    <a:pt x="66167" y="1847850"/>
                    <a:pt x="0" y="1781683"/>
                    <a:pt x="0" y="1700022"/>
                  </a:cubicBezTo>
                  <a:close/>
                </a:path>
              </a:pathLst>
            </a:custGeom>
            <a:solidFill>
              <a:srgbClr val="ECF2EE"/>
            </a:solidFill>
            <a:ln w="14288" cap="sq">
              <a:solidFill>
                <a:srgbClr val="D6DCD7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7038731" y="3334462"/>
            <a:ext cx="4210537" cy="353510"/>
            <a:chOff x="0" y="0"/>
            <a:chExt cx="5445557" cy="4572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445556" cy="457200"/>
            </a:xfrm>
            <a:custGeom>
              <a:avLst/>
              <a:gdLst/>
              <a:ahLst/>
              <a:cxnLst/>
              <a:rect r="r" b="b" t="t" l="l"/>
              <a:pathLst>
                <a:path h="457200" w="5445556">
                  <a:moveTo>
                    <a:pt x="0" y="0"/>
                  </a:moveTo>
                  <a:lnTo>
                    <a:pt x="5445556" y="0"/>
                  </a:lnTo>
                  <a:lnTo>
                    <a:pt x="5445556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2079" r="0" b="-182079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5445557" cy="476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4E5955"/>
                  </a:solidFill>
                  <a:latin typeface="Arial"/>
                  <a:ea typeface="Arial"/>
                  <a:cs typeface="Arial"/>
                  <a:sym typeface="Arial"/>
                </a:rPr>
                <a:t>Cash Flow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038731" y="3702112"/>
            <a:ext cx="4210537" cy="494914"/>
            <a:chOff x="0" y="0"/>
            <a:chExt cx="5445557" cy="6400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445556" cy="640080"/>
            </a:xfrm>
            <a:custGeom>
              <a:avLst/>
              <a:gdLst/>
              <a:ahLst/>
              <a:cxnLst/>
              <a:rect r="r" b="b" t="t" l="l"/>
              <a:pathLst>
                <a:path h="640080" w="5445556">
                  <a:moveTo>
                    <a:pt x="0" y="0"/>
                  </a:moveTo>
                  <a:lnTo>
                    <a:pt x="5445556" y="0"/>
                  </a:lnTo>
                  <a:lnTo>
                    <a:pt x="5445556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771" r="0" b="-115771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5445557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61C1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$11,820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038731" y="4182885"/>
            <a:ext cx="4210537" cy="311089"/>
            <a:chOff x="0" y="0"/>
            <a:chExt cx="5445557" cy="40233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445556" cy="402336"/>
            </a:xfrm>
            <a:custGeom>
              <a:avLst/>
              <a:gdLst/>
              <a:ahLst/>
              <a:cxnLst/>
              <a:rect r="r" b="b" t="t" l="l"/>
              <a:pathLst>
                <a:path h="402336" w="5445556">
                  <a:moveTo>
                    <a:pt x="0" y="0"/>
                  </a:moveTo>
                  <a:lnTo>
                    <a:pt x="5445556" y="0"/>
                  </a:lnTo>
                  <a:lnTo>
                    <a:pt x="5445556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3727" r="0" b="-213727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5445557" cy="4213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1F6B4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↑ 11.2%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736817" y="3157412"/>
            <a:ext cx="4790882" cy="1428769"/>
            <a:chOff x="0" y="0"/>
            <a:chExt cx="6196127" cy="184785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196076" cy="1847850"/>
            </a:xfrm>
            <a:custGeom>
              <a:avLst/>
              <a:gdLst/>
              <a:ahLst/>
              <a:cxnLst/>
              <a:rect r="r" b="b" t="t" l="l"/>
              <a:pathLst>
                <a:path h="1847850" w="6196076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6048248" y="0"/>
                  </a:lnTo>
                  <a:cubicBezTo>
                    <a:pt x="6129909" y="0"/>
                    <a:pt x="6196076" y="66167"/>
                    <a:pt x="6196076" y="147828"/>
                  </a:cubicBezTo>
                  <a:lnTo>
                    <a:pt x="6196076" y="1700022"/>
                  </a:lnTo>
                  <a:cubicBezTo>
                    <a:pt x="6196076" y="1781683"/>
                    <a:pt x="6129909" y="1847850"/>
                    <a:pt x="6048248" y="1847850"/>
                  </a:cubicBezTo>
                  <a:lnTo>
                    <a:pt x="147828" y="1847850"/>
                  </a:lnTo>
                  <a:cubicBezTo>
                    <a:pt x="66167" y="1847850"/>
                    <a:pt x="0" y="1781683"/>
                    <a:pt x="0" y="1700022"/>
                  </a:cubicBezTo>
                  <a:close/>
                </a:path>
              </a:pathLst>
            </a:custGeom>
            <a:solidFill>
              <a:srgbClr val="ECF2EE"/>
            </a:solidFill>
            <a:ln w="14288" cap="sq">
              <a:solidFill>
                <a:srgbClr val="D6DCD7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2026990" y="3334462"/>
            <a:ext cx="4210537" cy="353510"/>
            <a:chOff x="0" y="0"/>
            <a:chExt cx="5445557" cy="4572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445556" cy="457200"/>
            </a:xfrm>
            <a:custGeom>
              <a:avLst/>
              <a:gdLst/>
              <a:ahLst/>
              <a:cxnLst/>
              <a:rect r="r" b="b" t="t" l="l"/>
              <a:pathLst>
                <a:path h="457200" w="5445556">
                  <a:moveTo>
                    <a:pt x="0" y="0"/>
                  </a:moveTo>
                  <a:lnTo>
                    <a:pt x="5445556" y="0"/>
                  </a:lnTo>
                  <a:lnTo>
                    <a:pt x="5445556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2079" r="0" b="-182079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5445557" cy="476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4E5955"/>
                  </a:solidFill>
                  <a:latin typeface="Arial"/>
                  <a:ea typeface="Arial"/>
                  <a:cs typeface="Arial"/>
                  <a:sym typeface="Arial"/>
                </a:rPr>
                <a:t>Growth Signal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026990" y="3702112"/>
            <a:ext cx="4210537" cy="494914"/>
            <a:chOff x="0" y="0"/>
            <a:chExt cx="5445557" cy="6400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445556" cy="640080"/>
            </a:xfrm>
            <a:custGeom>
              <a:avLst/>
              <a:gdLst/>
              <a:ahLst/>
              <a:cxnLst/>
              <a:rect r="r" b="b" t="t" l="l"/>
              <a:pathLst>
                <a:path h="640080" w="5445556">
                  <a:moveTo>
                    <a:pt x="0" y="0"/>
                  </a:moveTo>
                  <a:lnTo>
                    <a:pt x="5445556" y="0"/>
                  </a:lnTo>
                  <a:lnTo>
                    <a:pt x="5445556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771" r="0" b="-115771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5445557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F6B4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HIGH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760300" y="4854259"/>
            <a:ext cx="14767399" cy="2984212"/>
            <a:chOff x="0" y="0"/>
            <a:chExt cx="19098920" cy="385953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9098895" cy="3859530"/>
            </a:xfrm>
            <a:custGeom>
              <a:avLst/>
              <a:gdLst/>
              <a:ahLst/>
              <a:cxnLst/>
              <a:rect r="r" b="b" t="t" l="l"/>
              <a:pathLst>
                <a:path h="3859530" w="19098895">
                  <a:moveTo>
                    <a:pt x="0" y="147066"/>
                  </a:moveTo>
                  <a:cubicBezTo>
                    <a:pt x="0" y="65786"/>
                    <a:pt x="65786" y="0"/>
                    <a:pt x="147066" y="0"/>
                  </a:cubicBezTo>
                  <a:lnTo>
                    <a:pt x="18951829" y="0"/>
                  </a:lnTo>
                  <a:cubicBezTo>
                    <a:pt x="19032982" y="0"/>
                    <a:pt x="19098895" y="65786"/>
                    <a:pt x="19098895" y="147066"/>
                  </a:cubicBezTo>
                  <a:lnTo>
                    <a:pt x="19098895" y="3712464"/>
                  </a:lnTo>
                  <a:cubicBezTo>
                    <a:pt x="19098895" y="3793617"/>
                    <a:pt x="19033110" y="3859530"/>
                    <a:pt x="18951829" y="3859530"/>
                  </a:cubicBezTo>
                  <a:lnTo>
                    <a:pt x="147066" y="3859530"/>
                  </a:lnTo>
                  <a:cubicBezTo>
                    <a:pt x="65786" y="3859530"/>
                    <a:pt x="0" y="3793744"/>
                    <a:pt x="0" y="3712464"/>
                  </a:cubicBezTo>
                  <a:close/>
                </a:path>
              </a:pathLst>
            </a:custGeom>
            <a:solidFill>
              <a:srgbClr val="ECF2EE"/>
            </a:solidFill>
            <a:ln w="14288" cap="sq">
              <a:solidFill>
                <a:srgbClr val="D6DCD7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2050473" y="5031308"/>
            <a:ext cx="5656156" cy="424212"/>
            <a:chOff x="0" y="0"/>
            <a:chExt cx="7315200" cy="5486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31520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73152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A3330"/>
                  </a:solidFill>
                  <a:latin typeface="Arial"/>
                  <a:ea typeface="Arial"/>
                  <a:cs typeface="Arial"/>
                  <a:sym typeface="Arial"/>
                </a:rPr>
                <a:t>Revenue vs. Forecast</a:t>
              </a:r>
            </a:p>
          </p:txBody>
        </p:sp>
      </p:grpSp>
      <p:pic>
        <p:nvPicPr>
          <p:cNvPr name="Picture 46" id="4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33802" y="3356504"/>
            <a:ext cx="17420395" cy="5808464"/>
          </a:xfrm>
          <a:prstGeom prst="rect">
            <a:avLst/>
          </a:prstGeom>
        </p:spPr>
      </p:pic>
      <p:grpSp>
        <p:nvGrpSpPr>
          <p:cNvPr name="Group 47" id="47"/>
          <p:cNvGrpSpPr/>
          <p:nvPr/>
        </p:nvGrpSpPr>
        <p:grpSpPr>
          <a:xfrm rot="0">
            <a:off x="1760300" y="8106549"/>
            <a:ext cx="14767399" cy="721749"/>
            <a:chOff x="0" y="0"/>
            <a:chExt cx="19098920" cy="93345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9098895" cy="933450"/>
            </a:xfrm>
            <a:custGeom>
              <a:avLst/>
              <a:gdLst/>
              <a:ahLst/>
              <a:cxnLst/>
              <a:rect r="r" b="b" t="t" l="l"/>
              <a:pathLst>
                <a:path h="933450" w="19098895">
                  <a:moveTo>
                    <a:pt x="0" y="112014"/>
                  </a:moveTo>
                  <a:cubicBezTo>
                    <a:pt x="0" y="50165"/>
                    <a:pt x="50165" y="0"/>
                    <a:pt x="112014" y="0"/>
                  </a:cubicBezTo>
                  <a:lnTo>
                    <a:pt x="18986881" y="0"/>
                  </a:lnTo>
                  <a:cubicBezTo>
                    <a:pt x="19048730" y="0"/>
                    <a:pt x="19098895" y="50165"/>
                    <a:pt x="19098895" y="112014"/>
                  </a:cubicBezTo>
                  <a:lnTo>
                    <a:pt x="19098895" y="821436"/>
                  </a:lnTo>
                  <a:cubicBezTo>
                    <a:pt x="19098895" y="883285"/>
                    <a:pt x="19048730" y="933450"/>
                    <a:pt x="18986881" y="933450"/>
                  </a:cubicBezTo>
                  <a:lnTo>
                    <a:pt x="112014" y="933450"/>
                  </a:lnTo>
                  <a:cubicBezTo>
                    <a:pt x="50165" y="933450"/>
                    <a:pt x="0" y="883285"/>
                    <a:pt x="0" y="821436"/>
                  </a:cubicBezTo>
                  <a:close/>
                </a:path>
              </a:pathLst>
            </a:custGeom>
            <a:solidFill>
              <a:srgbClr val="E1EEE7"/>
            </a:solidFill>
            <a:ln w="14288" cap="sq">
              <a:solidFill>
                <a:srgbClr val="2E8A67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2050473" y="8113914"/>
            <a:ext cx="11312313" cy="707020"/>
            <a:chOff x="0" y="0"/>
            <a:chExt cx="14630400" cy="9144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4630400" cy="914400"/>
            </a:xfrm>
            <a:custGeom>
              <a:avLst/>
              <a:gdLst/>
              <a:ahLst/>
              <a:cxnLst/>
              <a:rect r="r" b="b" t="t" l="l"/>
              <a:pathLst>
                <a:path h="91440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14630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1F6B4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✦ Opportunity  </a:t>
              </a:r>
              <a:r>
                <a:rPr lang="en-US" sz="1800">
                  <a:solidFill>
                    <a:srgbClr val="2A3330"/>
                  </a:solidFill>
                  <a:latin typeface="Arial"/>
                  <a:ea typeface="Arial"/>
                  <a:cs typeface="Arial"/>
                  <a:sym typeface="Arial"/>
                </a:rPr>
                <a:t>Weekday demand is 18% below your weekend-adjusted potential.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3480151" y="8103603"/>
            <a:ext cx="2898780" cy="707020"/>
            <a:chOff x="0" y="0"/>
            <a:chExt cx="3749040" cy="9144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749040" cy="914400"/>
            </a:xfrm>
            <a:custGeom>
              <a:avLst/>
              <a:gdLst/>
              <a:ahLst/>
              <a:cxnLst/>
              <a:rect r="r" b="b" t="t" l="l"/>
              <a:pathLst>
                <a:path h="914400" w="3749040">
                  <a:moveTo>
                    <a:pt x="0" y="0"/>
                  </a:moveTo>
                  <a:lnTo>
                    <a:pt x="3749040" y="0"/>
                  </a:lnTo>
                  <a:lnTo>
                    <a:pt x="37490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888" r="0" b="-29888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374904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1F6B4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Explore why →</a:t>
              </a: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16745946" y="515346"/>
            <a:ext cx="1026707" cy="1026707"/>
          </a:xfrm>
          <a:custGeom>
            <a:avLst/>
            <a:gdLst/>
            <a:ahLst/>
            <a:cxnLst/>
            <a:rect r="r" b="b" t="t" l="l"/>
            <a:pathLst>
              <a:path h="1026707" w="1026707">
                <a:moveTo>
                  <a:pt x="0" y="0"/>
                </a:moveTo>
                <a:lnTo>
                  <a:pt x="1026708" y="0"/>
                </a:lnTo>
                <a:lnTo>
                  <a:pt x="1026708" y="1026708"/>
                </a:lnTo>
                <a:lnTo>
                  <a:pt x="0" y="10267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0" y="209963"/>
            <a:ext cx="18287543" cy="1006234"/>
            <a:chOff x="0" y="0"/>
            <a:chExt cx="24383390" cy="1341645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4383391" cy="1341645"/>
            </a:xfrm>
            <a:custGeom>
              <a:avLst/>
              <a:gdLst/>
              <a:ahLst/>
              <a:cxnLst/>
              <a:rect r="r" b="b" t="t" l="l"/>
              <a:pathLst>
                <a:path h="1341645" w="24383391">
                  <a:moveTo>
                    <a:pt x="0" y="0"/>
                  </a:moveTo>
                  <a:lnTo>
                    <a:pt x="24383391" y="0"/>
                  </a:lnTo>
                  <a:lnTo>
                    <a:pt x="24383391" y="1341645"/>
                  </a:lnTo>
                  <a:lnTo>
                    <a:pt x="0" y="13416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0271" r="0" b="-27798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24383390" cy="13606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 spc="299">
                  <a:solidFill>
                    <a:srgbClr val="1F6B4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 USER EXPERIENCE</a:t>
              </a:r>
            </a:p>
          </p:txBody>
        </p:sp>
      </p:grpSp>
      <p:sp>
        <p:nvSpPr>
          <p:cNvPr name="Freeform 59" id="59"/>
          <p:cNvSpPr/>
          <p:nvPr/>
        </p:nvSpPr>
        <p:spPr>
          <a:xfrm flipH="false" flipV="false" rot="1266207">
            <a:off x="8729311" y="5531515"/>
            <a:ext cx="4148339" cy="2074170"/>
          </a:xfrm>
          <a:custGeom>
            <a:avLst/>
            <a:gdLst/>
            <a:ahLst/>
            <a:cxnLst/>
            <a:rect r="r" b="b" t="t" l="l"/>
            <a:pathLst>
              <a:path h="2074170" w="4148339">
                <a:moveTo>
                  <a:pt x="0" y="0"/>
                </a:moveTo>
                <a:lnTo>
                  <a:pt x="4148339" y="0"/>
                </a:lnTo>
                <a:lnTo>
                  <a:pt x="4148339" y="2074170"/>
                </a:lnTo>
                <a:lnTo>
                  <a:pt x="0" y="20741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85800"/>
            <a:ext cx="18287543" cy="480060"/>
            <a:chOff x="0" y="0"/>
            <a:chExt cx="2438339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3391" cy="640080"/>
            </a:xfrm>
            <a:custGeom>
              <a:avLst/>
              <a:gdLst/>
              <a:ahLst/>
              <a:cxnLst/>
              <a:rect r="r" b="b" t="t" l="l"/>
              <a:pathLst>
                <a:path h="640080" w="24383391">
                  <a:moveTo>
                    <a:pt x="0" y="0"/>
                  </a:moveTo>
                  <a:lnTo>
                    <a:pt x="24383391" y="0"/>
                  </a:lnTo>
                  <a:lnTo>
                    <a:pt x="24383391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2268" r="0" b="-69226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438339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b="true" sz="1950" spc="299">
                  <a:solidFill>
                    <a:srgbClr val="1F6B4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WHY THIS IS DIFFERENT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057400" y="1109853"/>
            <a:ext cx="14172743" cy="1468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 b="true">
                <a:solidFill>
                  <a:srgbClr val="161C19"/>
                </a:solidFill>
                <a:latin typeface="Arial Bold"/>
                <a:ea typeface="Arial Bold"/>
                <a:cs typeface="Arial Bold"/>
                <a:sym typeface="Arial Bold"/>
              </a:rPr>
              <a:t>Traditional tools show the past. Ascend learns the pattern.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2948940" y="2674620"/>
          <a:ext cx="12344400" cy="4800600"/>
        </p:xfrm>
        <a:graphic>
          <a:graphicData uri="http://schemas.openxmlformats.org/drawingml/2006/table">
            <a:tbl>
              <a:tblPr/>
              <a:tblGrid>
                <a:gridCol w="6172200"/>
                <a:gridCol w="6172200"/>
              </a:tblGrid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b="true" sz="1650" spc="225">
                          <a:solidFill>
                            <a:srgbClr val="4E5955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TRADITIONAL BUSINESS SOFTWARE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D6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6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2E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80"/>
                        </a:lnSpc>
                        <a:defRPr/>
                      </a:pPr>
                      <a:r>
                        <a:rPr lang="en-US" b="true" sz="1650" spc="225">
                          <a:solidFill>
                            <a:srgbClr val="1F6B4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ASCEND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D6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6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2EE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A33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Shows revenue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D6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6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A33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Forecasts revenue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D6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6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A33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Shows expenses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D6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6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A33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Detects unusual changes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D6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6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A33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Shows cash flow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D6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6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A33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Learns cash-flow patterns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D6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6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A33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Static reports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D6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6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A33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Continuous predictions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D6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6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A33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Generic benchmarks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D6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6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A33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Business-specific patterns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D6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6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A33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Data dashboard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D6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6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40"/>
                        </a:lnSpc>
                        <a:defRPr/>
                      </a:pPr>
                      <a:r>
                        <a:rPr lang="en-US" sz="1950">
                          <a:solidFill>
                            <a:srgbClr val="2A333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Growth intelligence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D6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6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6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6DC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7" id="7"/>
          <p:cNvGrpSpPr/>
          <p:nvPr/>
        </p:nvGrpSpPr>
        <p:grpSpPr>
          <a:xfrm rot="0">
            <a:off x="2057400" y="8023860"/>
            <a:ext cx="14172743" cy="1372573"/>
            <a:chOff x="0" y="0"/>
            <a:chExt cx="18896990" cy="18300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896991" cy="1830098"/>
            </a:xfrm>
            <a:custGeom>
              <a:avLst/>
              <a:gdLst/>
              <a:ahLst/>
              <a:cxnLst/>
              <a:rect r="r" b="b" t="t" l="l"/>
              <a:pathLst>
                <a:path h="1830098" w="18896991">
                  <a:moveTo>
                    <a:pt x="0" y="0"/>
                  </a:moveTo>
                  <a:lnTo>
                    <a:pt x="18896991" y="0"/>
                  </a:lnTo>
                  <a:lnTo>
                    <a:pt x="18896991" y="1830098"/>
                  </a:lnTo>
                  <a:lnTo>
                    <a:pt x="0" y="18300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231" r="0" b="-15116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85725"/>
              <a:ext cx="18896990" cy="19158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967"/>
                </a:lnSpc>
              </a:pPr>
              <a:r>
                <a:rPr lang="en-US" sz="3600" b="true">
                  <a:solidFill>
                    <a:srgbClr val="161C1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Every business has a different situation.</a:t>
              </a:r>
            </a:p>
            <a:p>
              <a:pPr algn="ctr">
                <a:lnSpc>
                  <a:spcPts val="4967"/>
                </a:lnSpc>
              </a:pPr>
              <a:r>
                <a:rPr lang="en-US" sz="3600" b="true">
                  <a:solidFill>
                    <a:srgbClr val="1F6B4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Ascend learns it.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6745946" y="515346"/>
            <a:ext cx="1026707" cy="1026707"/>
          </a:xfrm>
          <a:custGeom>
            <a:avLst/>
            <a:gdLst/>
            <a:ahLst/>
            <a:cxnLst/>
            <a:rect r="r" b="b" t="t" l="l"/>
            <a:pathLst>
              <a:path h="1026707" w="1026707">
                <a:moveTo>
                  <a:pt x="0" y="0"/>
                </a:moveTo>
                <a:lnTo>
                  <a:pt x="1026708" y="0"/>
                </a:lnTo>
                <a:lnTo>
                  <a:pt x="1026708" y="1026708"/>
                </a:lnTo>
                <a:lnTo>
                  <a:pt x="0" y="10267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690291"/>
            <a:ext cx="6793843" cy="475569"/>
            <a:chOff x="0" y="0"/>
            <a:chExt cx="91440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0" cy="640080"/>
            </a:xfrm>
            <a:custGeom>
              <a:avLst/>
              <a:gdLst/>
              <a:ahLst/>
              <a:cxnLst/>
              <a:rect r="r" b="b" t="t" l="l"/>
              <a:pathLst>
                <a:path h="64008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91440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1F6B4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SCALE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60120" y="1146810"/>
            <a:ext cx="16459200" cy="842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true">
                <a:solidFill>
                  <a:srgbClr val="161C19"/>
                </a:solidFill>
                <a:latin typeface="Arial Bold"/>
                <a:ea typeface="Arial Bold"/>
                <a:cs typeface="Arial Bold"/>
                <a:sym typeface="Arial Bold"/>
              </a:rPr>
              <a:t>Start with one business. Build a financial intelligence network.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417320" y="2294816"/>
            <a:ext cx="2612251" cy="820449"/>
            <a:chOff x="0" y="0"/>
            <a:chExt cx="2506218" cy="7871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06218" cy="787146"/>
            </a:xfrm>
            <a:custGeom>
              <a:avLst/>
              <a:gdLst/>
              <a:ahLst/>
              <a:cxnLst/>
              <a:rect r="r" b="b" t="t" l="l"/>
              <a:pathLst>
                <a:path h="787146" w="2506218">
                  <a:moveTo>
                    <a:pt x="0" y="149987"/>
                  </a:moveTo>
                  <a:cubicBezTo>
                    <a:pt x="0" y="67183"/>
                    <a:pt x="67183" y="0"/>
                    <a:pt x="149987" y="0"/>
                  </a:cubicBezTo>
                  <a:lnTo>
                    <a:pt x="2356231" y="0"/>
                  </a:lnTo>
                  <a:cubicBezTo>
                    <a:pt x="2439035" y="0"/>
                    <a:pt x="2506218" y="67183"/>
                    <a:pt x="2506218" y="149987"/>
                  </a:cubicBezTo>
                  <a:lnTo>
                    <a:pt x="2506218" y="637159"/>
                  </a:lnTo>
                  <a:cubicBezTo>
                    <a:pt x="2506218" y="719963"/>
                    <a:pt x="2439035" y="787146"/>
                    <a:pt x="2356231" y="787146"/>
                  </a:cubicBezTo>
                  <a:lnTo>
                    <a:pt x="149987" y="787146"/>
                  </a:lnTo>
                  <a:cubicBezTo>
                    <a:pt x="67183" y="787146"/>
                    <a:pt x="0" y="719963"/>
                    <a:pt x="0" y="637159"/>
                  </a:cubicBezTo>
                  <a:close/>
                </a:path>
              </a:pathLst>
            </a:custGeom>
            <a:solidFill>
              <a:srgbClr val="F6F8F6"/>
            </a:solidFill>
            <a:ln w="14288" cap="sq">
              <a:solidFill>
                <a:srgbClr val="D6DCD7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506218" cy="7966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59"/>
                </a:lnSpc>
              </a:pPr>
              <a:r>
                <a:rPr lang="en-US" sz="2049" b="true">
                  <a:solidFill>
                    <a:srgbClr val="161C1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RESTAURANT</a:t>
              </a:r>
            </a:p>
          </p:txBody>
        </p:sp>
      </p:grpSp>
      <p:sp>
        <p:nvSpPr>
          <p:cNvPr name="AutoShape 9" id="9"/>
          <p:cNvSpPr/>
          <p:nvPr/>
        </p:nvSpPr>
        <p:spPr>
          <a:xfrm>
            <a:off x="4723445" y="3233138"/>
            <a:ext cx="0" cy="410189"/>
          </a:xfrm>
          <a:prstGeom prst="line">
            <a:avLst/>
          </a:prstGeom>
          <a:ln cap="rnd" w="19050">
            <a:solidFill>
              <a:srgbClr val="1F6B4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0" id="10"/>
          <p:cNvGrpSpPr/>
          <p:nvPr/>
        </p:nvGrpSpPr>
        <p:grpSpPr>
          <a:xfrm rot="0">
            <a:off x="1625517" y="3819754"/>
            <a:ext cx="1544794" cy="820449"/>
            <a:chOff x="0" y="0"/>
            <a:chExt cx="1482090" cy="78714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82217" cy="787146"/>
            </a:xfrm>
            <a:custGeom>
              <a:avLst/>
              <a:gdLst/>
              <a:ahLst/>
              <a:cxnLst/>
              <a:rect r="r" b="b" t="t" l="l"/>
              <a:pathLst>
                <a:path h="787146" w="1482217">
                  <a:moveTo>
                    <a:pt x="0" y="149987"/>
                  </a:moveTo>
                  <a:cubicBezTo>
                    <a:pt x="0" y="67183"/>
                    <a:pt x="67183" y="0"/>
                    <a:pt x="149987" y="0"/>
                  </a:cubicBezTo>
                  <a:lnTo>
                    <a:pt x="1332230" y="0"/>
                  </a:lnTo>
                  <a:cubicBezTo>
                    <a:pt x="1415034" y="0"/>
                    <a:pt x="1482217" y="67183"/>
                    <a:pt x="1482217" y="149987"/>
                  </a:cubicBezTo>
                  <a:lnTo>
                    <a:pt x="1482217" y="637159"/>
                  </a:lnTo>
                  <a:cubicBezTo>
                    <a:pt x="1482217" y="719963"/>
                    <a:pt x="1415034" y="787146"/>
                    <a:pt x="1332230" y="787146"/>
                  </a:cubicBezTo>
                  <a:lnTo>
                    <a:pt x="149987" y="787146"/>
                  </a:lnTo>
                  <a:cubicBezTo>
                    <a:pt x="67183" y="787146"/>
                    <a:pt x="0" y="719963"/>
                    <a:pt x="0" y="637159"/>
                  </a:cubicBezTo>
                  <a:close/>
                </a:path>
              </a:pathLst>
            </a:custGeom>
            <a:solidFill>
              <a:srgbClr val="F6F8F6"/>
            </a:solidFill>
            <a:ln w="14288" cap="sq">
              <a:solidFill>
                <a:srgbClr val="D6DCD7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1482090" cy="7966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59"/>
                </a:lnSpc>
              </a:pPr>
              <a:r>
                <a:rPr lang="en-US" sz="2049" b="true">
                  <a:solidFill>
                    <a:srgbClr val="161C1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RETAIL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760431" y="3819754"/>
            <a:ext cx="1926029" cy="820449"/>
            <a:chOff x="0" y="0"/>
            <a:chExt cx="1847850" cy="78714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47850" cy="787146"/>
            </a:xfrm>
            <a:custGeom>
              <a:avLst/>
              <a:gdLst/>
              <a:ahLst/>
              <a:cxnLst/>
              <a:rect r="r" b="b" t="t" l="l"/>
              <a:pathLst>
                <a:path h="787146" w="1847850">
                  <a:moveTo>
                    <a:pt x="0" y="149987"/>
                  </a:moveTo>
                  <a:cubicBezTo>
                    <a:pt x="0" y="67183"/>
                    <a:pt x="67183" y="0"/>
                    <a:pt x="149987" y="0"/>
                  </a:cubicBezTo>
                  <a:lnTo>
                    <a:pt x="1697863" y="0"/>
                  </a:lnTo>
                  <a:cubicBezTo>
                    <a:pt x="1780667" y="0"/>
                    <a:pt x="1847850" y="67183"/>
                    <a:pt x="1847850" y="149987"/>
                  </a:cubicBezTo>
                  <a:lnTo>
                    <a:pt x="1847850" y="637159"/>
                  </a:lnTo>
                  <a:cubicBezTo>
                    <a:pt x="1847850" y="719963"/>
                    <a:pt x="1780667" y="787146"/>
                    <a:pt x="1697863" y="787146"/>
                  </a:cubicBezTo>
                  <a:lnTo>
                    <a:pt x="149987" y="787146"/>
                  </a:lnTo>
                  <a:cubicBezTo>
                    <a:pt x="67183" y="787146"/>
                    <a:pt x="0" y="719963"/>
                    <a:pt x="0" y="637159"/>
                  </a:cubicBezTo>
                  <a:close/>
                </a:path>
              </a:pathLst>
            </a:custGeom>
            <a:solidFill>
              <a:srgbClr val="F6F8F6"/>
            </a:solidFill>
            <a:ln w="14288" cap="sq">
              <a:solidFill>
                <a:srgbClr val="D6DCD7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847850" cy="7966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59"/>
                </a:lnSpc>
              </a:pPr>
              <a:r>
                <a:rPr lang="en-US" sz="2049" b="true">
                  <a:solidFill>
                    <a:srgbClr val="161C1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SERVICES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895344" y="3819754"/>
            <a:ext cx="2402572" cy="820449"/>
            <a:chOff x="0" y="0"/>
            <a:chExt cx="2305050" cy="78714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305050" cy="787146"/>
            </a:xfrm>
            <a:custGeom>
              <a:avLst/>
              <a:gdLst/>
              <a:ahLst/>
              <a:cxnLst/>
              <a:rect r="r" b="b" t="t" l="l"/>
              <a:pathLst>
                <a:path h="787146" w="2305050">
                  <a:moveTo>
                    <a:pt x="0" y="149987"/>
                  </a:moveTo>
                  <a:cubicBezTo>
                    <a:pt x="0" y="67183"/>
                    <a:pt x="67183" y="0"/>
                    <a:pt x="149987" y="0"/>
                  </a:cubicBezTo>
                  <a:lnTo>
                    <a:pt x="2155063" y="0"/>
                  </a:lnTo>
                  <a:cubicBezTo>
                    <a:pt x="2237867" y="0"/>
                    <a:pt x="2305050" y="67183"/>
                    <a:pt x="2305050" y="149987"/>
                  </a:cubicBezTo>
                  <a:lnTo>
                    <a:pt x="2305050" y="637159"/>
                  </a:lnTo>
                  <a:cubicBezTo>
                    <a:pt x="2305050" y="719963"/>
                    <a:pt x="2237867" y="787146"/>
                    <a:pt x="2155063" y="787146"/>
                  </a:cubicBezTo>
                  <a:lnTo>
                    <a:pt x="149987" y="787146"/>
                  </a:lnTo>
                  <a:cubicBezTo>
                    <a:pt x="67183" y="787146"/>
                    <a:pt x="0" y="719963"/>
                    <a:pt x="0" y="637159"/>
                  </a:cubicBezTo>
                  <a:close/>
                </a:path>
              </a:pathLst>
            </a:custGeom>
            <a:solidFill>
              <a:srgbClr val="F6F8F6"/>
            </a:solidFill>
            <a:ln w="14288" cap="sq">
              <a:solidFill>
                <a:srgbClr val="D6DCD7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2305050" cy="7966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59"/>
                </a:lnSpc>
              </a:pPr>
              <a:r>
                <a:rPr lang="en-US" sz="2049" b="true">
                  <a:solidFill>
                    <a:srgbClr val="161C1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E-COMMERCE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896034" y="5338074"/>
            <a:ext cx="3654822" cy="1176797"/>
            <a:chOff x="0" y="0"/>
            <a:chExt cx="3506470" cy="112903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506470" cy="1129030"/>
            </a:xfrm>
            <a:custGeom>
              <a:avLst/>
              <a:gdLst/>
              <a:ahLst/>
              <a:cxnLst/>
              <a:rect r="r" b="b" t="t" l="l"/>
              <a:pathLst>
                <a:path h="1129030" w="3506470">
                  <a:moveTo>
                    <a:pt x="0" y="150495"/>
                  </a:moveTo>
                  <a:cubicBezTo>
                    <a:pt x="0" y="67437"/>
                    <a:pt x="67437" y="0"/>
                    <a:pt x="150495" y="0"/>
                  </a:cubicBezTo>
                  <a:lnTo>
                    <a:pt x="3355975" y="0"/>
                  </a:lnTo>
                  <a:cubicBezTo>
                    <a:pt x="3439160" y="0"/>
                    <a:pt x="3506470" y="67437"/>
                    <a:pt x="3506470" y="150495"/>
                  </a:cubicBezTo>
                  <a:lnTo>
                    <a:pt x="3506470" y="978535"/>
                  </a:lnTo>
                  <a:cubicBezTo>
                    <a:pt x="3506470" y="1061720"/>
                    <a:pt x="3439033" y="1129030"/>
                    <a:pt x="3355975" y="1129030"/>
                  </a:cubicBezTo>
                  <a:lnTo>
                    <a:pt x="150495" y="1129030"/>
                  </a:lnTo>
                  <a:cubicBezTo>
                    <a:pt x="67437" y="1129030"/>
                    <a:pt x="0" y="1061593"/>
                    <a:pt x="0" y="978535"/>
                  </a:cubicBezTo>
                  <a:close/>
                </a:path>
              </a:pathLst>
            </a:custGeom>
            <a:solidFill>
              <a:srgbClr val="E1EEE7"/>
            </a:solidFill>
            <a:ln w="23812" cap="sq">
              <a:solidFill>
                <a:srgbClr val="1F6B4F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3506470" cy="11385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99"/>
                </a:lnSpc>
              </a:pPr>
              <a:r>
                <a:rPr lang="en-US" sz="2249" b="true">
                  <a:solidFill>
                    <a:srgbClr val="161C1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Ascend Neural Network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824970" y="7360861"/>
            <a:ext cx="2021338" cy="782325"/>
            <a:chOff x="0" y="0"/>
            <a:chExt cx="1939290" cy="75057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939290" cy="750570"/>
            </a:xfrm>
            <a:custGeom>
              <a:avLst/>
              <a:gdLst/>
              <a:ahLst/>
              <a:cxnLst/>
              <a:rect r="r" b="b" t="t" l="l"/>
              <a:pathLst>
                <a:path h="750570" w="1939290">
                  <a:moveTo>
                    <a:pt x="0" y="150114"/>
                  </a:moveTo>
                  <a:cubicBezTo>
                    <a:pt x="0" y="67183"/>
                    <a:pt x="67183" y="0"/>
                    <a:pt x="150114" y="0"/>
                  </a:cubicBezTo>
                  <a:lnTo>
                    <a:pt x="1789176" y="0"/>
                  </a:lnTo>
                  <a:cubicBezTo>
                    <a:pt x="1872107" y="0"/>
                    <a:pt x="1939290" y="67183"/>
                    <a:pt x="1939290" y="150114"/>
                  </a:cubicBezTo>
                  <a:lnTo>
                    <a:pt x="1939290" y="600456"/>
                  </a:lnTo>
                  <a:cubicBezTo>
                    <a:pt x="1939290" y="683387"/>
                    <a:pt x="1872107" y="750570"/>
                    <a:pt x="1789176" y="750570"/>
                  </a:cubicBezTo>
                  <a:lnTo>
                    <a:pt x="150114" y="750570"/>
                  </a:lnTo>
                  <a:cubicBezTo>
                    <a:pt x="67183" y="750570"/>
                    <a:pt x="0" y="683387"/>
                    <a:pt x="0" y="600456"/>
                  </a:cubicBezTo>
                  <a:close/>
                </a:path>
              </a:pathLst>
            </a:custGeom>
            <a:solidFill>
              <a:srgbClr val="F6F8F6"/>
            </a:solidFill>
            <a:ln w="14288" cap="sq">
              <a:solidFill>
                <a:srgbClr val="D6DCD7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1939290" cy="7600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59"/>
                </a:lnSpc>
              </a:pPr>
              <a:r>
                <a:rPr lang="en-US" sz="2049" b="true">
                  <a:solidFill>
                    <a:srgbClr val="161C1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Businesses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017069" y="7360861"/>
            <a:ext cx="1735412" cy="782325"/>
            <a:chOff x="0" y="0"/>
            <a:chExt cx="1664970" cy="75057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664970" cy="750570"/>
            </a:xfrm>
            <a:custGeom>
              <a:avLst/>
              <a:gdLst/>
              <a:ahLst/>
              <a:cxnLst/>
              <a:rect r="r" b="b" t="t" l="l"/>
              <a:pathLst>
                <a:path h="750570" w="1664970">
                  <a:moveTo>
                    <a:pt x="0" y="150114"/>
                  </a:moveTo>
                  <a:cubicBezTo>
                    <a:pt x="0" y="67183"/>
                    <a:pt x="67183" y="0"/>
                    <a:pt x="150114" y="0"/>
                  </a:cubicBezTo>
                  <a:lnTo>
                    <a:pt x="1514856" y="0"/>
                  </a:lnTo>
                  <a:cubicBezTo>
                    <a:pt x="1597787" y="0"/>
                    <a:pt x="1664970" y="67183"/>
                    <a:pt x="1664970" y="150114"/>
                  </a:cubicBezTo>
                  <a:lnTo>
                    <a:pt x="1664970" y="600456"/>
                  </a:lnTo>
                  <a:cubicBezTo>
                    <a:pt x="1664970" y="683387"/>
                    <a:pt x="1597787" y="750570"/>
                    <a:pt x="1514856" y="750570"/>
                  </a:cubicBezTo>
                  <a:lnTo>
                    <a:pt x="150114" y="750570"/>
                  </a:lnTo>
                  <a:cubicBezTo>
                    <a:pt x="67183" y="750570"/>
                    <a:pt x="0" y="683387"/>
                    <a:pt x="0" y="600456"/>
                  </a:cubicBezTo>
                  <a:close/>
                </a:path>
              </a:pathLst>
            </a:custGeom>
            <a:solidFill>
              <a:srgbClr val="F6F8F6"/>
            </a:solidFill>
            <a:ln w="14288" cap="sq">
              <a:solidFill>
                <a:srgbClr val="D6DCD7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1664970" cy="7600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59"/>
                </a:lnSpc>
              </a:pPr>
              <a:r>
                <a:rPr lang="en-US" sz="2049" b="true">
                  <a:solidFill>
                    <a:srgbClr val="161C1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Advisors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923242" y="7360861"/>
            <a:ext cx="1830720" cy="782325"/>
            <a:chOff x="0" y="0"/>
            <a:chExt cx="1756410" cy="75057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756410" cy="750570"/>
            </a:xfrm>
            <a:custGeom>
              <a:avLst/>
              <a:gdLst/>
              <a:ahLst/>
              <a:cxnLst/>
              <a:rect r="r" b="b" t="t" l="l"/>
              <a:pathLst>
                <a:path h="750570" w="1756410">
                  <a:moveTo>
                    <a:pt x="0" y="150114"/>
                  </a:moveTo>
                  <a:cubicBezTo>
                    <a:pt x="0" y="67183"/>
                    <a:pt x="67183" y="0"/>
                    <a:pt x="150114" y="0"/>
                  </a:cubicBezTo>
                  <a:lnTo>
                    <a:pt x="1606296" y="0"/>
                  </a:lnTo>
                  <a:cubicBezTo>
                    <a:pt x="1689227" y="0"/>
                    <a:pt x="1756410" y="67183"/>
                    <a:pt x="1756410" y="150114"/>
                  </a:cubicBezTo>
                  <a:lnTo>
                    <a:pt x="1756410" y="600456"/>
                  </a:lnTo>
                  <a:cubicBezTo>
                    <a:pt x="1756410" y="683387"/>
                    <a:pt x="1689227" y="750570"/>
                    <a:pt x="1606296" y="750570"/>
                  </a:cubicBezTo>
                  <a:lnTo>
                    <a:pt x="150114" y="750570"/>
                  </a:lnTo>
                  <a:cubicBezTo>
                    <a:pt x="67183" y="750570"/>
                    <a:pt x="0" y="683387"/>
                    <a:pt x="0" y="600456"/>
                  </a:cubicBezTo>
                  <a:close/>
                </a:path>
              </a:pathLst>
            </a:custGeom>
            <a:solidFill>
              <a:srgbClr val="F6F8F6"/>
            </a:solidFill>
            <a:ln w="14288" cap="sq">
              <a:solidFill>
                <a:srgbClr val="D6DCD7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1756410" cy="7600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59"/>
                </a:lnSpc>
              </a:pPr>
              <a:r>
                <a:rPr lang="en-US" sz="2049" b="true">
                  <a:solidFill>
                    <a:srgbClr val="161C1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Platforms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897654" y="2921574"/>
            <a:ext cx="527756" cy="615716"/>
            <a:chOff x="0" y="0"/>
            <a:chExt cx="548640" cy="6400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48640" cy="640080"/>
            </a:xfrm>
            <a:custGeom>
              <a:avLst/>
              <a:gdLst/>
              <a:ahLst/>
              <a:cxnLst/>
              <a:rect r="r" b="b" t="t" l="l"/>
              <a:pathLst>
                <a:path h="64008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9687" t="0" r="-99687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54864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F6B4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460595" y="2921574"/>
            <a:ext cx="7916347" cy="527756"/>
            <a:chOff x="0" y="0"/>
            <a:chExt cx="8229600" cy="5486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229600" cy="548640"/>
            </a:xfrm>
            <a:custGeom>
              <a:avLst/>
              <a:gdLst/>
              <a:ahLst/>
              <a:cxnLst/>
              <a:rect r="r" b="b" t="t" l="l"/>
              <a:pathLst>
                <a:path h="54864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82296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61C1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BUSINESS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460595" y="3396555"/>
            <a:ext cx="8620022" cy="492573"/>
            <a:chOff x="0" y="0"/>
            <a:chExt cx="8961120" cy="51206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961120" cy="512064"/>
            </a:xfrm>
            <a:custGeom>
              <a:avLst/>
              <a:gdLst/>
              <a:ahLst/>
              <a:cxnLst/>
              <a:rect r="r" b="b" t="t" l="l"/>
              <a:pathLst>
                <a:path h="512064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896112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E5955"/>
                  </a:solidFill>
                  <a:latin typeface="Arial"/>
                  <a:ea typeface="Arial"/>
                  <a:cs typeface="Arial"/>
                  <a:sym typeface="Arial"/>
                </a:rPr>
                <a:t>Individual growth intelligence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897654" y="4065046"/>
            <a:ext cx="527756" cy="615716"/>
            <a:chOff x="0" y="0"/>
            <a:chExt cx="548640" cy="6400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48640" cy="640080"/>
            </a:xfrm>
            <a:custGeom>
              <a:avLst/>
              <a:gdLst/>
              <a:ahLst/>
              <a:cxnLst/>
              <a:rect r="r" b="b" t="t" l="l"/>
              <a:pathLst>
                <a:path h="64008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9687" t="0" r="-99687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54864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F6B4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460595" y="4065046"/>
            <a:ext cx="7916347" cy="527756"/>
            <a:chOff x="0" y="0"/>
            <a:chExt cx="8229600" cy="5486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229600" cy="548640"/>
            </a:xfrm>
            <a:custGeom>
              <a:avLst/>
              <a:gdLst/>
              <a:ahLst/>
              <a:cxnLst/>
              <a:rect r="r" b="b" t="t" l="l"/>
              <a:pathLst>
                <a:path h="54864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82296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61C1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INDUSTRY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460595" y="4540027"/>
            <a:ext cx="8620022" cy="492573"/>
            <a:chOff x="0" y="0"/>
            <a:chExt cx="8961120" cy="51206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961120" cy="512064"/>
            </a:xfrm>
            <a:custGeom>
              <a:avLst/>
              <a:gdLst/>
              <a:ahLst/>
              <a:cxnLst/>
              <a:rect r="r" b="b" t="t" l="l"/>
              <a:pathLst>
                <a:path h="512064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896112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E5955"/>
                  </a:solidFill>
                  <a:latin typeface="Arial"/>
                  <a:ea typeface="Arial"/>
                  <a:cs typeface="Arial"/>
                  <a:sym typeface="Arial"/>
                </a:rPr>
                <a:t>Industry-specific models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8897654" y="5208519"/>
            <a:ext cx="527756" cy="615716"/>
            <a:chOff x="0" y="0"/>
            <a:chExt cx="548640" cy="64008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48640" cy="640080"/>
            </a:xfrm>
            <a:custGeom>
              <a:avLst/>
              <a:gdLst/>
              <a:ahLst/>
              <a:cxnLst/>
              <a:rect r="r" b="b" t="t" l="l"/>
              <a:pathLst>
                <a:path h="64008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9687" t="0" r="-99687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54864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1F6B4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460595" y="5208519"/>
            <a:ext cx="7916347" cy="527756"/>
            <a:chOff x="0" y="0"/>
            <a:chExt cx="8229600" cy="5486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229600" cy="548640"/>
            </a:xfrm>
            <a:custGeom>
              <a:avLst/>
              <a:gdLst/>
              <a:ahLst/>
              <a:cxnLst/>
              <a:rect r="r" b="b" t="t" l="l"/>
              <a:pathLst>
                <a:path h="54864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82296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161C1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PLATFORM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460595" y="5683500"/>
            <a:ext cx="8620022" cy="492573"/>
            <a:chOff x="0" y="0"/>
            <a:chExt cx="8961120" cy="51206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961120" cy="512064"/>
            </a:xfrm>
            <a:custGeom>
              <a:avLst/>
              <a:gdLst/>
              <a:ahLst/>
              <a:cxnLst/>
              <a:rect r="r" b="b" t="t" l="l"/>
              <a:pathLst>
                <a:path h="512064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19050"/>
              <a:ext cx="896112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4E5955"/>
                  </a:solidFill>
                  <a:latin typeface="Arial"/>
                  <a:ea typeface="Arial"/>
                  <a:cs typeface="Arial"/>
                  <a:sym typeface="Arial"/>
                </a:rPr>
                <a:t>Website </a:t>
              </a:r>
              <a:r>
                <a:rPr lang="en-US" sz="1800">
                  <a:solidFill>
                    <a:srgbClr val="4E5955"/>
                  </a:solidFill>
                  <a:latin typeface="Arial"/>
                  <a:ea typeface="Arial"/>
                  <a:cs typeface="Arial"/>
                  <a:sym typeface="Arial"/>
                </a:rPr>
                <a:t>for accounting/business software</a:t>
              </a:r>
            </a:p>
          </p:txBody>
        </p:sp>
      </p:grpSp>
      <p:sp>
        <p:nvSpPr>
          <p:cNvPr name="AutoShape 58" id="58"/>
          <p:cNvSpPr/>
          <p:nvPr/>
        </p:nvSpPr>
        <p:spPr>
          <a:xfrm>
            <a:off x="8888489" y="6553963"/>
            <a:ext cx="8896333" cy="42420"/>
          </a:xfrm>
          <a:prstGeom prst="line">
            <a:avLst/>
          </a:prstGeom>
          <a:ln cap="rnd" w="9525">
            <a:solidFill>
              <a:srgbClr val="D6DCD7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9" id="59"/>
          <p:cNvGrpSpPr/>
          <p:nvPr/>
        </p:nvGrpSpPr>
        <p:grpSpPr>
          <a:xfrm rot="0">
            <a:off x="8897654" y="6879747"/>
            <a:ext cx="9323697" cy="967553"/>
            <a:chOff x="0" y="0"/>
            <a:chExt cx="9692640" cy="10058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6926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764" r="0" b="-137764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969264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90"/>
                </a:lnSpc>
              </a:pPr>
              <a:r>
                <a:rPr lang="en-US" sz="1950">
                  <a:solidFill>
                    <a:srgbClr val="2A3330"/>
                  </a:solidFill>
                  <a:latin typeface="Arial"/>
                  <a:ea typeface="Arial"/>
                  <a:cs typeface="Arial"/>
                  <a:sym typeface="Arial"/>
                </a:rPr>
                <a:t>Learn from patterns without requiring businesses to expose sensitive financial information to one another.</a:t>
              </a:r>
            </a:p>
          </p:txBody>
        </p:sp>
      </p:grpSp>
      <p:sp>
        <p:nvSpPr>
          <p:cNvPr name="AutoShape 62" id="62"/>
          <p:cNvSpPr/>
          <p:nvPr/>
        </p:nvSpPr>
        <p:spPr>
          <a:xfrm>
            <a:off x="4713920" y="4784044"/>
            <a:ext cx="0" cy="410189"/>
          </a:xfrm>
          <a:prstGeom prst="line">
            <a:avLst/>
          </a:prstGeom>
          <a:ln cap="rnd" w="19050">
            <a:solidFill>
              <a:srgbClr val="1F6B4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63" id="63"/>
          <p:cNvSpPr/>
          <p:nvPr/>
        </p:nvSpPr>
        <p:spPr>
          <a:xfrm>
            <a:off x="4704395" y="6645872"/>
            <a:ext cx="0" cy="410189"/>
          </a:xfrm>
          <a:prstGeom prst="line">
            <a:avLst/>
          </a:prstGeom>
          <a:ln cap="rnd" w="19050">
            <a:solidFill>
              <a:srgbClr val="1F6B4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64" id="64"/>
          <p:cNvSpPr/>
          <p:nvPr/>
        </p:nvSpPr>
        <p:spPr>
          <a:xfrm flipH="false" flipV="false" rot="0">
            <a:off x="16745946" y="515346"/>
            <a:ext cx="1026707" cy="1026707"/>
          </a:xfrm>
          <a:custGeom>
            <a:avLst/>
            <a:gdLst/>
            <a:ahLst/>
            <a:cxnLst/>
            <a:rect r="r" b="b" t="t" l="l"/>
            <a:pathLst>
              <a:path h="1026707" w="1026707">
                <a:moveTo>
                  <a:pt x="0" y="0"/>
                </a:moveTo>
                <a:lnTo>
                  <a:pt x="1026708" y="0"/>
                </a:lnTo>
                <a:lnTo>
                  <a:pt x="1026708" y="1026708"/>
                </a:lnTo>
                <a:lnTo>
                  <a:pt x="0" y="10267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1600" y="1440180"/>
            <a:ext cx="15544343" cy="1371600"/>
            <a:chOff x="0" y="0"/>
            <a:chExt cx="20725790" cy="182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725791" cy="1828800"/>
            </a:xfrm>
            <a:custGeom>
              <a:avLst/>
              <a:gdLst/>
              <a:ahLst/>
              <a:cxnLst/>
              <a:rect r="r" b="b" t="t" l="l"/>
              <a:pathLst>
                <a:path h="1828800" w="20725791">
                  <a:moveTo>
                    <a:pt x="0" y="0"/>
                  </a:moveTo>
                  <a:lnTo>
                    <a:pt x="20725791" y="0"/>
                  </a:lnTo>
                  <a:lnTo>
                    <a:pt x="20725791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0823" r="0" b="-17082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20725790" cy="1914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95"/>
                </a:lnSpc>
              </a:pPr>
              <a:r>
                <a:rPr lang="en-US" sz="4200" b="true">
                  <a:solidFill>
                    <a:srgbClr val="4E59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Every large company has a data team.</a:t>
              </a:r>
            </a:p>
            <a:p>
              <a:pPr algn="ctr">
                <a:lnSpc>
                  <a:spcPts val="5795"/>
                </a:lnSpc>
              </a:pPr>
              <a:r>
                <a:rPr lang="en-US" sz="4200" b="true">
                  <a:solidFill>
                    <a:srgbClr val="161C1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We're building one for everyone else.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028971" y="3360420"/>
            <a:ext cx="8229600" cy="480060"/>
            <a:chOff x="0" y="0"/>
            <a:chExt cx="10972800" cy="6400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09728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b="true" sz="2250" spc="225">
                  <a:solidFill>
                    <a:srgbClr val="1F6B4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ASCEND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028971" y="4265676"/>
            <a:ext cx="8229600" cy="480060"/>
            <a:chOff x="0" y="0"/>
            <a:chExt cx="10972800" cy="6400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09728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>
                  <a:solidFill>
                    <a:srgbClr val="2A3330"/>
                  </a:solidFill>
                  <a:latin typeface="Arial"/>
                  <a:ea typeface="Arial"/>
                  <a:cs typeface="Arial"/>
                  <a:sym typeface="Arial"/>
                </a:rPr>
                <a:t>Understand your business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028971" y="5170932"/>
            <a:ext cx="8229600" cy="480060"/>
            <a:chOff x="0" y="0"/>
            <a:chExt cx="10972800" cy="6400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09728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>
                  <a:solidFill>
                    <a:srgbClr val="2A3330"/>
                  </a:solidFill>
                  <a:latin typeface="Arial"/>
                  <a:ea typeface="Arial"/>
                  <a:cs typeface="Arial"/>
                  <a:sym typeface="Arial"/>
                </a:rPr>
                <a:t>Predict what's changing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028971" y="6076188"/>
            <a:ext cx="8229600" cy="480060"/>
            <a:chOff x="0" y="0"/>
            <a:chExt cx="10972800" cy="6400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109728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>
                  <a:solidFill>
                    <a:srgbClr val="2A3330"/>
                  </a:solidFill>
                  <a:latin typeface="Arial"/>
                  <a:ea typeface="Arial"/>
                  <a:cs typeface="Arial"/>
                  <a:sym typeface="Arial"/>
                </a:rPr>
                <a:t>Discover opportunities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028971" y="6981444"/>
            <a:ext cx="8229600" cy="480060"/>
            <a:chOff x="0" y="0"/>
            <a:chExt cx="10972800" cy="6400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109728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b="true" sz="2250" spc="225">
                  <a:solidFill>
                    <a:srgbClr val="161C1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GROW WITH DATA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028971" y="8092440"/>
            <a:ext cx="8229600" cy="480060"/>
            <a:chOff x="0" y="0"/>
            <a:chExt cx="10972800" cy="6400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72800" cy="640080"/>
            </a:xfrm>
            <a:custGeom>
              <a:avLst/>
              <a:gdLst/>
              <a:ahLst/>
              <a:cxnLst/>
              <a:rect r="r" b="b" t="t" l="l"/>
              <a:pathLst>
                <a:path h="6400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4029" r="0" b="-284029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109728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b="true" sz="2250" spc="299">
                  <a:solidFill>
                    <a:srgbClr val="161C1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ASCEND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>
            <a:off x="9163050" y="4764786"/>
            <a:ext cx="0" cy="410189"/>
          </a:xfrm>
          <a:prstGeom prst="line">
            <a:avLst/>
          </a:prstGeom>
          <a:ln cap="rnd" w="47625">
            <a:solidFill>
              <a:srgbClr val="1F6B4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4" id="24"/>
          <p:cNvSpPr/>
          <p:nvPr/>
        </p:nvSpPr>
        <p:spPr>
          <a:xfrm>
            <a:off x="9144000" y="3840480"/>
            <a:ext cx="0" cy="410189"/>
          </a:xfrm>
          <a:prstGeom prst="line">
            <a:avLst/>
          </a:prstGeom>
          <a:ln cap="rnd" w="47625">
            <a:solidFill>
              <a:srgbClr val="1F6B4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5" id="25"/>
          <p:cNvSpPr/>
          <p:nvPr/>
        </p:nvSpPr>
        <p:spPr>
          <a:xfrm>
            <a:off x="9163050" y="5670042"/>
            <a:ext cx="0" cy="410189"/>
          </a:xfrm>
          <a:prstGeom prst="line">
            <a:avLst/>
          </a:prstGeom>
          <a:ln cap="rnd" w="47625">
            <a:solidFill>
              <a:srgbClr val="1F6B4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6" id="26"/>
          <p:cNvSpPr/>
          <p:nvPr/>
        </p:nvSpPr>
        <p:spPr>
          <a:xfrm>
            <a:off x="9163050" y="6563752"/>
            <a:ext cx="0" cy="410189"/>
          </a:xfrm>
          <a:prstGeom prst="line">
            <a:avLst/>
          </a:prstGeom>
          <a:ln cap="rnd" w="47625">
            <a:solidFill>
              <a:srgbClr val="1F6B4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7" id="27"/>
          <p:cNvSpPr/>
          <p:nvPr/>
        </p:nvSpPr>
        <p:spPr>
          <a:xfrm>
            <a:off x="9163050" y="7571878"/>
            <a:ext cx="0" cy="410189"/>
          </a:xfrm>
          <a:prstGeom prst="line">
            <a:avLst/>
          </a:prstGeom>
          <a:ln cap="rnd" w="47625">
            <a:solidFill>
              <a:srgbClr val="1F6B4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28" id="28"/>
          <p:cNvSpPr/>
          <p:nvPr/>
        </p:nvSpPr>
        <p:spPr>
          <a:xfrm flipH="false" flipV="false" rot="0">
            <a:off x="16745946" y="515346"/>
            <a:ext cx="1026707" cy="1026707"/>
          </a:xfrm>
          <a:custGeom>
            <a:avLst/>
            <a:gdLst/>
            <a:ahLst/>
            <a:cxnLst/>
            <a:rect r="r" b="b" t="t" l="l"/>
            <a:pathLst>
              <a:path h="1026707" w="1026707">
                <a:moveTo>
                  <a:pt x="0" y="0"/>
                </a:moveTo>
                <a:lnTo>
                  <a:pt x="1026708" y="0"/>
                </a:lnTo>
                <a:lnTo>
                  <a:pt x="1026708" y="1026708"/>
                </a:lnTo>
                <a:lnTo>
                  <a:pt x="0" y="10267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81405" y="3968496"/>
            <a:ext cx="9509760" cy="1645920"/>
            <a:chOff x="0" y="0"/>
            <a:chExt cx="12679680" cy="21945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6796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580" r="0" b="-6258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267968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200"/>
                </a:lnSpc>
              </a:pPr>
              <a:r>
                <a:rPr lang="en-US" b="true" sz="11000" spc="100">
                  <a:solidFill>
                    <a:srgbClr val="161C1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THANK YOU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81405" y="5797296"/>
            <a:ext cx="9144000" cy="640080"/>
            <a:chOff x="0" y="0"/>
            <a:chExt cx="12192000" cy="8534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192000" cy="853440"/>
            </a:xfrm>
            <a:custGeom>
              <a:avLst/>
              <a:gdLst/>
              <a:ahLst/>
              <a:cxnLst/>
              <a:rect r="r" b="b" t="t" l="l"/>
              <a:pathLst>
                <a:path h="85344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219200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4E5955"/>
                  </a:solidFill>
                  <a:latin typeface="Arial"/>
                  <a:ea typeface="Arial"/>
                  <a:cs typeface="Arial"/>
                  <a:sym typeface="Arial"/>
                </a:rPr>
                <a:t>We appreciate your time.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036427" y="2386203"/>
            <a:ext cx="6154674" cy="5724906"/>
            <a:chOff x="0" y="0"/>
            <a:chExt cx="8206232" cy="76332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06232" cy="7633208"/>
            </a:xfrm>
            <a:custGeom>
              <a:avLst/>
              <a:gdLst/>
              <a:ahLst/>
              <a:cxnLst/>
              <a:rect r="r" b="b" t="t" l="l"/>
              <a:pathLst>
                <a:path h="7633208" w="8206232">
                  <a:moveTo>
                    <a:pt x="0" y="305816"/>
                  </a:moveTo>
                  <a:cubicBezTo>
                    <a:pt x="0" y="136906"/>
                    <a:pt x="136906" y="0"/>
                    <a:pt x="305816" y="0"/>
                  </a:cubicBezTo>
                  <a:lnTo>
                    <a:pt x="7900416" y="0"/>
                  </a:lnTo>
                  <a:cubicBezTo>
                    <a:pt x="8069326" y="0"/>
                    <a:pt x="8206232" y="136906"/>
                    <a:pt x="8206232" y="305816"/>
                  </a:cubicBezTo>
                  <a:lnTo>
                    <a:pt x="8206232" y="7327392"/>
                  </a:lnTo>
                  <a:cubicBezTo>
                    <a:pt x="8206232" y="7496302"/>
                    <a:pt x="8069326" y="7633208"/>
                    <a:pt x="7900416" y="7633208"/>
                  </a:cubicBezTo>
                  <a:lnTo>
                    <a:pt x="305816" y="7633208"/>
                  </a:lnTo>
                  <a:cubicBezTo>
                    <a:pt x="136906" y="7633208"/>
                    <a:pt x="0" y="7496302"/>
                    <a:pt x="0" y="7327392"/>
                  </a:cubicBezTo>
                  <a:close/>
                </a:path>
              </a:pathLst>
            </a:custGeom>
            <a:solidFill>
              <a:srgbClr val="F6F8F6"/>
            </a:solidFill>
            <a:ln w="19050" cap="sq">
              <a:solidFill>
                <a:srgbClr val="E4E8E4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1521440" y="2852928"/>
            <a:ext cx="5184648" cy="329184"/>
            <a:chOff x="0" y="0"/>
            <a:chExt cx="6912864" cy="43891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12864" cy="438912"/>
            </a:xfrm>
            <a:custGeom>
              <a:avLst/>
              <a:gdLst/>
              <a:ahLst/>
              <a:cxnLst/>
              <a:rect r="r" b="b" t="t" l="l"/>
              <a:pathLst>
                <a:path h="438912" w="6912864">
                  <a:moveTo>
                    <a:pt x="0" y="0"/>
                  </a:moveTo>
                  <a:lnTo>
                    <a:pt x="6912864" y="0"/>
                  </a:lnTo>
                  <a:lnTo>
                    <a:pt x="6912864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889" r="0" b="-25688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912864" cy="457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80"/>
                </a:lnSpc>
              </a:pPr>
              <a:r>
                <a:rPr lang="en-US" b="true" sz="1400" spc="280">
                  <a:solidFill>
                    <a:srgbClr val="4E59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WHAT ASCEND DOES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521440" y="3511296"/>
            <a:ext cx="4023360" cy="585216"/>
            <a:chOff x="0" y="0"/>
            <a:chExt cx="5364480" cy="78028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364480" cy="780288"/>
            </a:xfrm>
            <a:custGeom>
              <a:avLst/>
              <a:gdLst/>
              <a:ahLst/>
              <a:cxnLst/>
              <a:rect r="r" b="b" t="t" l="l"/>
              <a:pathLst>
                <a:path h="78028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959" r="0" b="-83959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5364480" cy="7993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161C19"/>
                  </a:solidFill>
                  <a:latin typeface="Arial"/>
                  <a:ea typeface="Arial"/>
                  <a:cs typeface="Arial"/>
                  <a:sym typeface="Arial"/>
                </a:rPr>
                <a:t>Your next move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5608808" y="3438144"/>
            <a:ext cx="1097280" cy="694944"/>
            <a:chOff x="0" y="0"/>
            <a:chExt cx="1463040" cy="92659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63040" cy="926592"/>
            </a:xfrm>
            <a:custGeom>
              <a:avLst/>
              <a:gdLst/>
              <a:ahLst/>
              <a:cxnLst/>
              <a:rect r="r" b="b" t="t" l="l"/>
              <a:pathLst>
                <a:path h="926592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1258" t="0" r="-31258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1463040" cy="9361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4799"/>
                </a:lnSpc>
              </a:pPr>
              <a:r>
                <a:rPr lang="en-US" sz="3999" b="true">
                  <a:solidFill>
                    <a:srgbClr val="1F6B4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→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508743" y="4193543"/>
            <a:ext cx="5210051" cy="158906"/>
            <a:chOff x="0" y="0"/>
            <a:chExt cx="6946735" cy="21187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946773" cy="211963"/>
            </a:xfrm>
            <a:custGeom>
              <a:avLst/>
              <a:gdLst/>
              <a:ahLst/>
              <a:cxnLst/>
              <a:rect r="r" b="b" t="t" l="l"/>
              <a:pathLst>
                <a:path h="211963" w="6946773">
                  <a:moveTo>
                    <a:pt x="0" y="104521"/>
                  </a:moveTo>
                  <a:cubicBezTo>
                    <a:pt x="0" y="46736"/>
                    <a:pt x="46736" y="0"/>
                    <a:pt x="104521" y="0"/>
                  </a:cubicBezTo>
                  <a:lnTo>
                    <a:pt x="6842252" y="0"/>
                  </a:lnTo>
                  <a:cubicBezTo>
                    <a:pt x="6899910" y="0"/>
                    <a:pt x="6946773" y="46736"/>
                    <a:pt x="6946773" y="104521"/>
                  </a:cubicBezTo>
                  <a:lnTo>
                    <a:pt x="6946773" y="107442"/>
                  </a:lnTo>
                  <a:cubicBezTo>
                    <a:pt x="6946773" y="165100"/>
                    <a:pt x="6900037" y="211963"/>
                    <a:pt x="6842252" y="211963"/>
                  </a:cubicBezTo>
                  <a:lnTo>
                    <a:pt x="104521" y="211963"/>
                  </a:lnTo>
                  <a:cubicBezTo>
                    <a:pt x="46736" y="211836"/>
                    <a:pt x="0" y="165100"/>
                    <a:pt x="0" y="107442"/>
                  </a:cubicBezTo>
                  <a:close/>
                </a:path>
              </a:pathLst>
            </a:custGeom>
            <a:solidFill>
              <a:srgbClr val="1F6B4F"/>
            </a:solidFill>
            <a:ln w="25400" cap="sq">
              <a:solidFill>
                <a:srgbClr val="1F6B4F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1521440" y="4608576"/>
            <a:ext cx="4389120" cy="457200"/>
            <a:chOff x="0" y="0"/>
            <a:chExt cx="5852160" cy="6096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852160" cy="609600"/>
            </a:xfrm>
            <a:custGeom>
              <a:avLst/>
              <a:gdLst/>
              <a:ahLst/>
              <a:cxnLst/>
              <a:rect r="r" b="b" t="t" l="l"/>
              <a:pathLst>
                <a:path h="60960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585216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61C19"/>
                  </a:solidFill>
                  <a:latin typeface="Arial"/>
                  <a:ea typeface="Arial"/>
                  <a:cs typeface="Arial"/>
                  <a:sym typeface="Arial"/>
                </a:rPr>
                <a:t>See what changed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5974568" y="4608576"/>
            <a:ext cx="731520" cy="457200"/>
            <a:chOff x="0" y="0"/>
            <a:chExt cx="975360" cy="6096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7536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97536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 b="true">
                  <a:solidFill>
                    <a:srgbClr val="1F6B4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✓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521440" y="5180076"/>
            <a:ext cx="4389120" cy="457200"/>
            <a:chOff x="0" y="0"/>
            <a:chExt cx="5852160" cy="6096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852160" cy="609600"/>
            </a:xfrm>
            <a:custGeom>
              <a:avLst/>
              <a:gdLst/>
              <a:ahLst/>
              <a:cxnLst/>
              <a:rect r="r" b="b" t="t" l="l"/>
              <a:pathLst>
                <a:path h="60960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585216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61C19"/>
                  </a:solidFill>
                  <a:latin typeface="Arial"/>
                  <a:ea typeface="Arial"/>
                  <a:cs typeface="Arial"/>
                  <a:sym typeface="Arial"/>
                </a:rPr>
                <a:t>Understand why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5974568" y="5180076"/>
            <a:ext cx="731520" cy="457200"/>
            <a:chOff x="0" y="0"/>
            <a:chExt cx="975360" cy="6096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7536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97536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 b="true">
                  <a:solidFill>
                    <a:srgbClr val="1F6B4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✓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521440" y="5751576"/>
            <a:ext cx="4389120" cy="457200"/>
            <a:chOff x="0" y="0"/>
            <a:chExt cx="5852160" cy="6096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852160" cy="609600"/>
            </a:xfrm>
            <a:custGeom>
              <a:avLst/>
              <a:gdLst/>
              <a:ahLst/>
              <a:cxnLst/>
              <a:rect r="r" b="b" t="t" l="l"/>
              <a:pathLst>
                <a:path h="60960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585216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161C19"/>
                  </a:solidFill>
                  <a:latin typeface="Arial"/>
                  <a:ea typeface="Arial"/>
                  <a:cs typeface="Arial"/>
                  <a:sym typeface="Arial"/>
                </a:rPr>
                <a:t>Find your next opportunity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5974568" y="5751576"/>
            <a:ext cx="731520" cy="457200"/>
            <a:chOff x="0" y="0"/>
            <a:chExt cx="975360" cy="6096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7536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89" t="0" r="-30189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975360" cy="619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400"/>
                </a:lnSpc>
              </a:pPr>
              <a:r>
                <a:rPr lang="en-US" sz="2000" b="true">
                  <a:solidFill>
                    <a:srgbClr val="1F6B4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✓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1511915" y="6482715"/>
            <a:ext cx="5203698" cy="1152906"/>
            <a:chOff x="0" y="0"/>
            <a:chExt cx="6938264" cy="153720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938264" cy="1537208"/>
            </a:xfrm>
            <a:custGeom>
              <a:avLst/>
              <a:gdLst/>
              <a:ahLst/>
              <a:cxnLst/>
              <a:rect r="r" b="b" t="t" l="l"/>
              <a:pathLst>
                <a:path h="1537208" w="6938264">
                  <a:moveTo>
                    <a:pt x="0" y="123952"/>
                  </a:moveTo>
                  <a:cubicBezTo>
                    <a:pt x="0" y="55499"/>
                    <a:pt x="55499" y="0"/>
                    <a:pt x="123952" y="0"/>
                  </a:cubicBezTo>
                  <a:lnTo>
                    <a:pt x="6814312" y="0"/>
                  </a:lnTo>
                  <a:cubicBezTo>
                    <a:pt x="6882765" y="0"/>
                    <a:pt x="6938264" y="55499"/>
                    <a:pt x="6938264" y="123952"/>
                  </a:cubicBezTo>
                  <a:lnTo>
                    <a:pt x="6938264" y="1413256"/>
                  </a:lnTo>
                  <a:cubicBezTo>
                    <a:pt x="6938264" y="1481709"/>
                    <a:pt x="6882765" y="1537208"/>
                    <a:pt x="6814312" y="1537208"/>
                  </a:cubicBezTo>
                  <a:lnTo>
                    <a:pt x="123952" y="1537208"/>
                  </a:lnTo>
                  <a:cubicBezTo>
                    <a:pt x="55499" y="1537208"/>
                    <a:pt x="0" y="1481709"/>
                    <a:pt x="0" y="1413256"/>
                  </a:cubicBezTo>
                  <a:close/>
                </a:path>
              </a:pathLst>
            </a:custGeom>
            <a:solidFill>
              <a:srgbClr val="E1EEE7"/>
            </a:solidFill>
            <a:ln w="19050" cap="sq">
              <a:solidFill>
                <a:srgbClr val="6D9F8C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1795760" y="6492240"/>
            <a:ext cx="4636008" cy="1133856"/>
            <a:chOff x="0" y="0"/>
            <a:chExt cx="6181344" cy="151180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181344" cy="1511808"/>
            </a:xfrm>
            <a:custGeom>
              <a:avLst/>
              <a:gdLst/>
              <a:ahLst/>
              <a:cxnLst/>
              <a:rect r="r" b="b" t="t" l="l"/>
              <a:pathLst>
                <a:path h="1511808" w="6181344">
                  <a:moveTo>
                    <a:pt x="0" y="0"/>
                  </a:moveTo>
                  <a:lnTo>
                    <a:pt x="6181344" y="0"/>
                  </a:lnTo>
                  <a:lnTo>
                    <a:pt x="6181344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668" r="0" b="-29668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6181344" cy="15308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63"/>
                </a:lnSpc>
              </a:pPr>
              <a:r>
                <a:rPr lang="en-US" sz="1719" b="true">
                  <a:solidFill>
                    <a:srgbClr val="1F6B4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✦ Questions?</a:t>
              </a:r>
            </a:p>
            <a:p>
              <a:pPr algn="l">
                <a:lnSpc>
                  <a:spcPts val="1896"/>
                </a:lnSpc>
              </a:pPr>
              <a:r>
                <a:rPr lang="en-US" sz="1580">
                  <a:solidFill>
                    <a:srgbClr val="161C19"/>
                  </a:solidFill>
                  <a:latin typeface="Arial"/>
                  <a:ea typeface="Arial"/>
                  <a:cs typeface="Arial"/>
                  <a:sym typeface="Arial"/>
                </a:rPr>
                <a:t>We’d love to hear them.</a:t>
              </a:r>
            </a:p>
          </p:txBody>
        </p:sp>
      </p:grpSp>
      <p:sp>
        <p:nvSpPr>
          <p:cNvPr name="Freeform 44" id="44"/>
          <p:cNvSpPr/>
          <p:nvPr/>
        </p:nvSpPr>
        <p:spPr>
          <a:xfrm flipH="false" flipV="false" rot="0">
            <a:off x="16745946" y="515346"/>
            <a:ext cx="1026707" cy="1026707"/>
          </a:xfrm>
          <a:custGeom>
            <a:avLst/>
            <a:gdLst/>
            <a:ahLst/>
            <a:cxnLst/>
            <a:rect r="r" b="b" t="t" l="l"/>
            <a:pathLst>
              <a:path h="1026707" w="1026707">
                <a:moveTo>
                  <a:pt x="0" y="0"/>
                </a:moveTo>
                <a:lnTo>
                  <a:pt x="1026708" y="0"/>
                </a:lnTo>
                <a:lnTo>
                  <a:pt x="1026708" y="1026708"/>
                </a:lnTo>
                <a:lnTo>
                  <a:pt x="0" y="10267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DAHVlI5kkHk</dc:identifier>
  <dcterms:modified xsi:type="dcterms:W3CDTF">2011-08-01T06:04:30Z</dcterms:modified>
  <cp:revision>1</cp:revision>
  <dc:title>Ascend Pitch Deck New.pptx</dc:title>
</cp:coreProperties>
</file>